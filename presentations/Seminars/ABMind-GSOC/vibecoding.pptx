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39.png"/><Relationship Id="rId13" Type="http://schemas.openxmlformats.org/officeDocument/2006/relationships/image" Target="../media/image38.png"/><Relationship Id="rId12" Type="http://schemas.openxmlformats.org/officeDocument/2006/relationships/image" Target="../media/image37.png"/><Relationship Id="rId11" Type="http://schemas.openxmlformats.org/officeDocument/2006/relationships/image" Target="../media/image36.png"/><Relationship Id="rId10" Type="http://schemas.openxmlformats.org/officeDocument/2006/relationships/image" Target="../media/image35.png"/><Relationship Id="rId1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9.png"/><Relationship Id="rId1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png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3.png"/><Relationship Id="rId7" Type="http://schemas.openxmlformats.org/officeDocument/2006/relationships/image" Target="../media/image82.png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7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png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93.png"/><Relationship Id="rId1" Type="http://schemas.openxmlformats.org/officeDocument/2006/relationships/image" Target="../media/image8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png"/><Relationship Id="rId8" Type="http://schemas.openxmlformats.org/officeDocument/2006/relationships/image" Target="../media/image101.png"/><Relationship Id="rId7" Type="http://schemas.openxmlformats.org/officeDocument/2006/relationships/image" Target="../media/image100.png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3.png"/><Relationship Id="rId1" Type="http://schemas.openxmlformats.org/officeDocument/2006/relationships/image" Target="../media/image94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png"/><Relationship Id="rId8" Type="http://schemas.openxmlformats.org/officeDocument/2006/relationships/image" Target="../media/image116.png"/><Relationship Id="rId7" Type="http://schemas.openxmlformats.org/officeDocument/2006/relationships/image" Target="../media/image115.png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0.png"/><Relationship Id="rId11" Type="http://schemas.openxmlformats.org/officeDocument/2006/relationships/image" Target="../media/image119.png"/><Relationship Id="rId10" Type="http://schemas.openxmlformats.org/officeDocument/2006/relationships/image" Target="../media/image118.png"/><Relationship Id="rId1" Type="http://schemas.openxmlformats.org/officeDocument/2006/relationships/image" Target="../media/image10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8.png"/><Relationship Id="rId8" Type="http://schemas.openxmlformats.org/officeDocument/2006/relationships/image" Target="../media/image127.png"/><Relationship Id="rId7" Type="http://schemas.openxmlformats.org/officeDocument/2006/relationships/image" Target="../media/image18.png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2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6.png"/><Relationship Id="rId8" Type="http://schemas.openxmlformats.org/officeDocument/2006/relationships/image" Target="../media/image135.png"/><Relationship Id="rId7" Type="http://schemas.openxmlformats.org/officeDocument/2006/relationships/image" Target="../media/image134.png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Relationship Id="rId3" Type="http://schemas.openxmlformats.org/officeDocument/2006/relationships/image" Target="../media/image52.png"/><Relationship Id="rId2" Type="http://schemas.openxmlformats.org/officeDocument/2006/relationships/image" Target="../media/image130.png"/><Relationship Id="rId16" Type="http://schemas.openxmlformats.org/officeDocument/2006/relationships/notesSlide" Target="../notesSlides/notesSlide16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41.png"/><Relationship Id="rId13" Type="http://schemas.openxmlformats.org/officeDocument/2006/relationships/image" Target="../media/image140.png"/><Relationship Id="rId12" Type="http://schemas.openxmlformats.org/officeDocument/2006/relationships/image" Target="../media/image139.png"/><Relationship Id="rId11" Type="http://schemas.openxmlformats.org/officeDocument/2006/relationships/image" Target="../media/image138.png"/><Relationship Id="rId10" Type="http://schemas.openxmlformats.org/officeDocument/2006/relationships/image" Target="../media/image137.png"/><Relationship Id="rId1" Type="http://schemas.openxmlformats.org/officeDocument/2006/relationships/image" Target="../media/image12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0.png"/><Relationship Id="rId8" Type="http://schemas.openxmlformats.org/officeDocument/2006/relationships/image" Target="../media/image149.png"/><Relationship Id="rId7" Type="http://schemas.openxmlformats.org/officeDocument/2006/relationships/image" Target="../media/image148.png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6" Type="http://schemas.openxmlformats.org/officeDocument/2006/relationships/notesSlide" Target="../notesSlides/notesSlide17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55.png"/><Relationship Id="rId13" Type="http://schemas.openxmlformats.org/officeDocument/2006/relationships/image" Target="../media/image154.png"/><Relationship Id="rId12" Type="http://schemas.openxmlformats.org/officeDocument/2006/relationships/image" Target="../media/image153.png"/><Relationship Id="rId11" Type="http://schemas.openxmlformats.org/officeDocument/2006/relationships/image" Target="../media/image152.png"/><Relationship Id="rId10" Type="http://schemas.openxmlformats.org/officeDocument/2006/relationships/image" Target="../media/image151.png"/><Relationship Id="rId1" Type="http://schemas.openxmlformats.org/officeDocument/2006/relationships/image" Target="../media/image142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4.png"/><Relationship Id="rId8" Type="http://schemas.openxmlformats.org/officeDocument/2006/relationships/image" Target="../media/image163.png"/><Relationship Id="rId7" Type="http://schemas.openxmlformats.org/officeDocument/2006/relationships/image" Target="../media/image162.png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56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3.png"/><Relationship Id="rId8" Type="http://schemas.openxmlformats.org/officeDocument/2006/relationships/image" Target="../media/image172.png"/><Relationship Id="rId7" Type="http://schemas.openxmlformats.org/officeDocument/2006/relationships/image" Target="../media/image171.png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5" Type="http://schemas.openxmlformats.org/officeDocument/2006/relationships/notesSlide" Target="../notesSlides/notesSlide19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77.png"/><Relationship Id="rId12" Type="http://schemas.openxmlformats.org/officeDocument/2006/relationships/image" Target="../media/image176.png"/><Relationship Id="rId11" Type="http://schemas.openxmlformats.org/officeDocument/2006/relationships/image" Target="../media/image175.png"/><Relationship Id="rId10" Type="http://schemas.openxmlformats.org/officeDocument/2006/relationships/image" Target="../media/image174.png"/><Relationship Id="rId1" Type="http://schemas.openxmlformats.org/officeDocument/2006/relationships/image" Target="../media/image165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8.png"/><Relationship Id="rId6" Type="http://schemas.openxmlformats.org/officeDocument/2006/relationships/image" Target="../media/image183.png"/><Relationship Id="rId5" Type="http://schemas.openxmlformats.org/officeDocument/2006/relationships/image" Target="../media/image182.png"/><Relationship Id="rId4" Type="http://schemas.openxmlformats.org/officeDocument/2006/relationships/image" Target="../media/image181.png"/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image" Target="../media/image178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8.png"/><Relationship Id="rId4" Type="http://schemas.openxmlformats.org/officeDocument/2006/relationships/image" Target="../media/image187.png"/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image" Target="../media/image184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96.png"/><Relationship Id="rId7" Type="http://schemas.openxmlformats.org/officeDocument/2006/relationships/image" Target="../media/image195.png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0" Type="http://schemas.openxmlformats.org/officeDocument/2006/relationships/notesSlide" Target="../notesSlides/notesSlide22.xml"/><Relationship Id="rId1" Type="http://schemas.openxmlformats.org/officeDocument/2006/relationships/image" Target="../media/image189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1.png"/><Relationship Id="rId4" Type="http://schemas.openxmlformats.org/officeDocument/2006/relationships/image" Target="../media/image200.png"/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image" Target="../media/image197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209.png"/><Relationship Id="rId7" Type="http://schemas.openxmlformats.org/officeDocument/2006/relationships/image" Target="../media/image208.png"/><Relationship Id="rId6" Type="http://schemas.openxmlformats.org/officeDocument/2006/relationships/image" Target="../media/image207.png"/><Relationship Id="rId5" Type="http://schemas.openxmlformats.org/officeDocument/2006/relationships/image" Target="../media/image206.png"/><Relationship Id="rId4" Type="http://schemas.openxmlformats.org/officeDocument/2006/relationships/image" Target="../media/image205.png"/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1" Type="http://schemas.openxmlformats.org/officeDocument/2006/relationships/notesSlide" Target="../notesSlides/notesSlide2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02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3.png"/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image" Target="../media/image2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346997" y="0"/>
            <a:ext cx="9144" cy="6858000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-38893" r="-38893"/>
          <a:stretch>
            <a:fillRect/>
          </a:stretch>
        </p:blipFill>
        <p:spPr>
          <a:xfrm>
            <a:off x="6096305" y="3429000"/>
            <a:ext cx="6096305" cy="3429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53698" y="6458407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01</a:t>
            </a:r>
            <a:endParaRPr lang="en-US" sz="1000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14400" y="1695298"/>
            <a:ext cx="457200" cy="3840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9" name="Shape 6"/>
          <p:cNvSpPr/>
          <p:nvPr/>
        </p:nvSpPr>
        <p:spPr>
          <a:xfrm>
            <a:off x="914400" y="3172054"/>
            <a:ext cx="75895" cy="53309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Shape 7"/>
          <p:cNvSpPr/>
          <p:nvPr/>
        </p:nvSpPr>
        <p:spPr>
          <a:xfrm>
            <a:off x="914400" y="4505249"/>
            <a:ext cx="9506102" cy="9144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5009998"/>
            <a:ext cx="190195" cy="190195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rcRect l="-1648" r="-1648"/>
          <a:stretch>
            <a:fillRect/>
          </a:stretch>
        </p:blipFill>
        <p:spPr>
          <a:xfrm>
            <a:off x="3365906" y="4994453"/>
            <a:ext cx="171907" cy="1901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24305" y="1638605"/>
            <a:ext cx="32817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AI-ASSISTED RESEARCH METHODOLOGY</a:t>
            </a:r>
            <a:endParaRPr lang="en-US" sz="1000" b="1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914400" y="2057400"/>
            <a:ext cx="4325112" cy="8293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chemeClr val="tx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AI驱动科研编程</a:t>
            </a:r>
            <a:endParaRPr lang="en-US" sz="4500" b="1" dirty="0">
              <a:solidFill>
                <a:schemeClr val="tx1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1218895" y="3191256"/>
            <a:ext cx="6182258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chemeClr val="tx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 Vibe Coding 到 规范驱动 的实战指南</a:t>
            </a:r>
            <a:endParaRPr lang="en-US" sz="2700" dirty="0">
              <a:solidFill>
                <a:schemeClr val="tx1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914400" y="4733849"/>
            <a:ext cx="5715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chemeClr val="tx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课程时长</a:t>
            </a:r>
            <a:endParaRPr lang="en-US" sz="900" b="1" dirty="0">
              <a:solidFill>
                <a:schemeClr val="tx1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218895" y="4962449"/>
            <a:ext cx="781812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 分钟</a:t>
            </a:r>
            <a:endParaRPr lang="en-US" sz="1500" dirty="0">
              <a:solidFill>
                <a:schemeClr val="tx1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3365906" y="4733849"/>
            <a:ext cx="5715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chemeClr val="tx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目标学员</a:t>
            </a:r>
            <a:endParaRPr lang="en-US" sz="900" b="1" dirty="0">
              <a:solidFill>
                <a:schemeClr val="tx1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3651199" y="4962449"/>
            <a:ext cx="389168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有科研需求，希望快速掌握AI辅助编程的研究人员</a:t>
            </a:r>
            <a:endParaRPr lang="en-US" sz="1300" dirty="0">
              <a:solidFill>
                <a:schemeClr val="tx1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10173614" y="4733849"/>
            <a:ext cx="3337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tx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日期</a:t>
            </a:r>
            <a:endParaRPr lang="en-US" sz="900" b="1" dirty="0">
              <a:solidFill>
                <a:schemeClr val="tx1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9525305" y="5000854"/>
            <a:ext cx="103875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2025-12-28</a:t>
            </a:r>
            <a:endParaRPr lang="en-US" sz="1500" dirty="0">
              <a:solidFill>
                <a:schemeClr val="tx1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2053742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1.0 编程进化论</a:t>
            </a:r>
            <a:endParaRPr lang="en-US" sz="21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61488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075127" y="267005"/>
            <a:ext cx="31720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从“人迁就机器”到“机器服务人”的演进史</a:t>
            </a:r>
            <a:endParaRPr lang="en-US" sz="1200" dirty="0">
              <a:solidFill>
                <a:srgbClr val="94A3B8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 l="-1923" r="-1923"/>
          <a:stretch>
            <a:fillRect/>
          </a:stretch>
        </p:blipFill>
        <p:spPr>
          <a:xfrm>
            <a:off x="11553444" y="3347618"/>
            <a:ext cx="123444" cy="1901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9905" y="5432247"/>
            <a:ext cx="10972800" cy="629107"/>
          </a:xfrm>
          <a:prstGeom prst="roundRect">
            <a:avLst>
              <a:gd name="adj" fmla="val 1761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3349" y="559409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rcRect l="-2512" r="-2512"/>
          <a:stretch>
            <a:fillRect/>
          </a:stretch>
        </p:blipFill>
        <p:spPr>
          <a:xfrm>
            <a:off x="833018" y="5679135"/>
            <a:ext cx="105156" cy="1335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5574894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演进规律</a:t>
            </a:r>
            <a:endParaRPr lang="en-US" sz="10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1152144" y="5755945"/>
            <a:ext cx="3753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编程语言的抽象层级不断提升，人机交互界面越来越接近人类自然语言。</a:t>
            </a:r>
            <a:endParaRPr lang="en-US" sz="9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10777118" y="5564835"/>
            <a:ext cx="7717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NEXT STEP</a:t>
            </a:r>
            <a:endParaRPr lang="en-US" sz="900" b="1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8843162" y="5736742"/>
            <a:ext cx="2734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Prompt Engineering Is The New Coding</a:t>
            </a:r>
            <a:endParaRPr lang="en-US" sz="1200" b="1" dirty="0">
              <a:solidFill>
                <a:srgbClr val="2563E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1415370" y="6558077"/>
            <a:ext cx="27157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1.0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09905" y="3424428"/>
            <a:ext cx="10972800" cy="2834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Shape 17"/>
          <p:cNvSpPr/>
          <p:nvPr/>
        </p:nvSpPr>
        <p:spPr>
          <a:xfrm>
            <a:off x="686714" y="1875434"/>
            <a:ext cx="1380744" cy="1410005"/>
          </a:xfrm>
          <a:prstGeom prst="roundRect">
            <a:avLst>
              <a:gd name="adj" fmla="val 274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rcRect l="-257933" r="-257933"/>
          <a:stretch>
            <a:fillRect/>
          </a:stretch>
        </p:blipFill>
        <p:spPr>
          <a:xfrm>
            <a:off x="791870" y="1979676"/>
            <a:ext cx="1171346" cy="1901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240841" y="2246681"/>
            <a:ext cx="3621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>
                    <a:alpha val="90000"/>
                  </a:srgbClr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1940s</a:t>
            </a:r>
            <a:endParaRPr lang="en-US" sz="900" b="1" dirty="0">
              <a:solidFill>
                <a:srgbClr val="64748B">
                  <a:alpha val="90000"/>
                </a:srgbClr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103681" y="2417674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机器语言</a:t>
            </a:r>
            <a:endParaRPr lang="en-US" sz="1000" b="1" dirty="0">
              <a:solidFill>
                <a:srgbClr val="1E293B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833018" y="2652674"/>
            <a:ext cx="1175918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0101二进制与打孔卡，直接操作硬件</a:t>
            </a:r>
            <a:endParaRPr lang="en-US" sz="800" dirty="0">
              <a:solidFill>
                <a:srgbClr val="475569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1101852" y="2996489"/>
            <a:ext cx="552298" cy="181051"/>
          </a:xfrm>
          <a:prstGeom prst="roundRect">
            <a:avLst>
              <a:gd name="adj" fmla="val 79745"/>
            </a:avLst>
          </a:prstGeom>
          <a:solidFill>
            <a:srgbClr val="F1F5F9">
              <a:alpha val="90000"/>
            </a:srgbClr>
          </a:solidFill>
        </p:spPr>
      </p:sp>
      <p:sp>
        <p:nvSpPr>
          <p:cNvPr id="27" name="Text 22"/>
          <p:cNvSpPr txBox="1"/>
          <p:nvPr/>
        </p:nvSpPr>
        <p:spPr>
          <a:xfrm>
            <a:off x="1149401" y="3015691"/>
            <a:ext cx="5340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人适应机器</a:t>
            </a:r>
            <a:endParaRPr lang="en-US" sz="800" b="1" dirty="0">
              <a:solidFill>
                <a:srgbClr val="64748B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1367942" y="3276295"/>
            <a:ext cx="19202" cy="237744"/>
          </a:xfrm>
          <a:prstGeom prst="rect">
            <a:avLst/>
          </a:prstGeom>
          <a:solidFill>
            <a:srgbClr val="CBD5E1">
              <a:alpha val="90000"/>
            </a:srgbClr>
          </a:solidFill>
        </p:spPr>
      </p:sp>
      <p:sp>
        <p:nvSpPr>
          <p:cNvPr id="29" name="Shape 24"/>
          <p:cNvSpPr/>
          <p:nvPr/>
        </p:nvSpPr>
        <p:spPr>
          <a:xfrm>
            <a:off x="1281989" y="3343046"/>
            <a:ext cx="190195" cy="1901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BD5E1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904134" y="3362249"/>
            <a:ext cx="19202" cy="237744"/>
          </a:xfrm>
          <a:prstGeom prst="rect">
            <a:avLst/>
          </a:prstGeom>
          <a:solidFill>
            <a:srgbClr val="CBD5E1">
              <a:alpha val="90000"/>
            </a:srgbClr>
          </a:solidFill>
        </p:spPr>
      </p:sp>
      <p:sp>
        <p:nvSpPr>
          <p:cNvPr id="31" name="Shape 26"/>
          <p:cNvSpPr/>
          <p:nvPr/>
        </p:nvSpPr>
        <p:spPr>
          <a:xfrm>
            <a:off x="2222906" y="3600907"/>
            <a:ext cx="1380744" cy="1410005"/>
          </a:xfrm>
          <a:prstGeom prst="roundRect">
            <a:avLst>
              <a:gd name="adj" fmla="val 274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rcRect l="-196346" r="-196346"/>
          <a:stretch>
            <a:fillRect/>
          </a:stretch>
        </p:blipFill>
        <p:spPr>
          <a:xfrm>
            <a:off x="2328062" y="3705149"/>
            <a:ext cx="1171346" cy="19019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2777033" y="3972154"/>
            <a:ext cx="3621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>
                    <a:alpha val="90000"/>
                  </a:srgbClr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1950s</a:t>
            </a:r>
            <a:endParaRPr lang="en-US" sz="900" b="1" dirty="0">
              <a:solidFill>
                <a:srgbClr val="64748B">
                  <a:alpha val="90000"/>
                </a:srgbClr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34" name="Text 28"/>
          <p:cNvSpPr txBox="1"/>
          <p:nvPr/>
        </p:nvSpPr>
        <p:spPr>
          <a:xfrm>
            <a:off x="2638958" y="4143146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汇编语言</a:t>
            </a:r>
            <a:endParaRPr lang="en-US" sz="1000" b="1" dirty="0">
              <a:solidFill>
                <a:srgbClr val="1E293B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5" name="Text 29"/>
          <p:cNvSpPr txBox="1"/>
          <p:nvPr/>
        </p:nvSpPr>
        <p:spPr>
          <a:xfrm>
            <a:off x="2381098" y="4378147"/>
            <a:ext cx="1147572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助记符替代二进制，稍微可读</a:t>
            </a:r>
            <a:endParaRPr lang="en-US" sz="800" dirty="0">
              <a:solidFill>
                <a:srgbClr val="475569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2682850" y="4721962"/>
            <a:ext cx="466344" cy="181051"/>
          </a:xfrm>
          <a:prstGeom prst="roundRect">
            <a:avLst>
              <a:gd name="adj" fmla="val 79745"/>
            </a:avLst>
          </a:prstGeom>
          <a:solidFill>
            <a:srgbClr val="F1F5F9">
              <a:alpha val="90000"/>
            </a:srgbClr>
          </a:solidFill>
        </p:spPr>
      </p:sp>
      <p:sp>
        <p:nvSpPr>
          <p:cNvPr id="37" name="Text 31"/>
          <p:cNvSpPr txBox="1"/>
          <p:nvPr/>
        </p:nvSpPr>
        <p:spPr>
          <a:xfrm>
            <a:off x="2730398" y="4741164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低级抽象</a:t>
            </a:r>
            <a:endParaRPr lang="en-US" sz="800" b="1" dirty="0">
              <a:solidFill>
                <a:srgbClr val="64748B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2818181" y="3343046"/>
            <a:ext cx="190195" cy="1901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BD5E1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759098" y="1875434"/>
            <a:ext cx="1380744" cy="1410005"/>
          </a:xfrm>
          <a:prstGeom prst="roundRect">
            <a:avLst>
              <a:gd name="adj" fmla="val 274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5">
            <a:alphaModFix amt="90000"/>
          </a:blip>
          <a:srcRect l="-196346" r="-196346"/>
          <a:stretch>
            <a:fillRect/>
          </a:stretch>
        </p:blipFill>
        <p:spPr>
          <a:xfrm>
            <a:off x="3864254" y="1979676"/>
            <a:ext cx="1171346" cy="190195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4236415" y="2246681"/>
            <a:ext cx="5148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>
                    <a:alpha val="90000"/>
                  </a:srgbClr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1960-70s</a:t>
            </a:r>
            <a:endParaRPr lang="en-US" sz="900" b="1" dirty="0">
              <a:solidFill>
                <a:srgbClr val="64748B">
                  <a:alpha val="90000"/>
                </a:srgbClr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42" name="Text 35"/>
          <p:cNvSpPr txBox="1"/>
          <p:nvPr/>
        </p:nvSpPr>
        <p:spPr>
          <a:xfrm>
            <a:off x="4175150" y="2417674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高级语言</a:t>
            </a:r>
            <a:endParaRPr lang="en-US" sz="1000" b="1" dirty="0">
              <a:solidFill>
                <a:srgbClr val="1E293B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3" name="Text 36"/>
          <p:cNvSpPr txBox="1"/>
          <p:nvPr/>
        </p:nvSpPr>
        <p:spPr>
          <a:xfrm>
            <a:off x="3892601" y="2652674"/>
            <a:ext cx="1195121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Fortran/C，接近人类逻辑的表达</a:t>
            </a:r>
            <a:endParaRPr lang="en-US" sz="800" dirty="0">
              <a:solidFill>
                <a:srgbClr val="475569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44" name="Shape 37"/>
          <p:cNvSpPr/>
          <p:nvPr/>
        </p:nvSpPr>
        <p:spPr>
          <a:xfrm>
            <a:off x="4219042" y="2996489"/>
            <a:ext cx="466344" cy="181051"/>
          </a:xfrm>
          <a:prstGeom prst="roundRect">
            <a:avLst>
              <a:gd name="adj" fmla="val 79745"/>
            </a:avLst>
          </a:prstGeom>
          <a:solidFill>
            <a:srgbClr val="F1F5F9">
              <a:alpha val="90000"/>
            </a:srgbClr>
          </a:solidFill>
        </p:spPr>
      </p:sp>
      <p:sp>
        <p:nvSpPr>
          <p:cNvPr id="45" name="Text 38"/>
          <p:cNvSpPr txBox="1"/>
          <p:nvPr/>
        </p:nvSpPr>
        <p:spPr>
          <a:xfrm>
            <a:off x="4266590" y="3015691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逻辑抽象</a:t>
            </a:r>
            <a:endParaRPr lang="en-US" sz="800" b="1" dirty="0">
              <a:solidFill>
                <a:srgbClr val="64748B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6" name="Shape 39"/>
          <p:cNvSpPr/>
          <p:nvPr/>
        </p:nvSpPr>
        <p:spPr>
          <a:xfrm>
            <a:off x="4440326" y="3276295"/>
            <a:ext cx="19202" cy="237744"/>
          </a:xfrm>
          <a:prstGeom prst="rect">
            <a:avLst/>
          </a:prstGeom>
          <a:solidFill>
            <a:srgbClr val="CBD5E1">
              <a:alpha val="90000"/>
            </a:srgbClr>
          </a:solidFill>
        </p:spPr>
      </p:sp>
      <p:sp>
        <p:nvSpPr>
          <p:cNvPr id="47" name="Shape 40"/>
          <p:cNvSpPr/>
          <p:nvPr/>
        </p:nvSpPr>
        <p:spPr>
          <a:xfrm>
            <a:off x="4354373" y="3343046"/>
            <a:ext cx="190195" cy="190195"/>
          </a:xfrm>
          <a:prstGeom prst="ellipse">
            <a:avLst/>
          </a:prstGeom>
          <a:solidFill>
            <a:srgbClr val="3B82F6"/>
          </a:solidFill>
          <a:ln w="381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3B82F6">
                <a:alpha val="20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5976518" y="3362249"/>
            <a:ext cx="19202" cy="237744"/>
          </a:xfrm>
          <a:prstGeom prst="rect">
            <a:avLst/>
          </a:prstGeom>
          <a:solidFill>
            <a:srgbClr val="CBD5E1">
              <a:alpha val="90000"/>
            </a:srgbClr>
          </a:solidFill>
        </p:spPr>
      </p:sp>
      <p:sp>
        <p:nvSpPr>
          <p:cNvPr id="49" name="Shape 42"/>
          <p:cNvSpPr/>
          <p:nvPr/>
        </p:nvSpPr>
        <p:spPr>
          <a:xfrm>
            <a:off x="5295290" y="3600907"/>
            <a:ext cx="1380744" cy="1410005"/>
          </a:xfrm>
          <a:prstGeom prst="roundRect">
            <a:avLst>
              <a:gd name="adj" fmla="val 274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>
            <a:alphaModFix amt="90000"/>
          </a:blip>
          <a:srcRect l="-223718" r="-223718"/>
          <a:stretch>
            <a:fillRect/>
          </a:stretch>
        </p:blipFill>
        <p:spPr>
          <a:xfrm>
            <a:off x="5399532" y="3705149"/>
            <a:ext cx="1171346" cy="19019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5772607" y="3972154"/>
            <a:ext cx="5148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>
                    <a:alpha val="90000"/>
                  </a:srgbClr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1980-90s</a:t>
            </a:r>
            <a:endParaRPr lang="en-US" sz="900" b="1" dirty="0">
              <a:solidFill>
                <a:srgbClr val="64748B">
                  <a:alpha val="90000"/>
                </a:srgbClr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52" name="Text 44"/>
          <p:cNvSpPr txBox="1"/>
          <p:nvPr/>
        </p:nvSpPr>
        <p:spPr>
          <a:xfrm>
            <a:off x="5711342" y="4143146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面向对象</a:t>
            </a:r>
            <a:endParaRPr lang="en-US" sz="1000" b="1" dirty="0">
              <a:solidFill>
                <a:srgbClr val="1E293B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3" name="Text 45"/>
          <p:cNvSpPr txBox="1"/>
          <p:nvPr/>
        </p:nvSpPr>
        <p:spPr>
          <a:xfrm>
            <a:off x="5437937" y="4378147"/>
            <a:ext cx="1185062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Java/C++，模拟现实世界对象</a:t>
            </a:r>
            <a:endParaRPr lang="en-US" sz="800" dirty="0">
              <a:solidFill>
                <a:srgbClr val="475569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4" name="Shape 46"/>
          <p:cNvSpPr/>
          <p:nvPr/>
        </p:nvSpPr>
        <p:spPr>
          <a:xfrm>
            <a:off x="5755234" y="4721962"/>
            <a:ext cx="466344" cy="181051"/>
          </a:xfrm>
          <a:prstGeom prst="roundRect">
            <a:avLst>
              <a:gd name="adj" fmla="val 79745"/>
            </a:avLst>
          </a:prstGeom>
          <a:solidFill>
            <a:srgbClr val="F1F5F9">
              <a:alpha val="90000"/>
            </a:srgbClr>
          </a:solidFill>
        </p:spPr>
      </p:sp>
      <p:sp>
        <p:nvSpPr>
          <p:cNvPr id="55" name="Text 47"/>
          <p:cNvSpPr txBox="1"/>
          <p:nvPr/>
        </p:nvSpPr>
        <p:spPr>
          <a:xfrm>
            <a:off x="5802782" y="4741164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对象模型</a:t>
            </a:r>
            <a:endParaRPr lang="en-US" sz="800" b="1" dirty="0">
              <a:solidFill>
                <a:srgbClr val="64748B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5890565" y="3343046"/>
            <a:ext cx="190195" cy="190195"/>
          </a:xfrm>
          <a:prstGeom prst="ellipse">
            <a:avLst/>
          </a:prstGeom>
          <a:solidFill>
            <a:srgbClr val="3B82F6"/>
          </a:solidFill>
          <a:ln w="381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3B82F6">
                <a:alpha val="20000"/>
              </a:srgbClr>
            </a:outerShdw>
          </a:effectLst>
        </p:spPr>
      </p:sp>
      <p:sp>
        <p:nvSpPr>
          <p:cNvPr id="57" name="Shape 49"/>
          <p:cNvSpPr/>
          <p:nvPr/>
        </p:nvSpPr>
        <p:spPr>
          <a:xfrm>
            <a:off x="6831482" y="1875434"/>
            <a:ext cx="1380744" cy="1410005"/>
          </a:xfrm>
          <a:prstGeom prst="roundRect">
            <a:avLst>
              <a:gd name="adj" fmla="val 274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 r:embed="rId7">
            <a:alphaModFix amt="90000"/>
          </a:blip>
          <a:srcRect l="-301924" r="-301924"/>
          <a:stretch>
            <a:fillRect/>
          </a:stretch>
        </p:blipFill>
        <p:spPr>
          <a:xfrm>
            <a:off x="6935724" y="1979676"/>
            <a:ext cx="1171346" cy="190195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7352690" y="2246681"/>
            <a:ext cx="4288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>
                    <a:alpha val="90000"/>
                  </a:srgbClr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2000s+</a:t>
            </a:r>
            <a:endParaRPr lang="en-US" sz="900" b="1" dirty="0">
              <a:solidFill>
                <a:srgbClr val="64748B">
                  <a:alpha val="90000"/>
                </a:srgbClr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60" name="Text 51"/>
          <p:cNvSpPr txBox="1"/>
          <p:nvPr/>
        </p:nvSpPr>
        <p:spPr>
          <a:xfrm>
            <a:off x="7247534" y="2417674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现代语言</a:t>
            </a:r>
            <a:endParaRPr lang="en-US" sz="1000" b="1" dirty="0">
              <a:solidFill>
                <a:srgbClr val="1E293B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1" name="Text 52"/>
          <p:cNvSpPr txBox="1"/>
          <p:nvPr/>
        </p:nvSpPr>
        <p:spPr>
          <a:xfrm>
            <a:off x="6946697" y="2652674"/>
            <a:ext cx="1232611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Python/JS，极简语法与丰富生态</a:t>
            </a:r>
            <a:endParaRPr lang="en-US" sz="800" dirty="0">
              <a:solidFill>
                <a:srgbClr val="475569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2" name="Shape 53"/>
          <p:cNvSpPr/>
          <p:nvPr/>
        </p:nvSpPr>
        <p:spPr>
          <a:xfrm>
            <a:off x="7291426" y="2996489"/>
            <a:ext cx="466344" cy="181051"/>
          </a:xfrm>
          <a:prstGeom prst="roundRect">
            <a:avLst>
              <a:gd name="adj" fmla="val 79745"/>
            </a:avLst>
          </a:prstGeom>
          <a:solidFill>
            <a:srgbClr val="F1F5F9">
              <a:alpha val="90000"/>
            </a:srgbClr>
          </a:solidFill>
        </p:spPr>
      </p:sp>
      <p:sp>
        <p:nvSpPr>
          <p:cNvPr id="63" name="Text 54"/>
          <p:cNvSpPr txBox="1"/>
          <p:nvPr/>
        </p:nvSpPr>
        <p:spPr>
          <a:xfrm>
            <a:off x="7338974" y="3015691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生态复用</a:t>
            </a:r>
            <a:endParaRPr lang="en-US" sz="800" b="1" dirty="0">
              <a:solidFill>
                <a:srgbClr val="64748B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4" name="Shape 55"/>
          <p:cNvSpPr/>
          <p:nvPr/>
        </p:nvSpPr>
        <p:spPr>
          <a:xfrm>
            <a:off x="7511796" y="3276295"/>
            <a:ext cx="19202" cy="237744"/>
          </a:xfrm>
          <a:prstGeom prst="rect">
            <a:avLst/>
          </a:prstGeom>
          <a:solidFill>
            <a:srgbClr val="CBD5E1">
              <a:alpha val="90000"/>
            </a:srgbClr>
          </a:solidFill>
        </p:spPr>
      </p:sp>
      <p:sp>
        <p:nvSpPr>
          <p:cNvPr id="65" name="Shape 56"/>
          <p:cNvSpPr/>
          <p:nvPr/>
        </p:nvSpPr>
        <p:spPr>
          <a:xfrm>
            <a:off x="7426757" y="3343046"/>
            <a:ext cx="190195" cy="190195"/>
          </a:xfrm>
          <a:prstGeom prst="ellipse">
            <a:avLst/>
          </a:prstGeom>
          <a:solidFill>
            <a:srgbClr val="3B82F6"/>
          </a:solidFill>
          <a:ln w="381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3B82F6">
                <a:alpha val="20000"/>
              </a:srgbClr>
            </a:outerShdw>
          </a:effectLst>
        </p:spPr>
      </p:sp>
      <p:sp>
        <p:nvSpPr>
          <p:cNvPr id="66" name="Shape 57"/>
          <p:cNvSpPr/>
          <p:nvPr/>
        </p:nvSpPr>
        <p:spPr>
          <a:xfrm>
            <a:off x="9047988" y="3362249"/>
            <a:ext cx="19202" cy="237744"/>
          </a:xfrm>
          <a:prstGeom prst="rect">
            <a:avLst/>
          </a:prstGeom>
          <a:solidFill>
            <a:srgbClr val="CBD5E1">
              <a:alpha val="90000"/>
            </a:srgbClr>
          </a:solidFill>
        </p:spPr>
      </p:sp>
      <p:sp>
        <p:nvSpPr>
          <p:cNvPr id="67" name="Shape 58"/>
          <p:cNvSpPr/>
          <p:nvPr/>
        </p:nvSpPr>
        <p:spPr>
          <a:xfrm>
            <a:off x="8367674" y="3600907"/>
            <a:ext cx="1380744" cy="1419149"/>
          </a:xfrm>
          <a:prstGeom prst="roundRect">
            <a:avLst>
              <a:gd name="adj" fmla="val 2740"/>
            </a:avLst>
          </a:prstGeom>
          <a:solidFill>
            <a:srgbClr val="EFF6FF">
              <a:alpha val="90000"/>
            </a:srgbClr>
          </a:solidFill>
          <a:ln w="127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68" name="Image 7" descr="preencoded.png"/>
          <p:cNvPicPr>
            <a:picLocks noChangeAspect="1"/>
          </p:cNvPicPr>
          <p:nvPr/>
        </p:nvPicPr>
        <p:blipFill>
          <a:blip r:embed="rId8">
            <a:alphaModFix amt="90000"/>
          </a:blip>
          <a:srcRect l="-257933" r="-257933"/>
          <a:stretch>
            <a:fillRect/>
          </a:stretch>
        </p:blipFill>
        <p:spPr>
          <a:xfrm>
            <a:off x="8471916" y="3705149"/>
            <a:ext cx="1171346" cy="190195"/>
          </a:xfrm>
          <a:prstGeom prst="rect">
            <a:avLst/>
          </a:prstGeom>
        </p:spPr>
      </p:pic>
      <p:sp>
        <p:nvSpPr>
          <p:cNvPr id="69" name="Text 59"/>
          <p:cNvSpPr txBox="1"/>
          <p:nvPr/>
        </p:nvSpPr>
        <p:spPr>
          <a:xfrm>
            <a:off x="8943746" y="3972154"/>
            <a:ext cx="3145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>
                    <a:alpha val="90000"/>
                  </a:srgbClr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2021</a:t>
            </a:r>
            <a:endParaRPr lang="en-US" sz="900" b="1" dirty="0">
              <a:solidFill>
                <a:srgbClr val="64748B">
                  <a:alpha val="90000"/>
                </a:srgbClr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70" name="Text 60"/>
          <p:cNvSpPr txBox="1"/>
          <p:nvPr/>
        </p:nvSpPr>
        <p:spPr>
          <a:xfrm>
            <a:off x="8851392" y="4143146"/>
            <a:ext cx="5221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AI辅助</a:t>
            </a:r>
            <a:endParaRPr lang="en-US" sz="1000" b="1" dirty="0">
              <a:solidFill>
                <a:srgbClr val="1E293B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1" name="Text 61"/>
          <p:cNvSpPr txBox="1"/>
          <p:nvPr/>
        </p:nvSpPr>
        <p:spPr>
          <a:xfrm>
            <a:off x="8504834" y="4378147"/>
            <a:ext cx="1195121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Copilot，代码补全与智能建议</a:t>
            </a:r>
            <a:endParaRPr lang="en-US" sz="800" dirty="0">
              <a:solidFill>
                <a:srgbClr val="475569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2" name="Shape 62"/>
          <p:cNvSpPr/>
          <p:nvPr/>
        </p:nvSpPr>
        <p:spPr>
          <a:xfrm>
            <a:off x="8564270" y="4731106"/>
            <a:ext cx="990295" cy="181051"/>
          </a:xfrm>
          <a:prstGeom prst="roundRect">
            <a:avLst>
              <a:gd name="adj" fmla="val 79745"/>
            </a:avLst>
          </a:prstGeom>
          <a:solidFill>
            <a:srgbClr val="DBEAFE">
              <a:alpha val="90000"/>
            </a:srgbClr>
          </a:solidFill>
        </p:spPr>
      </p:sp>
      <p:sp>
        <p:nvSpPr>
          <p:cNvPr id="73" name="Text 63"/>
          <p:cNvSpPr txBox="1"/>
          <p:nvPr/>
        </p:nvSpPr>
        <p:spPr>
          <a:xfrm>
            <a:off x="8611819" y="4760366"/>
            <a:ext cx="972007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ED8">
                    <a:alpha val="90000"/>
                  </a:srgbClr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Human-AI Collab v1.0</a:t>
            </a:r>
            <a:endParaRPr lang="en-US" sz="800" b="1" dirty="0">
              <a:solidFill>
                <a:srgbClr val="1D4ED8">
                  <a:alpha val="90000"/>
                </a:srgbClr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74" name="Shape 64"/>
          <p:cNvSpPr/>
          <p:nvPr/>
        </p:nvSpPr>
        <p:spPr>
          <a:xfrm>
            <a:off x="8962949" y="3343046"/>
            <a:ext cx="190195" cy="190195"/>
          </a:xfrm>
          <a:prstGeom prst="ellipse">
            <a:avLst/>
          </a:prstGeom>
          <a:solidFill>
            <a:srgbClr val="3B82F6"/>
          </a:solidFill>
          <a:ln w="381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3B82F6">
                <a:alpha val="20000"/>
              </a:srgbClr>
            </a:outerShdw>
          </a:effectLst>
        </p:spPr>
      </p:sp>
      <p:sp>
        <p:nvSpPr>
          <p:cNvPr id="75" name="Shape 65"/>
          <p:cNvSpPr/>
          <p:nvPr/>
        </p:nvSpPr>
        <p:spPr>
          <a:xfrm>
            <a:off x="9902952" y="1865376"/>
            <a:ext cx="1380744" cy="1419149"/>
          </a:xfrm>
          <a:prstGeom prst="roundRect">
            <a:avLst>
              <a:gd name="adj" fmla="val 2740"/>
            </a:avLst>
          </a:prstGeom>
          <a:solidFill>
            <a:srgbClr val="F5F3FF">
              <a:alpha val="90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76" name="Image 8" descr="preencoded.png"/>
          <p:cNvPicPr>
            <a:picLocks noChangeAspect="1"/>
          </p:cNvPicPr>
          <p:nvPr/>
        </p:nvPicPr>
        <p:blipFill>
          <a:blip r:embed="rId9">
            <a:alphaModFix amt="90000"/>
          </a:blip>
          <a:srcRect l="-196346" r="-196346"/>
          <a:stretch>
            <a:fillRect/>
          </a:stretch>
        </p:blipFill>
        <p:spPr>
          <a:xfrm>
            <a:off x="10008108" y="1970532"/>
            <a:ext cx="1171346" cy="190195"/>
          </a:xfrm>
          <a:prstGeom prst="rect">
            <a:avLst/>
          </a:prstGeom>
        </p:spPr>
      </p:pic>
      <p:sp>
        <p:nvSpPr>
          <p:cNvPr id="77" name="Text 66"/>
          <p:cNvSpPr txBox="1"/>
          <p:nvPr/>
        </p:nvSpPr>
        <p:spPr>
          <a:xfrm>
            <a:off x="10479938" y="2236622"/>
            <a:ext cx="3145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>
                    <a:alpha val="90000"/>
                  </a:srgbClr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2025</a:t>
            </a:r>
            <a:endParaRPr lang="en-US" sz="900" b="1" dirty="0">
              <a:solidFill>
                <a:srgbClr val="64748B">
                  <a:alpha val="90000"/>
                </a:srgbClr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78" name="Text 67"/>
          <p:cNvSpPr txBox="1"/>
          <p:nvPr/>
        </p:nvSpPr>
        <p:spPr>
          <a:xfrm>
            <a:off x="10387584" y="2408530"/>
            <a:ext cx="5221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AI原生</a:t>
            </a:r>
            <a:endParaRPr lang="en-US" sz="1000" b="1" dirty="0">
              <a:solidFill>
                <a:srgbClr val="1E293B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9" name="Text 68"/>
          <p:cNvSpPr txBox="1"/>
          <p:nvPr/>
        </p:nvSpPr>
        <p:spPr>
          <a:xfrm>
            <a:off x="10024567" y="2642616"/>
            <a:ext cx="1223467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>
                    <a:alpha val="90000"/>
                  </a:srgbClr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Cursor/Claude，自然语言生成全栈</a:t>
            </a:r>
            <a:endParaRPr lang="en-US" sz="800" dirty="0">
              <a:solidFill>
                <a:srgbClr val="475569">
                  <a:alpha val="90000"/>
                </a:srgbClr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80" name="Shape 69"/>
          <p:cNvSpPr/>
          <p:nvPr/>
        </p:nvSpPr>
        <p:spPr>
          <a:xfrm>
            <a:off x="10189159" y="2996489"/>
            <a:ext cx="809244" cy="181051"/>
          </a:xfrm>
          <a:prstGeom prst="roundRect">
            <a:avLst>
              <a:gd name="adj" fmla="val 79745"/>
            </a:avLst>
          </a:prstGeom>
          <a:solidFill>
            <a:srgbClr val="EDE9FE">
              <a:alpha val="90000"/>
            </a:srgbClr>
          </a:solidFill>
        </p:spPr>
      </p:sp>
      <p:sp>
        <p:nvSpPr>
          <p:cNvPr id="81" name="Text 70"/>
          <p:cNvSpPr txBox="1"/>
          <p:nvPr/>
        </p:nvSpPr>
        <p:spPr>
          <a:xfrm>
            <a:off x="10236708" y="3024835"/>
            <a:ext cx="790956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D28D9">
                    <a:alpha val="90000"/>
                  </a:srgbClr>
                </a:solidFill>
                <a:latin typeface="Times New Roman Regular" panose="02020503050405090304" charset="0"/>
                <a:ea typeface="Times New Roman" panose="02020503050405090304" pitchFamily="34" charset="-122"/>
                <a:cs typeface="Times New Roman Regular" panose="02020503050405090304" charset="0"/>
              </a:rPr>
              <a:t>Intent Driven v2.0</a:t>
            </a:r>
            <a:endParaRPr lang="en-US" sz="800" b="1" dirty="0">
              <a:solidFill>
                <a:srgbClr val="6D28D9">
                  <a:alpha val="90000"/>
                </a:srgbClr>
              </a:solidFill>
              <a:latin typeface="Times New Roman Regular" panose="02020503050405090304" charset="0"/>
              <a:ea typeface="Times New Roman" panose="02020503050405090304" pitchFamily="34" charset="-122"/>
              <a:cs typeface="Times New Roman Regular" panose="02020503050405090304" charset="0"/>
            </a:endParaRPr>
          </a:p>
        </p:txBody>
      </p:sp>
      <p:sp>
        <p:nvSpPr>
          <p:cNvPr id="82" name="Shape 71"/>
          <p:cNvSpPr/>
          <p:nvPr/>
        </p:nvSpPr>
        <p:spPr>
          <a:xfrm>
            <a:off x="10584180" y="3276295"/>
            <a:ext cx="19202" cy="237744"/>
          </a:xfrm>
          <a:prstGeom prst="rect">
            <a:avLst/>
          </a:prstGeom>
          <a:solidFill>
            <a:srgbClr val="CBD5E1">
              <a:alpha val="90000"/>
            </a:srgbClr>
          </a:solidFill>
        </p:spPr>
      </p:sp>
      <p:sp>
        <p:nvSpPr>
          <p:cNvPr id="83" name="Shape 72"/>
          <p:cNvSpPr/>
          <p:nvPr/>
        </p:nvSpPr>
        <p:spPr>
          <a:xfrm>
            <a:off x="10498226" y="3343046"/>
            <a:ext cx="190195" cy="190195"/>
          </a:xfrm>
          <a:prstGeom prst="ellipse">
            <a:avLst/>
          </a:prstGeom>
          <a:solidFill>
            <a:srgbClr val="8B5CF6"/>
          </a:solidFill>
          <a:ln w="38100">
            <a:solidFill>
              <a:srgbClr val="8B5CF6"/>
            </a:solidFill>
            <a:prstDash val="solid"/>
          </a:ln>
          <a:effectLst>
            <a:outerShdw blurRad="12700" dist="12700" dir="16200000" algn="bl" rotWithShape="0">
              <a:srgbClr val="8B5CF6">
                <a:alpha val="20000"/>
              </a:srgbClr>
            </a:outerShdw>
          </a:effectLst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2329891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1.1 编程范式革命</a:t>
            </a:r>
            <a:endParaRPr lang="en-US" sz="2100" b="1" dirty="0">
              <a:solidFill>
                <a:srgbClr val="FFFFFF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034894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349447" y="267005"/>
            <a:ext cx="30010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AI编程的本质：从“写代码”到“说需求”</a:t>
            </a:r>
            <a:endParaRPr lang="en-US" sz="1200" dirty="0">
              <a:solidFill>
                <a:srgbClr val="94A3B8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905" y="990295"/>
            <a:ext cx="10972800" cy="1257300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9" name="Shape 7"/>
          <p:cNvSpPr/>
          <p:nvPr/>
        </p:nvSpPr>
        <p:spPr>
          <a:xfrm>
            <a:off x="609905" y="990295"/>
            <a:ext cx="38405" cy="12573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0" name="Text 8"/>
          <p:cNvSpPr txBox="1"/>
          <p:nvPr/>
        </p:nvSpPr>
        <p:spPr>
          <a:xfrm>
            <a:off x="875995" y="1152144"/>
            <a:ext cx="11576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核心观点转变</a:t>
            </a:r>
            <a:endParaRPr lang="en-US" sz="13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75995" y="1495044"/>
            <a:ext cx="8147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传统编程</a:t>
            </a:r>
            <a:endParaRPr lang="en-US" sz="13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638605" y="1524305"/>
            <a:ext cx="1764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=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88566" y="1495044"/>
            <a:ext cx="4718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人类</a:t>
            </a:r>
            <a:endParaRPr lang="en-US" sz="13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rcRect l="-760" r="-760"/>
          <a:stretch>
            <a:fillRect/>
          </a:stretch>
        </p:blipFill>
        <p:spPr>
          <a:xfrm>
            <a:off x="2207362" y="1533449"/>
            <a:ext cx="152705" cy="17190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512771" y="1543507"/>
            <a:ext cx="633679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ui-monospace" pitchFamily="34" charset="-122"/>
                <a:cs typeface="ui-monospace" pitchFamily="34" charset="-120"/>
              </a:rPr>
              <a:t>机器语言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ui-monospace" pitchFamily="34" charset="-122"/>
              <a:cs typeface="ui-monospace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875995" y="1837944"/>
            <a:ext cx="68122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 编程</a:t>
            </a:r>
            <a:endParaRPr lang="en-US" sz="1300" b="1" dirty="0">
              <a:solidFill>
                <a:srgbClr val="1D4ED8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500530" y="1867205"/>
            <a:ext cx="1865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=</a:t>
            </a:r>
            <a:endParaRPr lang="en-US" sz="1000" b="1" dirty="0">
              <a:solidFill>
                <a:srgbClr val="93C5FD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1655978" y="1837944"/>
            <a:ext cx="4718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人类</a:t>
            </a:r>
            <a:endParaRPr lang="en-US" sz="1300" b="1" dirty="0">
              <a:solidFill>
                <a:srgbClr val="1D4ED8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1"/>
          <a:srcRect l="-760" r="-760"/>
          <a:stretch>
            <a:fillRect/>
          </a:stretch>
        </p:blipFill>
        <p:spPr>
          <a:xfrm>
            <a:off x="2074774" y="1876349"/>
            <a:ext cx="152705" cy="171907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2"/>
          <a:srcRect l="-1064" r="-1064"/>
          <a:stretch>
            <a:fillRect/>
          </a:stretch>
        </p:blipFill>
        <p:spPr>
          <a:xfrm>
            <a:off x="2303374" y="1888236"/>
            <a:ext cx="219456" cy="17190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560320" y="1837944"/>
            <a:ext cx="3008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</a:t>
            </a:r>
            <a:endParaRPr lang="en-US" sz="1300" b="1" dirty="0">
              <a:solidFill>
                <a:srgbClr val="7C3AED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1"/>
          <a:srcRect l="-760" r="-760"/>
          <a:stretch>
            <a:fillRect/>
          </a:stretch>
        </p:blipFill>
        <p:spPr>
          <a:xfrm>
            <a:off x="2803550" y="1876349"/>
            <a:ext cx="152705" cy="171907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032150" y="1828800"/>
            <a:ext cx="685800" cy="267005"/>
          </a:xfrm>
          <a:prstGeom prst="roundRect">
            <a:avLst>
              <a:gd name="adj" fmla="val 48924"/>
            </a:avLst>
          </a:prstGeom>
          <a:solidFill>
            <a:srgbClr val="DBEAFE"/>
          </a:solidFill>
        </p:spPr>
      </p:sp>
      <p:sp>
        <p:nvSpPr>
          <p:cNvPr id="24" name="Text 18"/>
          <p:cNvSpPr txBox="1"/>
          <p:nvPr/>
        </p:nvSpPr>
        <p:spPr>
          <a:xfrm>
            <a:off x="3108046" y="1886407"/>
            <a:ext cx="633679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Times New Roman Regular" panose="02020503050405090304" charset="0"/>
                <a:ea typeface="ui-monospace" pitchFamily="34" charset="-122"/>
                <a:cs typeface="ui-monospace" pitchFamily="34" charset="-120"/>
              </a:rPr>
              <a:t>代码协作</a:t>
            </a:r>
            <a:endParaRPr lang="en-US" sz="1000" b="1" dirty="0">
              <a:solidFill>
                <a:srgbClr val="1D4ED8"/>
              </a:solidFill>
              <a:latin typeface="Times New Roman Regular" panose="02020503050405090304" charset="0"/>
              <a:ea typeface="ui-monospace" pitchFamily="34" charset="-122"/>
              <a:cs typeface="ui-monospace" pitchFamily="34" charset="-120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9442094" y="1410005"/>
            <a:ext cx="20153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从 "Syntax Recall"（语法记忆）</a:t>
            </a:r>
            <a:endParaRPr lang="en-US" sz="1000" i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8886139" y="1638605"/>
            <a:ext cx="25767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转向 "Prompt Engineering"（需求描述）</a:t>
            </a:r>
            <a:endParaRPr lang="en-US" sz="1000" i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609905" y="2476195"/>
            <a:ext cx="38405" cy="267005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8" name="Text 22"/>
          <p:cNvSpPr txBox="1"/>
          <p:nvPr/>
        </p:nvSpPr>
        <p:spPr>
          <a:xfrm>
            <a:off x="724205" y="2486254"/>
            <a:ext cx="11576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关键维度对比</a:t>
            </a:r>
            <a:endParaRPr lang="en-US" sz="1300" b="1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609905" y="3266237"/>
            <a:ext cx="1647749" cy="19202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0" name="Text 24"/>
          <p:cNvSpPr txBox="1"/>
          <p:nvPr/>
        </p:nvSpPr>
        <p:spPr>
          <a:xfrm>
            <a:off x="724205" y="2933395"/>
            <a:ext cx="4288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维度</a:t>
            </a:r>
            <a:endParaRPr lang="en-US" sz="1200" b="1" dirty="0">
              <a:solidFill>
                <a:srgbClr val="0F172A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2255825" y="3266237"/>
            <a:ext cx="3847795" cy="19202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2" name="Text 26"/>
          <p:cNvSpPr txBox="1"/>
          <p:nvPr/>
        </p:nvSpPr>
        <p:spPr>
          <a:xfrm>
            <a:off x="2370125" y="2933395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传统编程</a:t>
            </a:r>
            <a:endParaRPr lang="en-US" sz="1200" b="1" dirty="0">
              <a:solidFill>
                <a:srgbClr val="0F172A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6096305" y="3266237"/>
            <a:ext cx="3847795" cy="19202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4" name="Text 28"/>
          <p:cNvSpPr txBox="1"/>
          <p:nvPr/>
        </p:nvSpPr>
        <p:spPr>
          <a:xfrm>
            <a:off x="6210605" y="2933395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AI编程</a:t>
            </a:r>
            <a:endParaRPr lang="en-US" sz="1200" b="1" dirty="0">
              <a:solidFill>
                <a:srgbClr val="0F172A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35" name="Shape 29"/>
          <p:cNvSpPr/>
          <p:nvPr/>
        </p:nvSpPr>
        <p:spPr>
          <a:xfrm>
            <a:off x="9935870" y="3266237"/>
            <a:ext cx="1647749" cy="19202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6" name="Text 30"/>
          <p:cNvSpPr txBox="1"/>
          <p:nvPr/>
        </p:nvSpPr>
        <p:spPr>
          <a:xfrm>
            <a:off x="10050170" y="2933395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变革本质</a:t>
            </a:r>
            <a:endParaRPr lang="en-US" sz="1200" b="1" dirty="0">
              <a:solidFill>
                <a:srgbClr val="0F172A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609905" y="3696005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2"/>
          <p:cNvSpPr txBox="1"/>
          <p:nvPr/>
        </p:nvSpPr>
        <p:spPr>
          <a:xfrm>
            <a:off x="724205" y="3386938"/>
            <a:ext cx="6903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核心技能</a:t>
            </a:r>
            <a:endParaRPr lang="en-US" sz="11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9" name="Shape 33"/>
          <p:cNvSpPr/>
          <p:nvPr/>
        </p:nvSpPr>
        <p:spPr>
          <a:xfrm>
            <a:off x="2255825" y="3696005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4"/>
          <p:cNvSpPr txBox="1"/>
          <p:nvPr/>
        </p:nvSpPr>
        <p:spPr>
          <a:xfrm>
            <a:off x="2370125" y="3386938"/>
            <a:ext cx="134691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语法记忆、API查询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41" name="Shape 35"/>
          <p:cNvSpPr/>
          <p:nvPr/>
        </p:nvSpPr>
        <p:spPr>
          <a:xfrm>
            <a:off x="6096305" y="3696005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36"/>
          <p:cNvSpPr txBox="1"/>
          <p:nvPr/>
        </p:nvSpPr>
        <p:spPr>
          <a:xfrm>
            <a:off x="6210605" y="3386938"/>
            <a:ext cx="141366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需求描述、逻辑验证</a:t>
            </a:r>
            <a:endParaRPr lang="en-US" sz="11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3" name="Shape 37"/>
          <p:cNvSpPr/>
          <p:nvPr/>
        </p:nvSpPr>
        <p:spPr>
          <a:xfrm>
            <a:off x="9935870" y="3696005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38"/>
          <p:cNvSpPr txBox="1"/>
          <p:nvPr/>
        </p:nvSpPr>
        <p:spPr>
          <a:xfrm>
            <a:off x="10050170" y="3386938"/>
            <a:ext cx="89977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记忆 → 表达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45" name="Shape 39"/>
          <p:cNvSpPr/>
          <p:nvPr/>
        </p:nvSpPr>
        <p:spPr>
          <a:xfrm>
            <a:off x="609905" y="4101084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0"/>
          <p:cNvSpPr txBox="1"/>
          <p:nvPr/>
        </p:nvSpPr>
        <p:spPr>
          <a:xfrm>
            <a:off x="724205" y="3796589"/>
            <a:ext cx="6903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学习曲线</a:t>
            </a:r>
            <a:endParaRPr lang="en-US" sz="11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7" name="Shape 41"/>
          <p:cNvSpPr/>
          <p:nvPr/>
        </p:nvSpPr>
        <p:spPr>
          <a:xfrm>
            <a:off x="2255825" y="4101084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2"/>
          <p:cNvSpPr txBox="1"/>
          <p:nvPr/>
        </p:nvSpPr>
        <p:spPr>
          <a:xfrm>
            <a:off x="2370125" y="3796589"/>
            <a:ext cx="9189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陡峭 月-年级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49" name="Shape 43"/>
          <p:cNvSpPr/>
          <p:nvPr/>
        </p:nvSpPr>
        <p:spPr>
          <a:xfrm>
            <a:off x="6096305" y="4101084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4"/>
          <p:cNvSpPr txBox="1"/>
          <p:nvPr/>
        </p:nvSpPr>
        <p:spPr>
          <a:xfrm>
            <a:off x="6210605" y="3796589"/>
            <a:ext cx="9189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平缓 天-周级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1" name="Shape 45"/>
          <p:cNvSpPr/>
          <p:nvPr/>
        </p:nvSpPr>
        <p:spPr>
          <a:xfrm>
            <a:off x="9935870" y="4101084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46"/>
          <p:cNvSpPr txBox="1"/>
          <p:nvPr/>
        </p:nvSpPr>
        <p:spPr>
          <a:xfrm>
            <a:off x="10050170" y="3796589"/>
            <a:ext cx="6903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门槛降低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3" name="Shape 47"/>
          <p:cNvSpPr/>
          <p:nvPr/>
        </p:nvSpPr>
        <p:spPr>
          <a:xfrm>
            <a:off x="609905" y="4509821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48"/>
          <p:cNvSpPr txBox="1"/>
          <p:nvPr/>
        </p:nvSpPr>
        <p:spPr>
          <a:xfrm>
            <a:off x="724205" y="4206240"/>
            <a:ext cx="6903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开发速度</a:t>
            </a:r>
            <a:endParaRPr lang="en-US" sz="11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55" name="Shape 49"/>
          <p:cNvSpPr/>
          <p:nvPr/>
        </p:nvSpPr>
        <p:spPr>
          <a:xfrm>
            <a:off x="2255825" y="4509821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0"/>
          <p:cNvSpPr txBox="1"/>
          <p:nvPr/>
        </p:nvSpPr>
        <p:spPr>
          <a:xfrm>
            <a:off x="2370125" y="4206240"/>
            <a:ext cx="155722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慢（手写 + 手动调试）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7" name="Shape 51"/>
          <p:cNvSpPr/>
          <p:nvPr/>
        </p:nvSpPr>
        <p:spPr>
          <a:xfrm>
            <a:off x="6096305" y="4509821"/>
            <a:ext cx="38477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2"/>
          <p:cNvSpPr txBox="1"/>
          <p:nvPr/>
        </p:nvSpPr>
        <p:spPr>
          <a:xfrm>
            <a:off x="6210605" y="4206240"/>
            <a:ext cx="156636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快（秒级生成 + 迭代）</a:t>
            </a:r>
            <a:endParaRPr lang="en-US" sz="11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59" name="Shape 53"/>
          <p:cNvSpPr/>
          <p:nvPr/>
        </p:nvSpPr>
        <p:spPr>
          <a:xfrm>
            <a:off x="9935870" y="4509821"/>
            <a:ext cx="1647749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4"/>
          <p:cNvSpPr txBox="1"/>
          <p:nvPr/>
        </p:nvSpPr>
        <p:spPr>
          <a:xfrm>
            <a:off x="10050170" y="4206240"/>
            <a:ext cx="6903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效率质变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1" name="Text 55"/>
          <p:cNvSpPr txBox="1"/>
          <p:nvPr/>
        </p:nvSpPr>
        <p:spPr>
          <a:xfrm>
            <a:off x="724205" y="4614977"/>
            <a:ext cx="6903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适用场景</a:t>
            </a:r>
            <a:endParaRPr lang="en-US" sz="1100" b="1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2" name="Text 56"/>
          <p:cNvSpPr txBox="1"/>
          <p:nvPr/>
        </p:nvSpPr>
        <p:spPr>
          <a:xfrm>
            <a:off x="2370125" y="4614977"/>
            <a:ext cx="170901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所有场景（含底层驱动）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3" name="Text 57"/>
          <p:cNvSpPr txBox="1"/>
          <p:nvPr/>
        </p:nvSpPr>
        <p:spPr>
          <a:xfrm>
            <a:off x="6210605" y="4614977"/>
            <a:ext cx="130942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80% 常规科研任务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4" name="Text 58"/>
          <p:cNvSpPr txBox="1"/>
          <p:nvPr/>
        </p:nvSpPr>
        <p:spPr>
          <a:xfrm>
            <a:off x="10050170" y="4614977"/>
            <a:ext cx="6903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二八定律</a:t>
            </a:r>
            <a:endParaRPr lang="en-US" sz="1100" dirty="0">
              <a:solidFill>
                <a:srgbClr val="334155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65" name="Shape 59"/>
          <p:cNvSpPr/>
          <p:nvPr/>
        </p:nvSpPr>
        <p:spPr>
          <a:xfrm>
            <a:off x="609905" y="5238598"/>
            <a:ext cx="5372100" cy="1390802"/>
          </a:xfrm>
          <a:prstGeom prst="roundRect">
            <a:avLst>
              <a:gd name="adj" fmla="val 1801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733349" y="5362956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AI擅长领域</a:t>
            </a:r>
            <a:endParaRPr lang="en-US" sz="1000" b="1" dirty="0">
              <a:solidFill>
                <a:srgbClr val="065F46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7" name="Text 61"/>
          <p:cNvSpPr txBox="1"/>
          <p:nvPr/>
        </p:nvSpPr>
        <p:spPr>
          <a:xfrm>
            <a:off x="961949" y="5629046"/>
            <a:ext cx="24533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标准算法实现（排序、统计、GIS操作）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8" name="Text 62"/>
          <p:cNvSpPr txBox="1"/>
          <p:nvPr/>
        </p:nvSpPr>
        <p:spPr>
          <a:xfrm>
            <a:off x="961949" y="5857646"/>
            <a:ext cx="19010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代码语言转换（Python ↔ R）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69" name="Text 63"/>
          <p:cNvSpPr txBox="1"/>
          <p:nvPr/>
        </p:nvSpPr>
        <p:spPr>
          <a:xfrm>
            <a:off x="961949" y="6086246"/>
            <a:ext cx="23481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错误诊断与修复建议（Explain &amp; Fix）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0" name="Text 64"/>
          <p:cNvSpPr txBox="1"/>
          <p:nvPr/>
        </p:nvSpPr>
        <p:spPr>
          <a:xfrm>
            <a:off x="961949" y="6314846"/>
            <a:ext cx="13002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文档与注释自动生成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71" name="Shape 65"/>
          <p:cNvSpPr/>
          <p:nvPr/>
        </p:nvSpPr>
        <p:spPr>
          <a:xfrm>
            <a:off x="6210605" y="5238598"/>
            <a:ext cx="5372100" cy="1390802"/>
          </a:xfrm>
          <a:prstGeom prst="roundRect">
            <a:avLst>
              <a:gd name="adj" fmla="val 1801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2" name="Text 66"/>
          <p:cNvSpPr txBox="1"/>
          <p:nvPr/>
        </p:nvSpPr>
        <p:spPr>
          <a:xfrm>
            <a:off x="6334049" y="5362956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Times New Roman Regular" panose="02020503050405090304" charset="0"/>
                <a:ea typeface="Noto Sans SC" pitchFamily="34" charset="-122"/>
                <a:cs typeface="Times New Roman Regular" panose="02020503050405090304" charset="0"/>
              </a:rPr>
              <a:t>AI能力边界</a:t>
            </a:r>
            <a:endParaRPr lang="en-US" sz="1000" b="1" dirty="0">
              <a:solidFill>
                <a:srgbClr val="991B1B"/>
              </a:solidFill>
              <a:latin typeface="Times New Roman Regular" panose="02020503050405090304" charset="0"/>
              <a:ea typeface="Noto Sans SC" pitchFamily="34" charset="-122"/>
              <a:cs typeface="Times New Roman Regular" panose="02020503050405090304" charset="0"/>
            </a:endParaRPr>
          </a:p>
        </p:txBody>
      </p:sp>
      <p:sp>
        <p:nvSpPr>
          <p:cNvPr id="73" name="Text 67"/>
          <p:cNvSpPr txBox="1"/>
          <p:nvPr/>
        </p:nvSpPr>
        <p:spPr>
          <a:xfrm>
            <a:off x="6562649" y="5629046"/>
            <a:ext cx="21003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复杂业务逻辑（需深度领域知识）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74" name="Text 68"/>
          <p:cNvSpPr txBox="1"/>
          <p:nvPr/>
        </p:nvSpPr>
        <p:spPr>
          <a:xfrm>
            <a:off x="6562649" y="5857646"/>
            <a:ext cx="22338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创新算法设计（非标准教科书内容）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75" name="Text 69"/>
          <p:cNvSpPr txBox="1"/>
          <p:nvPr/>
        </p:nvSpPr>
        <p:spPr>
          <a:xfrm>
            <a:off x="6562649" y="6086246"/>
            <a:ext cx="10341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系统级架构决策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76" name="Text 70"/>
          <p:cNvSpPr txBox="1"/>
          <p:nvPr/>
        </p:nvSpPr>
        <p:spPr>
          <a:xfrm>
            <a:off x="6562649" y="6314846"/>
            <a:ext cx="15672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Noto Sans SC" pitchFamily="34" charset="-122"/>
                <a:cs typeface="Noto Sans SC" pitchFamily="34" charset="-120"/>
              </a:rPr>
              <a:t>极致性能优化（硬件级）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80" name="Text 74"/>
          <p:cNvSpPr txBox="1"/>
          <p:nvPr/>
        </p:nvSpPr>
        <p:spPr>
          <a:xfrm>
            <a:off x="11422685" y="6558077"/>
            <a:ext cx="26243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 Regular" panose="02020503050405090304" charset="0"/>
                <a:ea typeface="ui-monospace" pitchFamily="34" charset="-122"/>
                <a:cs typeface="Times New Roman Regular" panose="02020503050405090304" charset="0"/>
              </a:rPr>
              <a:t>03</a:t>
            </a:r>
            <a:endParaRPr lang="en-US" sz="1000" dirty="0">
              <a:solidFill>
                <a:srgbClr val="1E293B"/>
              </a:solidFill>
              <a:latin typeface="Times New Roman Regular" panose="02020503050405090304" charset="0"/>
              <a:ea typeface="ui-monospace" pitchFamily="34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2083003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1.2 Vibe Coding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81605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096158" y="267005"/>
            <a:ext cx="18004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定义、双面性与应用场景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990295"/>
            <a:ext cx="4800600" cy="1162202"/>
          </a:xfrm>
          <a:prstGeom prst="rect">
            <a:avLst/>
          </a:prstGeom>
          <a:solidFill>
            <a:srgbClr val="F0F9FF"/>
          </a:solidFill>
        </p:spPr>
      </p:sp>
      <p:sp>
        <p:nvSpPr>
          <p:cNvPr id="9" name="Shape 7"/>
          <p:cNvSpPr/>
          <p:nvPr/>
        </p:nvSpPr>
        <p:spPr>
          <a:xfrm>
            <a:off x="609905" y="990295"/>
            <a:ext cx="57607" cy="1162202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10" name="Text 8"/>
          <p:cNvSpPr txBox="1"/>
          <p:nvPr/>
        </p:nvSpPr>
        <p:spPr>
          <a:xfrm>
            <a:off x="857707" y="1209751"/>
            <a:ext cx="116220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Vibe Coding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57707" y="1533449"/>
            <a:ext cx="4368089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以自然语言对话为核心的探索式、迭代式编程方法。特点是"感觉驱动"—凭直觉描述需求，快速试错迭代。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905" y="2673706"/>
            <a:ext cx="4800600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3" name="Text 11"/>
          <p:cNvSpPr txBox="1"/>
          <p:nvPr/>
        </p:nvSpPr>
        <p:spPr>
          <a:xfrm>
            <a:off x="609905" y="2339950"/>
            <a:ext cx="11576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三大核心特征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905" y="2797150"/>
            <a:ext cx="4800600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8894" y="2974543"/>
            <a:ext cx="342900" cy="34290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rcRect t="-842" b="-842"/>
          <a:stretch>
            <a:fillRect/>
          </a:stretch>
        </p:blipFill>
        <p:spPr>
          <a:xfrm>
            <a:off x="824789" y="3060497"/>
            <a:ext cx="190195" cy="17190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13409" y="2936138"/>
            <a:ext cx="5815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低门槛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213409" y="3164738"/>
            <a:ext cx="22338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无需记忆复杂语法，自然语言即代码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9905" y="3609137"/>
            <a:ext cx="4800600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8894" y="3785616"/>
            <a:ext cx="342900" cy="342900"/>
          </a:xfrm>
          <a:prstGeom prst="ellipse">
            <a:avLst/>
          </a:prstGeom>
          <a:solidFill>
            <a:srgbClr val="DBEAFE"/>
          </a:solidFill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rcRect t="-2725" b="-2725"/>
          <a:stretch>
            <a:fillRect/>
          </a:stretch>
        </p:blipFill>
        <p:spPr>
          <a:xfrm>
            <a:off x="848563" y="3871570"/>
            <a:ext cx="142646" cy="17190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213409" y="3748126"/>
            <a:ext cx="5815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高速度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1213409" y="3976726"/>
            <a:ext cx="21003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想法到代码分钟级实现，快速验证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09905" y="4420210"/>
            <a:ext cx="4800600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8894" y="4597603"/>
            <a:ext cx="342900" cy="342900"/>
          </a:xfrm>
          <a:prstGeom prst="ellipse">
            <a:avLst/>
          </a:prstGeom>
          <a:solidFill>
            <a:srgbClr val="EDE9FE"/>
          </a:solidFill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3933" y="4682642"/>
            <a:ext cx="171907" cy="17190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213409" y="4559198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强探索性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213409" y="4787798"/>
            <a:ext cx="21003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通过对话发现未知可能性与新方案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715000" y="990295"/>
            <a:ext cx="2876702" cy="1419149"/>
          </a:xfrm>
          <a:prstGeom prst="roundRect">
            <a:avLst>
              <a:gd name="adj" fmla="val 3459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838444" y="1343254"/>
            <a:ext cx="2628900" cy="9144"/>
          </a:xfrm>
          <a:prstGeom prst="rect">
            <a:avLst/>
          </a:prstGeom>
          <a:solidFill>
            <a:srgbClr val="A7F3D0"/>
          </a:solidFill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38444" y="1150315"/>
            <a:ext cx="133502" cy="13350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048756" y="1114654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推荐使用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5838444" y="1429207"/>
            <a:ext cx="87691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代码量 &lt; 200 行</a:t>
            </a:r>
            <a:endParaRPr lang="en-US" sz="9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rcRect l="-2571" r="-2571"/>
          <a:stretch>
            <a:fillRect/>
          </a:stretch>
        </p:blipFill>
        <p:spPr>
          <a:xfrm>
            <a:off x="5838444" y="1642262"/>
            <a:ext cx="105156" cy="1143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943600" y="1642262"/>
            <a:ext cx="11247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一次性数据处理脚本</a:t>
            </a:r>
            <a:endParaRPr lang="en-US" sz="9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5"/>
          <a:srcRect l="-2571" r="-2571"/>
          <a:stretch>
            <a:fillRect/>
          </a:stretch>
        </p:blipFill>
        <p:spPr>
          <a:xfrm>
            <a:off x="5838444" y="1855318"/>
            <a:ext cx="105156" cy="1143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5943600" y="1855318"/>
            <a:ext cx="7818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快速原型验证</a:t>
            </a:r>
            <a:endParaRPr lang="en-US" sz="9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5"/>
          <a:srcRect l="-2571" r="-2571"/>
          <a:stretch>
            <a:fillRect/>
          </a:stretch>
        </p:blipFill>
        <p:spPr>
          <a:xfrm>
            <a:off x="5838444" y="2068373"/>
            <a:ext cx="105156" cy="1143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943600" y="2068373"/>
            <a:ext cx="7818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新技术栈学习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8706002" y="990295"/>
            <a:ext cx="2876702" cy="1419149"/>
          </a:xfrm>
          <a:prstGeom prst="roundRect">
            <a:avLst>
              <a:gd name="adj" fmla="val 345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8829446" y="1343254"/>
            <a:ext cx="2628900" cy="9144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829446" y="1150315"/>
            <a:ext cx="133502" cy="133502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038844" y="1114654"/>
            <a:ext cx="5001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不适用</a:t>
            </a:r>
            <a:endParaRPr lang="en-US" sz="1000" dirty="0"/>
          </a:p>
        </p:txBody>
      </p:sp>
      <p:sp>
        <p:nvSpPr>
          <p:cNvPr id="44" name="Text 34"/>
          <p:cNvSpPr txBox="1"/>
          <p:nvPr/>
        </p:nvSpPr>
        <p:spPr>
          <a:xfrm>
            <a:off x="8829446" y="1429207"/>
            <a:ext cx="87691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代码量 &gt; 500 行</a:t>
            </a:r>
            <a:endParaRPr lang="en-US" sz="9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7"/>
          <a:srcRect l="-133" r="-133"/>
          <a:stretch>
            <a:fillRect/>
          </a:stretch>
        </p:blipFill>
        <p:spPr>
          <a:xfrm>
            <a:off x="8829446" y="1642262"/>
            <a:ext cx="85954" cy="11430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915400" y="1642262"/>
            <a:ext cx="7818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需要长期维护</a:t>
            </a:r>
            <a:endParaRPr lang="en-US" sz="900" dirty="0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7"/>
          <a:srcRect l="-133" r="-133"/>
          <a:stretch>
            <a:fillRect/>
          </a:stretch>
        </p:blipFill>
        <p:spPr>
          <a:xfrm>
            <a:off x="8829446" y="1855318"/>
            <a:ext cx="85954" cy="114300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8915400" y="1855318"/>
            <a:ext cx="7818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团队协作项目</a:t>
            </a:r>
            <a:endParaRPr lang="en-US" sz="90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7"/>
          <a:srcRect l="-133" r="-133"/>
          <a:stretch>
            <a:fillRect/>
          </a:stretch>
        </p:blipFill>
        <p:spPr>
          <a:xfrm>
            <a:off x="8829446" y="2068373"/>
            <a:ext cx="85954" cy="114300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8915400" y="2068373"/>
            <a:ext cx="7818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论文核心算法</a:t>
            </a:r>
            <a:endParaRPr lang="en-US" sz="9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715000" y="2664562"/>
            <a:ext cx="152705" cy="152705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5943600" y="2626157"/>
            <a:ext cx="10387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91C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三大致命缺陷</a:t>
            </a:r>
            <a:endParaRPr lang="en-US" sz="1200" dirty="0"/>
          </a:p>
        </p:txBody>
      </p:sp>
      <p:sp>
        <p:nvSpPr>
          <p:cNvPr id="53" name="Shape 39"/>
          <p:cNvSpPr/>
          <p:nvPr/>
        </p:nvSpPr>
        <p:spPr>
          <a:xfrm>
            <a:off x="5715000" y="2931566"/>
            <a:ext cx="5867705" cy="666598"/>
          </a:xfrm>
          <a:prstGeom prst="roundRect">
            <a:avLst>
              <a:gd name="adj" fmla="val 15677"/>
            </a:avLst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9"/>
          <a:srcRect l="-837" r="-837"/>
          <a:stretch>
            <a:fillRect/>
          </a:stretch>
        </p:blipFill>
        <p:spPr>
          <a:xfrm>
            <a:off x="5838444" y="3083357"/>
            <a:ext cx="152705" cy="133502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6067044" y="3055010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2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规模灾难</a:t>
            </a:r>
            <a:endParaRPr lang="en-US" sz="1000" dirty="0"/>
          </a:p>
        </p:txBody>
      </p:sp>
      <p:sp>
        <p:nvSpPr>
          <p:cNvPr id="56" name="Text 41"/>
          <p:cNvSpPr txBox="1"/>
          <p:nvPr/>
        </p:nvSpPr>
        <p:spPr>
          <a:xfrm>
            <a:off x="6082589" y="3274466"/>
            <a:ext cx="39364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13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500行后代码沦为"补丁堆"，缺乏整体架构，维护成本指数级上升。</a:t>
            </a:r>
            <a:endParaRPr lang="en-US" sz="1000" dirty="0"/>
          </a:p>
        </p:txBody>
      </p:sp>
      <p:sp>
        <p:nvSpPr>
          <p:cNvPr id="57" name="Shape 42"/>
          <p:cNvSpPr/>
          <p:nvPr/>
        </p:nvSpPr>
        <p:spPr>
          <a:xfrm>
            <a:off x="5715000" y="3680460"/>
            <a:ext cx="5867705" cy="666598"/>
          </a:xfrm>
          <a:prstGeom prst="roundRect">
            <a:avLst>
              <a:gd name="adj" fmla="val 15677"/>
            </a:avLst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>
            <a:fillRect/>
          </a:stretch>
        </p:blipFill>
        <p:spPr>
          <a:xfrm>
            <a:off x="5838444" y="3833165"/>
            <a:ext cx="171907" cy="133502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6086246" y="3803904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2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理解偏差</a:t>
            </a:r>
            <a:endParaRPr lang="en-US" sz="1000" dirty="0"/>
          </a:p>
        </p:txBody>
      </p:sp>
      <p:sp>
        <p:nvSpPr>
          <p:cNvPr id="60" name="Text 44"/>
          <p:cNvSpPr txBox="1"/>
          <p:nvPr/>
        </p:nvSpPr>
        <p:spPr>
          <a:xfrm>
            <a:off x="6082589" y="4023360"/>
            <a:ext cx="428853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13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领域术语歧义（如"建筑密度"的三种定义），AI缺乏上下文且不主动澄清。</a:t>
            </a:r>
            <a:endParaRPr lang="en-US" sz="1000" dirty="0"/>
          </a:p>
        </p:txBody>
      </p:sp>
      <p:sp>
        <p:nvSpPr>
          <p:cNvPr id="61" name="Shape 45"/>
          <p:cNvSpPr/>
          <p:nvPr/>
        </p:nvSpPr>
        <p:spPr>
          <a:xfrm>
            <a:off x="5715000" y="4429354"/>
            <a:ext cx="5867705" cy="666598"/>
          </a:xfrm>
          <a:prstGeom prst="roundRect">
            <a:avLst>
              <a:gd name="adj" fmla="val 15677"/>
            </a:avLst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11"/>
          <a:srcRect l="-2512" r="-2512"/>
          <a:stretch>
            <a:fillRect/>
          </a:stretch>
        </p:blipFill>
        <p:spPr>
          <a:xfrm>
            <a:off x="5838444" y="4582058"/>
            <a:ext cx="105156" cy="133502"/>
          </a:xfrm>
          <a:prstGeom prst="rect">
            <a:avLst/>
          </a:prstGeom>
        </p:spPr>
      </p:pic>
      <p:sp>
        <p:nvSpPr>
          <p:cNvPr id="63" name="Text 46"/>
          <p:cNvSpPr txBox="1"/>
          <p:nvPr/>
        </p:nvSpPr>
        <p:spPr>
          <a:xfrm>
            <a:off x="6019495" y="4552798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2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文档失控</a:t>
            </a:r>
            <a:endParaRPr lang="en-US" sz="1000" dirty="0"/>
          </a:p>
        </p:txBody>
      </p:sp>
      <p:sp>
        <p:nvSpPr>
          <p:cNvPr id="64" name="Text 47"/>
          <p:cNvSpPr txBox="1"/>
          <p:nvPr/>
        </p:nvSpPr>
        <p:spPr>
          <a:xfrm>
            <a:off x="6082589" y="4772254"/>
            <a:ext cx="39840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13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直接修改代码而未更新文档，导致"文不对题"，文档最终完全失效。</a:t>
            </a:r>
            <a:endParaRPr lang="en-US" sz="1000" dirty="0"/>
          </a:p>
        </p:txBody>
      </p:sp>
      <p:sp>
        <p:nvSpPr>
          <p:cNvPr id="65" name="Shape 4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6" name="Shape 49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67" name="Text 50"/>
          <p:cNvSpPr txBox="1"/>
          <p:nvPr/>
        </p:nvSpPr>
        <p:spPr>
          <a:xfrm>
            <a:off x="609905" y="6538874"/>
            <a:ext cx="15581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AI驱动科研编程实战指南</a:t>
            </a:r>
            <a:endParaRPr lang="en-US" sz="1000" dirty="0"/>
          </a:p>
        </p:txBody>
      </p:sp>
      <p:sp>
        <p:nvSpPr>
          <p:cNvPr id="68" name="Text 51"/>
          <p:cNvSpPr txBox="1"/>
          <p:nvPr/>
        </p:nvSpPr>
        <p:spPr>
          <a:xfrm>
            <a:off x="11449202" y="6558077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2329891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1.3 解决方案预告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034894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349447" y="267005"/>
            <a:ext cx="22576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保留速度优势，补齐可靠性短板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10482" y="1589227"/>
            <a:ext cx="371520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核心思想转变：从 对话驱动 走向 契约驱动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5966" y="2838298"/>
            <a:ext cx="571500" cy="19202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10" name="Shape 8"/>
          <p:cNvSpPr/>
          <p:nvPr/>
        </p:nvSpPr>
        <p:spPr>
          <a:xfrm>
            <a:off x="7775143" y="2838298"/>
            <a:ext cx="571500" cy="19202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11" name="Shape 9"/>
          <p:cNvSpPr/>
          <p:nvPr/>
        </p:nvSpPr>
        <p:spPr>
          <a:xfrm>
            <a:off x="609905" y="4021531"/>
            <a:ext cx="5372100" cy="1095451"/>
          </a:xfrm>
          <a:prstGeom prst="roundRect">
            <a:avLst>
              <a:gd name="adj" fmla="val 5807"/>
            </a:avLst>
          </a:prstGeom>
          <a:solidFill>
            <a:srgbClr val="F8FAFC"/>
          </a:solidFill>
        </p:spPr>
      </p:sp>
      <p:sp>
        <p:nvSpPr>
          <p:cNvPr id="12" name="Shape 10"/>
          <p:cNvSpPr/>
          <p:nvPr/>
        </p:nvSpPr>
        <p:spPr>
          <a:xfrm>
            <a:off x="609905" y="4021531"/>
            <a:ext cx="38405" cy="1095451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rcRect l="-33" r="-33"/>
          <a:stretch>
            <a:fillRect/>
          </a:stretch>
        </p:blipFill>
        <p:spPr>
          <a:xfrm>
            <a:off x="830275" y="4232758"/>
            <a:ext cx="171907" cy="1527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78078" y="4232758"/>
            <a:ext cx="20098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Vibe Coding = 口头传达盖房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30275" y="4489704"/>
            <a:ext cx="266273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"边聊边改，想到哪说到哪 (Ad-hoc changes)"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30275" y="4699102"/>
            <a:ext cx="1914754" cy="228600"/>
          </a:xfrm>
          <a:prstGeom prst="roundRect">
            <a:avLst>
              <a:gd name="adj" fmla="val 66667"/>
            </a:avLst>
          </a:prstGeom>
          <a:solidFill>
            <a:srgbClr val="FEF2F2"/>
          </a:solidFill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07085" y="4756709"/>
            <a:ext cx="114300" cy="1143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58875" y="4737506"/>
            <a:ext cx="16962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结果：房子可能盖歪，细节遗漏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10605" y="4021531"/>
            <a:ext cx="5372100" cy="1095451"/>
          </a:xfrm>
          <a:prstGeom prst="roundRect">
            <a:avLst>
              <a:gd name="adj" fmla="val 5807"/>
            </a:avLst>
          </a:prstGeom>
          <a:solidFill>
            <a:srgbClr val="F8FAFC"/>
          </a:solidFill>
        </p:spPr>
      </p:sp>
      <p:sp>
        <p:nvSpPr>
          <p:cNvPr id="20" name="Shape 16"/>
          <p:cNvSpPr/>
          <p:nvPr/>
        </p:nvSpPr>
        <p:spPr>
          <a:xfrm>
            <a:off x="6210605" y="4021531"/>
            <a:ext cx="38405" cy="1095451"/>
          </a:xfrm>
          <a:prstGeom prst="rect">
            <a:avLst/>
          </a:prstGeom>
          <a:solidFill>
            <a:srgbClr val="059669"/>
          </a:solidFill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30975" y="4232758"/>
            <a:ext cx="152705" cy="152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659575" y="4232758"/>
            <a:ext cx="1810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规范驱动 = 先出施工图纸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430975" y="4489704"/>
            <a:ext cx="260512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"图纸明确所有细节和标准 (Blueprints first)"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430975" y="4699102"/>
            <a:ext cx="1686154" cy="228600"/>
          </a:xfrm>
          <a:prstGeom prst="roundRect">
            <a:avLst>
              <a:gd name="adj" fmla="val 66667"/>
            </a:avLst>
          </a:prstGeom>
          <a:solidFill>
            <a:srgbClr val="ECFDF5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07785" y="4756709"/>
            <a:ext cx="114300" cy="1143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659575" y="4737506"/>
            <a:ext cx="14676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结果：质量有保障，可复现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09905" y="5415991"/>
            <a:ext cx="10972800" cy="647395"/>
          </a:xfrm>
          <a:prstGeom prst="roundRect">
            <a:avLst>
              <a:gd name="adj" fmla="val 16617"/>
            </a:avLst>
          </a:prstGeom>
          <a:solidFill>
            <a:srgbClr val="1E293B"/>
          </a:solidFill>
        </p:spPr>
      </p:sp>
      <p:sp>
        <p:nvSpPr>
          <p:cNvPr id="28" name="Shape 22"/>
          <p:cNvSpPr/>
          <p:nvPr/>
        </p:nvSpPr>
        <p:spPr>
          <a:xfrm>
            <a:off x="5924398" y="5272430"/>
            <a:ext cx="342900" cy="342900"/>
          </a:xfrm>
          <a:prstGeom prst="ellipse">
            <a:avLst/>
          </a:prstGeom>
          <a:solidFill>
            <a:srgbClr val="3B82F6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t="-43" b="-43"/>
          <a:stretch>
            <a:fillRect/>
          </a:stretch>
        </p:blipFill>
        <p:spPr>
          <a:xfrm>
            <a:off x="6029554" y="5367528"/>
            <a:ext cx="133502" cy="15270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865376" y="5636362"/>
            <a:ext cx="85971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"Vibe Coding是编程的快餐 (Fast Food)—好吃但不健康。 规范驱动是健康快餐 (Healthy Fast Food)—既快又可靠。"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Shape 25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33" name="Text 26"/>
          <p:cNvSpPr txBox="1"/>
          <p:nvPr/>
        </p:nvSpPr>
        <p:spPr>
          <a:xfrm>
            <a:off x="609905" y="6558077"/>
            <a:ext cx="231068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AI-Driven Research Programming Guide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11422685" y="6558077"/>
            <a:ext cx="26243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09905" y="2055571"/>
            <a:ext cx="3114446" cy="1591056"/>
          </a:xfrm>
          <a:prstGeom prst="roundRect">
            <a:avLst>
              <a:gd name="adj" fmla="val 413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811073" y="2295144"/>
            <a:ext cx="10433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811073" y="2572207"/>
            <a:ext cx="571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对话驱动</a:t>
            </a:r>
            <a:endParaRPr lang="en-US" sz="9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rcRect t="-1100" b="-1100"/>
          <a:stretch>
            <a:fillRect/>
          </a:stretch>
        </p:blipFill>
        <p:spPr>
          <a:xfrm>
            <a:off x="811073" y="2807208"/>
            <a:ext cx="114300" cy="13350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02182" y="2809951"/>
            <a:ext cx="13862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速度极快 (High Speed)</a:t>
            </a:r>
            <a:endParaRPr lang="en-US" sz="10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11073" y="3035808"/>
            <a:ext cx="133502" cy="13350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021385" y="3038551"/>
            <a:ext cx="12152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直觉探索 (Intuitive)</a:t>
            </a:r>
            <a:endParaRPr lang="en-US" sz="10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11073" y="3264408"/>
            <a:ext cx="133502" cy="133502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021385" y="3267151"/>
            <a:ext cx="136702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质量不可控 (Unstable)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771754" y="1960474"/>
            <a:ext cx="247802" cy="24780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5" name="Text 35"/>
          <p:cNvSpPr txBox="1"/>
          <p:nvPr/>
        </p:nvSpPr>
        <p:spPr>
          <a:xfrm>
            <a:off x="863194" y="1986991"/>
            <a:ext cx="16459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4539082" y="2027225"/>
            <a:ext cx="3114446" cy="1591056"/>
          </a:xfrm>
          <a:prstGeom prst="roundRect">
            <a:avLst>
              <a:gd name="adj" fmla="val 4130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114300" dist="76200" dir="5400000" algn="bl" rotWithShape="0">
              <a:srgbClr val="3B82F6">
                <a:alpha val="20000"/>
              </a:srgbClr>
            </a:outerShdw>
          </a:effectLst>
        </p:spPr>
      </p:sp>
      <p:sp>
        <p:nvSpPr>
          <p:cNvPr id="47" name="Text 37"/>
          <p:cNvSpPr txBox="1"/>
          <p:nvPr/>
        </p:nvSpPr>
        <p:spPr>
          <a:xfrm>
            <a:off x="4741164" y="2266798"/>
            <a:ext cx="8814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Spec-First</a:t>
            </a:r>
            <a:endParaRPr lang="en-US" sz="1300" dirty="0"/>
          </a:p>
        </p:txBody>
      </p:sp>
      <p:sp>
        <p:nvSpPr>
          <p:cNvPr id="48" name="Text 38"/>
          <p:cNvSpPr txBox="1"/>
          <p:nvPr/>
        </p:nvSpPr>
        <p:spPr>
          <a:xfrm>
            <a:off x="4741164" y="2542946"/>
            <a:ext cx="571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规范优先</a:t>
            </a:r>
            <a:endParaRPr lang="en-US" sz="90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9"/>
          <a:srcRect l="-2512" r="-2512"/>
          <a:stretch>
            <a:fillRect/>
          </a:stretch>
        </p:blipFill>
        <p:spPr>
          <a:xfrm>
            <a:off x="4741164" y="2778862"/>
            <a:ext cx="105156" cy="133502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4921301" y="2781605"/>
            <a:ext cx="151973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先定义后实现 (Def-First)</a:t>
            </a:r>
            <a:endParaRPr lang="en-US" sz="1000" dirty="0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741164" y="3007462"/>
            <a:ext cx="133502" cy="133502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4950562" y="3010205"/>
            <a:ext cx="142463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迭代有锚点 (Anchored)</a:t>
            </a:r>
            <a:endParaRPr lang="en-US" sz="1000" dirty="0"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4741164" y="3236062"/>
            <a:ext cx="133502" cy="133502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4950562" y="3238805"/>
            <a:ext cx="13386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质量有保障 (Reliable)</a:t>
            </a:r>
            <a:endParaRPr lang="en-US" sz="1000" dirty="0"/>
          </a:p>
        </p:txBody>
      </p:sp>
      <p:sp>
        <p:nvSpPr>
          <p:cNvPr id="55" name="Shape 42"/>
          <p:cNvSpPr/>
          <p:nvPr/>
        </p:nvSpPr>
        <p:spPr>
          <a:xfrm>
            <a:off x="4700930" y="1932127"/>
            <a:ext cx="247802" cy="24780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56" name="Text 43"/>
          <p:cNvSpPr txBox="1"/>
          <p:nvPr/>
        </p:nvSpPr>
        <p:spPr>
          <a:xfrm>
            <a:off x="4792370" y="1958645"/>
            <a:ext cx="16459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000" dirty="0"/>
          </a:p>
        </p:txBody>
      </p:sp>
      <p:sp>
        <p:nvSpPr>
          <p:cNvPr id="57" name="Shape 44"/>
          <p:cNvSpPr/>
          <p:nvPr/>
        </p:nvSpPr>
        <p:spPr>
          <a:xfrm>
            <a:off x="8468258" y="2055571"/>
            <a:ext cx="3114446" cy="1591056"/>
          </a:xfrm>
          <a:prstGeom prst="roundRect">
            <a:avLst>
              <a:gd name="adj" fmla="val 4130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45"/>
          <p:cNvSpPr txBox="1"/>
          <p:nvPr/>
        </p:nvSpPr>
        <p:spPr>
          <a:xfrm>
            <a:off x="8670341" y="2295144"/>
            <a:ext cx="12435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Spec-as-Source</a:t>
            </a:r>
            <a:endParaRPr lang="en-US" sz="1300" dirty="0"/>
          </a:p>
        </p:txBody>
      </p:sp>
      <p:sp>
        <p:nvSpPr>
          <p:cNvPr id="59" name="Text 46"/>
          <p:cNvSpPr txBox="1"/>
          <p:nvPr/>
        </p:nvSpPr>
        <p:spPr>
          <a:xfrm>
            <a:off x="8670341" y="2572207"/>
            <a:ext cx="6958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规范即源码</a:t>
            </a:r>
            <a:endParaRPr lang="en-US" sz="900" dirty="0"/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2"/>
          <a:srcRect l="-1507" r="-1507"/>
          <a:stretch>
            <a:fillRect/>
          </a:stretch>
        </p:blipFill>
        <p:spPr>
          <a:xfrm>
            <a:off x="8670341" y="2807208"/>
            <a:ext cx="171907" cy="133502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8918143" y="2809951"/>
            <a:ext cx="15581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自动生成代码 (Auto-Gen)</a:t>
            </a:r>
            <a:endParaRPr lang="en-US" sz="1000" dirty="0"/>
          </a:p>
        </p:txBody>
      </p:sp>
      <p:pic>
        <p:nvPicPr>
          <p:cNvPr id="62" name="Image 12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>
            <a:fillRect/>
          </a:stretch>
        </p:blipFill>
        <p:spPr>
          <a:xfrm>
            <a:off x="8670341" y="3035808"/>
            <a:ext cx="114300" cy="133502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8860536" y="3038551"/>
            <a:ext cx="15005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一致性100% (Consistent)</a:t>
            </a:r>
            <a:endParaRPr lang="en-US" sz="1000" dirty="0"/>
          </a:p>
        </p:txBody>
      </p:sp>
      <p:pic>
        <p:nvPicPr>
          <p:cNvPr id="64" name="Image 13" descr="preencoded.png"/>
          <p:cNvPicPr>
            <a:picLocks noChangeAspect="1"/>
          </p:cNvPicPr>
          <p:nvPr/>
        </p:nvPicPr>
        <p:blipFill>
          <a:blip r:embed="rId14"/>
          <a:srcRect l="-1507" r="-1507"/>
          <a:stretch>
            <a:fillRect/>
          </a:stretch>
        </p:blipFill>
        <p:spPr>
          <a:xfrm>
            <a:off x="8670341" y="3264408"/>
            <a:ext cx="171907" cy="133502"/>
          </a:xfrm>
          <a:prstGeom prst="rect">
            <a:avLst/>
          </a:prstGeom>
        </p:spPr>
      </p:pic>
      <p:sp>
        <p:nvSpPr>
          <p:cNvPr id="65" name="Text 49"/>
          <p:cNvSpPr txBox="1"/>
          <p:nvPr/>
        </p:nvSpPr>
        <p:spPr>
          <a:xfrm>
            <a:off x="8918143" y="3267151"/>
            <a:ext cx="13862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团队协作基石 (Collab)</a:t>
            </a:r>
            <a:endParaRPr lang="en-US" sz="1000" dirty="0"/>
          </a:p>
        </p:txBody>
      </p:sp>
      <p:sp>
        <p:nvSpPr>
          <p:cNvPr id="66" name="Shape 50"/>
          <p:cNvSpPr/>
          <p:nvPr/>
        </p:nvSpPr>
        <p:spPr>
          <a:xfrm>
            <a:off x="8630107" y="1960474"/>
            <a:ext cx="247802" cy="247802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67" name="Text 51"/>
          <p:cNvSpPr txBox="1"/>
          <p:nvPr/>
        </p:nvSpPr>
        <p:spPr>
          <a:xfrm>
            <a:off x="8721547" y="1986991"/>
            <a:ext cx="16459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336865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2.1 工具全景图（2025版）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06908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382719" y="295351"/>
            <a:ext cx="28675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2025主流AI编程工具四大类别与最新生态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5562295" cy="2171700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049" y="118506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l="-505" r="-505"/>
          <a:stretch>
            <a:fillRect/>
          </a:stretch>
        </p:blipFill>
        <p:spPr>
          <a:xfrm>
            <a:off x="694944" y="1285646"/>
            <a:ext cx="228600" cy="18105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14654" y="1181405"/>
            <a:ext cx="98938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AI原生IDE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114654" y="1416406"/>
            <a:ext cx="156819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完整开发环境，深度集成AI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9049" y="1655978"/>
            <a:ext cx="552298" cy="237744"/>
          </a:xfrm>
          <a:prstGeom prst="roundRect">
            <a:avLst>
              <a:gd name="adj" fmla="val 61538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9633" y="1707185"/>
            <a:ext cx="4389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Cursor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230782" y="1655978"/>
            <a:ext cx="676656" cy="237744"/>
          </a:xfrm>
          <a:prstGeom prst="roundRect">
            <a:avLst>
              <a:gd name="adj" fmla="val 61538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32281" y="1707185"/>
            <a:ext cx="5623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Windsurf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962302" y="1655978"/>
            <a:ext cx="771754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62886" y="1707185"/>
            <a:ext cx="6574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Antigravity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89834" y="1655978"/>
            <a:ext cx="428854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90418" y="1707185"/>
            <a:ext cx="3145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79038" y="1655978"/>
            <a:ext cx="428854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79622" y="1707185"/>
            <a:ext cx="3145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Kiro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768242" y="1655978"/>
            <a:ext cx="657454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68826" y="1707185"/>
            <a:ext cx="5431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Augment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19049" y="2311603"/>
            <a:ext cx="5238598" cy="694944"/>
          </a:xfrm>
          <a:prstGeom prst="roundRect">
            <a:avLst>
              <a:gd name="adj" fmla="val 10815"/>
            </a:avLst>
          </a:prstGeom>
          <a:solidFill>
            <a:srgbClr val="F8FAFC"/>
          </a:solidFill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rcRect l="-11799" r="-11799"/>
          <a:stretch>
            <a:fillRect/>
          </a:stretch>
        </p:blipFill>
        <p:spPr>
          <a:xfrm>
            <a:off x="694944" y="2404872"/>
            <a:ext cx="133502" cy="12344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05256" y="2397557"/>
            <a:ext cx="149230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适合中大型项目 (1000+行)</a:t>
            </a:r>
            <a:endParaRPr lang="en-US" sz="9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2"/>
          <a:srcRect l="-11799" r="-11799"/>
          <a:stretch>
            <a:fillRect/>
          </a:stretch>
        </p:blipFill>
        <p:spPr>
          <a:xfrm>
            <a:off x="694944" y="2594153"/>
            <a:ext cx="133502" cy="12344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905256" y="2585923"/>
            <a:ext cx="16157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Agent模式：整项目自主开发</a:t>
            </a:r>
            <a:endParaRPr lang="en-US" sz="9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2"/>
          <a:srcRect l="-11799" r="-11799"/>
          <a:stretch>
            <a:fillRect/>
          </a:stretch>
        </p:blipFill>
        <p:spPr>
          <a:xfrm>
            <a:off x="694944" y="2782519"/>
            <a:ext cx="133502" cy="12344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05256" y="2775204"/>
            <a:ext cx="13112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深度上下文理解与引用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172200" y="990295"/>
            <a:ext cx="5562295" cy="2171700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334049" y="118506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CFDF5"/>
          </a:solidFill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rcRect l="-1403" r="-1403"/>
          <a:stretch>
            <a:fillRect/>
          </a:stretch>
        </p:blipFill>
        <p:spPr>
          <a:xfrm>
            <a:off x="6420002" y="1285646"/>
            <a:ext cx="209398" cy="181051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829654" y="1181405"/>
            <a:ext cx="136977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 命令行工具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6829654" y="1416406"/>
            <a:ext cx="14346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极客首选，脚本与自动化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6334049" y="1655978"/>
            <a:ext cx="838505" cy="237744"/>
          </a:xfrm>
          <a:prstGeom prst="roundRect">
            <a:avLst>
              <a:gd name="adj" fmla="val 61538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6434633" y="1707185"/>
            <a:ext cx="7242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7228332" y="1655978"/>
            <a:ext cx="752551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7329830" y="1707185"/>
            <a:ext cx="638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Codex CLI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8034833" y="1655978"/>
            <a:ext cx="800100" cy="237744"/>
          </a:xfrm>
          <a:prstGeom prst="roundRect">
            <a:avLst>
              <a:gd name="adj" fmla="val 61538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135417" y="1707185"/>
            <a:ext cx="6858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Gemini CLI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8890711" y="1655978"/>
            <a:ext cx="485546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8992210" y="1707185"/>
            <a:ext cx="3721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Droid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6334049" y="2311603"/>
            <a:ext cx="5238598" cy="694944"/>
          </a:xfrm>
          <a:prstGeom prst="roundRect">
            <a:avLst>
              <a:gd name="adj" fmla="val 10815"/>
            </a:avLst>
          </a:prstGeom>
          <a:solidFill>
            <a:srgbClr val="F8FAFC"/>
          </a:solidFill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4"/>
          <a:srcRect l="-11799" r="-11799"/>
          <a:stretch>
            <a:fillRect/>
          </a:stretch>
        </p:blipFill>
        <p:spPr>
          <a:xfrm>
            <a:off x="6409944" y="2404872"/>
            <a:ext cx="133502" cy="123444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6620256" y="2397557"/>
            <a:ext cx="14346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适合复杂算法与深度推理</a:t>
            </a:r>
            <a:endParaRPr lang="en-US" sz="9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4"/>
          <a:srcRect l="-11799" r="-11799"/>
          <a:stretch>
            <a:fillRect/>
          </a:stretch>
        </p:blipFill>
        <p:spPr>
          <a:xfrm>
            <a:off x="6409944" y="2594153"/>
            <a:ext cx="133502" cy="123444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6620256" y="2585923"/>
            <a:ext cx="160660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超大上下文窗口 (200K - 1M)</a:t>
            </a:r>
            <a:endParaRPr lang="en-US" sz="9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4"/>
          <a:srcRect l="-11799" r="-11799"/>
          <a:stretch>
            <a:fillRect/>
          </a:stretch>
        </p:blipFill>
        <p:spPr>
          <a:xfrm>
            <a:off x="6409944" y="2782519"/>
            <a:ext cx="133502" cy="123444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6620256" y="2775204"/>
            <a:ext cx="13112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自动化任务分解与执行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457200" y="3314700"/>
            <a:ext cx="5562295" cy="2171700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619049" y="350946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FFBEB"/>
          </a:solidFill>
        </p:spPr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5"/>
          <a:srcRect l="-505" r="-505"/>
          <a:stretch>
            <a:fillRect/>
          </a:stretch>
        </p:blipFill>
        <p:spPr>
          <a:xfrm>
            <a:off x="694944" y="3609137"/>
            <a:ext cx="228600" cy="181051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1114654" y="3504895"/>
            <a:ext cx="100858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云平台开发</a:t>
            </a:r>
            <a:endParaRPr lang="en-US" sz="1300" dirty="0"/>
          </a:p>
        </p:txBody>
      </p:sp>
      <p:sp>
        <p:nvSpPr>
          <p:cNvPr id="56" name="Text 45"/>
          <p:cNvSpPr txBox="1"/>
          <p:nvPr/>
        </p:nvSpPr>
        <p:spPr>
          <a:xfrm>
            <a:off x="1114654" y="3739896"/>
            <a:ext cx="13112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在线开发，零配置环境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>
            <a:off x="619049" y="3980383"/>
            <a:ext cx="504749" cy="237744"/>
          </a:xfrm>
          <a:prstGeom prst="roundRect">
            <a:avLst>
              <a:gd name="adj" fmla="val 61538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8" name="Text 47"/>
          <p:cNvSpPr txBox="1"/>
          <p:nvPr/>
        </p:nvSpPr>
        <p:spPr>
          <a:xfrm>
            <a:off x="719633" y="4031590"/>
            <a:ext cx="3913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Replit</a:t>
            </a:r>
            <a:endParaRPr lang="en-US" sz="900" dirty="0"/>
          </a:p>
        </p:txBody>
      </p:sp>
      <p:sp>
        <p:nvSpPr>
          <p:cNvPr id="59" name="Shape 48"/>
          <p:cNvSpPr/>
          <p:nvPr/>
        </p:nvSpPr>
        <p:spPr>
          <a:xfrm>
            <a:off x="1180490" y="3980383"/>
            <a:ext cx="619049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1281074" y="4031590"/>
            <a:ext cx="5056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bolt.new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1858975" y="3980383"/>
            <a:ext cx="599846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1959559" y="4031590"/>
            <a:ext cx="4864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Lovable</a:t>
            </a:r>
            <a:endParaRPr lang="en-US" sz="900" dirty="0"/>
          </a:p>
        </p:txBody>
      </p:sp>
      <p:sp>
        <p:nvSpPr>
          <p:cNvPr id="63" name="Shape 52"/>
          <p:cNvSpPr/>
          <p:nvPr/>
        </p:nvSpPr>
        <p:spPr>
          <a:xfrm>
            <a:off x="2515514" y="3980383"/>
            <a:ext cx="599846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2616098" y="4031590"/>
            <a:ext cx="4864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Orchids</a:t>
            </a:r>
            <a:endParaRPr lang="en-US" sz="900" dirty="0"/>
          </a:p>
        </p:txBody>
      </p:sp>
      <p:sp>
        <p:nvSpPr>
          <p:cNvPr id="65" name="Shape 54"/>
          <p:cNvSpPr/>
          <p:nvPr/>
        </p:nvSpPr>
        <p:spPr>
          <a:xfrm>
            <a:off x="619049" y="4636008"/>
            <a:ext cx="5238598" cy="694944"/>
          </a:xfrm>
          <a:prstGeom prst="roundRect">
            <a:avLst>
              <a:gd name="adj" fmla="val 10815"/>
            </a:avLst>
          </a:prstGeom>
          <a:solidFill>
            <a:srgbClr val="F8FAFC"/>
          </a:solidFill>
        </p:spPr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6"/>
          <a:srcRect l="-11799" r="-11799"/>
          <a:stretch>
            <a:fillRect/>
          </a:stretch>
        </p:blipFill>
        <p:spPr>
          <a:xfrm>
            <a:off x="694944" y="4729277"/>
            <a:ext cx="133502" cy="123444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905256" y="4721962"/>
            <a:ext cx="155905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无需环境配置，浏览器即用</a:t>
            </a:r>
            <a:endParaRPr lang="en-US" sz="900" dirty="0"/>
          </a:p>
        </p:txBody>
      </p:sp>
      <p:pic>
        <p:nvPicPr>
          <p:cNvPr id="68" name="Image 10" descr="preencoded.png"/>
          <p:cNvPicPr>
            <a:picLocks noChangeAspect="1"/>
          </p:cNvPicPr>
          <p:nvPr/>
        </p:nvPicPr>
        <p:blipFill>
          <a:blip r:embed="rId6"/>
          <a:srcRect l="-11799" r="-11799"/>
          <a:stretch>
            <a:fillRect/>
          </a:stretch>
        </p:blipFill>
        <p:spPr>
          <a:xfrm>
            <a:off x="694944" y="4918558"/>
            <a:ext cx="133502" cy="123444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905256" y="4910328"/>
            <a:ext cx="107259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实时全栈应用预览</a:t>
            </a:r>
            <a:endParaRPr lang="en-US" sz="900" dirty="0"/>
          </a:p>
        </p:txBody>
      </p:sp>
      <p:pic>
        <p:nvPicPr>
          <p:cNvPr id="70" name="Image 11" descr="preencoded.png"/>
          <p:cNvPicPr>
            <a:picLocks noChangeAspect="1"/>
          </p:cNvPicPr>
          <p:nvPr/>
        </p:nvPicPr>
        <p:blipFill>
          <a:blip r:embed="rId6"/>
          <a:srcRect l="-11799" r="-11799"/>
          <a:stretch>
            <a:fillRect/>
          </a:stretch>
        </p:blipFill>
        <p:spPr>
          <a:xfrm>
            <a:off x="694944" y="5106924"/>
            <a:ext cx="133502" cy="123444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905256" y="5099609"/>
            <a:ext cx="155905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适合教学、演示与快速原型</a:t>
            </a:r>
            <a:endParaRPr lang="en-US" sz="900" dirty="0"/>
          </a:p>
        </p:txBody>
      </p:sp>
      <p:sp>
        <p:nvSpPr>
          <p:cNvPr id="72" name="Shape 58"/>
          <p:cNvSpPr/>
          <p:nvPr/>
        </p:nvSpPr>
        <p:spPr>
          <a:xfrm>
            <a:off x="6172200" y="3314700"/>
            <a:ext cx="5562295" cy="2171700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38100">
            <a:solidFill>
              <a:srgbClr val="8B5CF6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3" name="Shape 59"/>
          <p:cNvSpPr/>
          <p:nvPr/>
        </p:nvSpPr>
        <p:spPr>
          <a:xfrm>
            <a:off x="6334049" y="350946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5F3FF"/>
          </a:solidFill>
        </p:spPr>
      </p:sp>
      <p:pic>
        <p:nvPicPr>
          <p:cNvPr id="74" name="Image 12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433718" y="3609137"/>
            <a:ext cx="181051" cy="181051"/>
          </a:xfrm>
          <a:prstGeom prst="rect">
            <a:avLst/>
          </a:prstGeom>
        </p:spPr>
      </p:pic>
      <p:sp>
        <p:nvSpPr>
          <p:cNvPr id="75" name="Text 60"/>
          <p:cNvSpPr txBox="1"/>
          <p:nvPr/>
        </p:nvSpPr>
        <p:spPr>
          <a:xfrm>
            <a:off x="6829654" y="3504895"/>
            <a:ext cx="83667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辅助工具</a:t>
            </a:r>
            <a:endParaRPr lang="en-US" sz="1300" dirty="0"/>
          </a:p>
        </p:txBody>
      </p:sp>
      <p:sp>
        <p:nvSpPr>
          <p:cNvPr id="76" name="Text 61"/>
          <p:cNvSpPr txBox="1"/>
          <p:nvPr/>
        </p:nvSpPr>
        <p:spPr>
          <a:xfrm>
            <a:off x="6829654" y="3739896"/>
            <a:ext cx="13112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特定任务增强与可视化</a:t>
            </a:r>
            <a:endParaRPr lang="en-US" sz="900" dirty="0"/>
          </a:p>
        </p:txBody>
      </p:sp>
      <p:sp>
        <p:nvSpPr>
          <p:cNvPr id="77" name="Shape 62"/>
          <p:cNvSpPr/>
          <p:nvPr/>
        </p:nvSpPr>
        <p:spPr>
          <a:xfrm>
            <a:off x="6334049" y="3980383"/>
            <a:ext cx="942746" cy="237744"/>
          </a:xfrm>
          <a:prstGeom prst="roundRect">
            <a:avLst>
              <a:gd name="adj" fmla="val 61538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8" name="Text 63"/>
          <p:cNvSpPr txBox="1"/>
          <p:nvPr/>
        </p:nvSpPr>
        <p:spPr>
          <a:xfrm>
            <a:off x="6434633" y="4031590"/>
            <a:ext cx="8193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Augment Code</a:t>
            </a:r>
            <a:endParaRPr lang="en-US" sz="900" dirty="0"/>
          </a:p>
        </p:txBody>
      </p:sp>
      <p:sp>
        <p:nvSpPr>
          <p:cNvPr id="79" name="Shape 64"/>
          <p:cNvSpPr/>
          <p:nvPr/>
        </p:nvSpPr>
        <p:spPr>
          <a:xfrm>
            <a:off x="7329830" y="3980383"/>
            <a:ext cx="504749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65"/>
          <p:cNvSpPr txBox="1"/>
          <p:nvPr/>
        </p:nvSpPr>
        <p:spPr>
          <a:xfrm>
            <a:off x="7431329" y="4031590"/>
            <a:ext cx="3913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Zread</a:t>
            </a:r>
            <a:endParaRPr lang="en-US" sz="900" dirty="0"/>
          </a:p>
        </p:txBody>
      </p:sp>
      <p:sp>
        <p:nvSpPr>
          <p:cNvPr id="81" name="Shape 66"/>
          <p:cNvSpPr/>
          <p:nvPr/>
        </p:nvSpPr>
        <p:spPr>
          <a:xfrm>
            <a:off x="7889443" y="3980383"/>
            <a:ext cx="857707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67"/>
          <p:cNvSpPr txBox="1"/>
          <p:nvPr/>
        </p:nvSpPr>
        <p:spPr>
          <a:xfrm>
            <a:off x="7990027" y="4031590"/>
            <a:ext cx="7434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NotebookLM</a:t>
            </a:r>
            <a:endParaRPr lang="en-US" sz="900" dirty="0"/>
          </a:p>
        </p:txBody>
      </p:sp>
      <p:sp>
        <p:nvSpPr>
          <p:cNvPr id="83" name="Shape 68"/>
          <p:cNvSpPr/>
          <p:nvPr/>
        </p:nvSpPr>
        <p:spPr>
          <a:xfrm>
            <a:off x="8806586" y="3980383"/>
            <a:ext cx="981151" cy="237744"/>
          </a:xfrm>
          <a:prstGeom prst="roundRect">
            <a:avLst>
              <a:gd name="adj" fmla="val 6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69"/>
          <p:cNvSpPr txBox="1"/>
          <p:nvPr/>
        </p:nvSpPr>
        <p:spPr>
          <a:xfrm>
            <a:off x="8907170" y="4031590"/>
            <a:ext cx="8668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Mermaid Chart</a:t>
            </a:r>
            <a:endParaRPr lang="en-US" sz="900" dirty="0"/>
          </a:p>
        </p:txBody>
      </p:sp>
      <p:sp>
        <p:nvSpPr>
          <p:cNvPr id="85" name="Shape 70"/>
          <p:cNvSpPr/>
          <p:nvPr/>
        </p:nvSpPr>
        <p:spPr>
          <a:xfrm>
            <a:off x="6334049" y="4636008"/>
            <a:ext cx="5238598" cy="694944"/>
          </a:xfrm>
          <a:prstGeom prst="roundRect">
            <a:avLst>
              <a:gd name="adj" fmla="val 10815"/>
            </a:avLst>
          </a:prstGeom>
          <a:solidFill>
            <a:srgbClr val="F8FAFC"/>
          </a:solidFill>
        </p:spPr>
      </p:sp>
      <p:pic>
        <p:nvPicPr>
          <p:cNvPr id="86" name="Image 13" descr="preencoded.png"/>
          <p:cNvPicPr>
            <a:picLocks noChangeAspect="1"/>
          </p:cNvPicPr>
          <p:nvPr/>
        </p:nvPicPr>
        <p:blipFill>
          <a:blip r:embed="rId8"/>
          <a:srcRect l="-11799" r="-11799"/>
          <a:stretch>
            <a:fillRect/>
          </a:stretch>
        </p:blipFill>
        <p:spPr>
          <a:xfrm>
            <a:off x="6409944" y="4729277"/>
            <a:ext cx="133502" cy="123444"/>
          </a:xfrm>
          <a:prstGeom prst="rect">
            <a:avLst/>
          </a:prstGeom>
        </p:spPr>
      </p:pic>
      <p:sp>
        <p:nvSpPr>
          <p:cNvPr id="87" name="Text 71"/>
          <p:cNvSpPr txBox="1"/>
          <p:nvPr/>
        </p:nvSpPr>
        <p:spPr>
          <a:xfrm>
            <a:off x="6620256" y="4721962"/>
            <a:ext cx="94914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上下文引擎增强</a:t>
            </a:r>
            <a:endParaRPr lang="en-US" sz="900" dirty="0"/>
          </a:p>
        </p:txBody>
      </p:sp>
      <p:pic>
        <p:nvPicPr>
          <p:cNvPr id="88" name="Image 14" descr="preencoded.png"/>
          <p:cNvPicPr>
            <a:picLocks noChangeAspect="1"/>
          </p:cNvPicPr>
          <p:nvPr/>
        </p:nvPicPr>
        <p:blipFill>
          <a:blip r:embed="rId8"/>
          <a:srcRect l="-11799" r="-11799"/>
          <a:stretch>
            <a:fillRect/>
          </a:stretch>
        </p:blipFill>
        <p:spPr>
          <a:xfrm>
            <a:off x="6409944" y="4918558"/>
            <a:ext cx="133502" cy="123444"/>
          </a:xfrm>
          <a:prstGeom prst="rect">
            <a:avLst/>
          </a:prstGeom>
        </p:spPr>
      </p:pic>
      <p:sp>
        <p:nvSpPr>
          <p:cNvPr id="89" name="Text 72"/>
          <p:cNvSpPr txBox="1"/>
          <p:nvPr/>
        </p:nvSpPr>
        <p:spPr>
          <a:xfrm>
            <a:off x="6620256" y="4910328"/>
            <a:ext cx="13112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文档解读与架构可视化</a:t>
            </a:r>
            <a:endParaRPr lang="en-US" sz="900" dirty="0"/>
          </a:p>
        </p:txBody>
      </p:sp>
      <p:pic>
        <p:nvPicPr>
          <p:cNvPr id="90" name="Image 15" descr="preencoded.png"/>
          <p:cNvPicPr>
            <a:picLocks noChangeAspect="1"/>
          </p:cNvPicPr>
          <p:nvPr/>
        </p:nvPicPr>
        <p:blipFill>
          <a:blip r:embed="rId8"/>
          <a:srcRect l="-11799" r="-11799"/>
          <a:stretch>
            <a:fillRect/>
          </a:stretch>
        </p:blipFill>
        <p:spPr>
          <a:xfrm>
            <a:off x="6409944" y="5106924"/>
            <a:ext cx="133502" cy="123444"/>
          </a:xfrm>
          <a:prstGeom prst="rect">
            <a:avLst/>
          </a:prstGeom>
        </p:spPr>
      </p:pic>
      <p:sp>
        <p:nvSpPr>
          <p:cNvPr id="91" name="Text 73"/>
          <p:cNvSpPr txBox="1"/>
          <p:nvPr/>
        </p:nvSpPr>
        <p:spPr>
          <a:xfrm>
            <a:off x="6620256" y="5099609"/>
            <a:ext cx="107259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特定场景效率提升</a:t>
            </a:r>
            <a:endParaRPr lang="en-US" sz="900" dirty="0"/>
          </a:p>
        </p:txBody>
      </p:sp>
      <p:sp>
        <p:nvSpPr>
          <p:cNvPr id="92" name="Shape 74"/>
          <p:cNvSpPr/>
          <p:nvPr/>
        </p:nvSpPr>
        <p:spPr>
          <a:xfrm>
            <a:off x="457200" y="5639105"/>
            <a:ext cx="11277295" cy="533095"/>
          </a:xfrm>
          <a:prstGeom prst="roundRect">
            <a:avLst>
              <a:gd name="adj" fmla="val 24504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93" name="Image 16" descr="preencoded.png"/>
          <p:cNvPicPr>
            <a:picLocks noChangeAspect="1"/>
          </p:cNvPicPr>
          <p:nvPr/>
        </p:nvPicPr>
        <p:blipFill>
          <a:blip r:embed="rId9"/>
          <a:srcRect l="-1773" r="-1773"/>
          <a:stretch>
            <a:fillRect/>
          </a:stretch>
        </p:blipFill>
        <p:spPr>
          <a:xfrm>
            <a:off x="619049" y="5820156"/>
            <a:ext cx="133502" cy="171907"/>
          </a:xfrm>
          <a:prstGeom prst="rect">
            <a:avLst/>
          </a:prstGeom>
        </p:spPr>
      </p:pic>
      <p:sp>
        <p:nvSpPr>
          <p:cNvPr id="94" name="Text 75"/>
          <p:cNvSpPr txBox="1"/>
          <p:nvPr/>
        </p:nvSpPr>
        <p:spPr>
          <a:xfrm>
            <a:off x="866851" y="5743346"/>
            <a:ext cx="18342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核心建议：组合优于单一选择</a:t>
            </a:r>
            <a:endParaRPr lang="en-US" sz="1000" dirty="0"/>
          </a:p>
        </p:txBody>
      </p:sp>
      <p:sp>
        <p:nvSpPr>
          <p:cNvPr id="95" name="Text 76"/>
          <p:cNvSpPr txBox="1"/>
          <p:nvPr/>
        </p:nvSpPr>
        <p:spPr>
          <a:xfrm>
            <a:off x="866851" y="5943600"/>
            <a:ext cx="4000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2410C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科研场景推荐组合：AI原生IDE (用于构建项目) + CLI工具 (用于复杂算法推理)</a:t>
            </a:r>
            <a:endParaRPr lang="en-US" sz="900" dirty="0"/>
          </a:p>
        </p:txBody>
      </p:sp>
      <p:sp>
        <p:nvSpPr>
          <p:cNvPr id="96" name="Shape 77"/>
          <p:cNvSpPr/>
          <p:nvPr/>
        </p:nvSpPr>
        <p:spPr>
          <a:xfrm>
            <a:off x="10220249" y="5781751"/>
            <a:ext cx="1362456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7" name="Image 17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306202" y="5843930"/>
            <a:ext cx="114300" cy="114300"/>
          </a:xfrm>
          <a:prstGeom prst="rect">
            <a:avLst/>
          </a:prstGeom>
        </p:spPr>
      </p:pic>
      <p:sp>
        <p:nvSpPr>
          <p:cNvPr id="98" name="Text 78"/>
          <p:cNvSpPr txBox="1"/>
          <p:nvPr/>
        </p:nvSpPr>
        <p:spPr>
          <a:xfrm>
            <a:off x="10457993" y="5838444"/>
            <a:ext cx="11247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2025年最新数据整理</a:t>
            </a:r>
            <a:endParaRPr lang="en-US" sz="900" dirty="0"/>
          </a:p>
        </p:txBody>
      </p:sp>
      <p:sp>
        <p:nvSpPr>
          <p:cNvPr id="99" name="Shape 7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0" name="Shape 80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1" name="Text 81"/>
          <p:cNvSpPr txBox="1"/>
          <p:nvPr/>
        </p:nvSpPr>
        <p:spPr>
          <a:xfrm>
            <a:off x="609905" y="6556248"/>
            <a:ext cx="15361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AI驱动科研编程实战指南</a:t>
            </a:r>
            <a:endParaRPr lang="en-US" sz="1000" dirty="0"/>
          </a:p>
        </p:txBody>
      </p:sp>
      <p:sp>
        <p:nvSpPr>
          <p:cNvPr id="102" name="Text 82"/>
          <p:cNvSpPr txBox="1"/>
          <p:nvPr/>
        </p:nvSpPr>
        <p:spPr>
          <a:xfrm>
            <a:off x="11427257" y="6556248"/>
            <a:ext cx="2596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2920594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AI原生IDE对比（上）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27425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941064" y="295351"/>
            <a:ext cx="29818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Cursor / Windsurf / Antigravity 核心能力解析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1143000"/>
            <a:ext cx="3504895" cy="4600346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1929" y="1944929"/>
            <a:ext cx="3124505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" name="Shape 8"/>
          <p:cNvSpPr/>
          <p:nvPr/>
        </p:nvSpPr>
        <p:spPr>
          <a:xfrm>
            <a:off x="801929" y="135056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t="-80" b="-80"/>
          <a:stretch>
            <a:fillRect/>
          </a:stretch>
        </p:blipFill>
        <p:spPr>
          <a:xfrm>
            <a:off x="959206" y="1464869"/>
            <a:ext cx="142646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80744" y="1345082"/>
            <a:ext cx="73426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Cursor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380744" y="1602029"/>
            <a:ext cx="1248156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14" name="Text 11"/>
          <p:cNvSpPr txBox="1"/>
          <p:nvPr/>
        </p:nvSpPr>
        <p:spPr>
          <a:xfrm>
            <a:off x="1438351" y="1640434"/>
            <a:ext cx="122529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$20 Pro / $40 Business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01929" y="2106778"/>
            <a:ext cx="3124505" cy="342900"/>
          </a:xfrm>
          <a:prstGeom prst="roundRect">
            <a:avLst>
              <a:gd name="adj" fmla="val 44444"/>
            </a:avLst>
          </a:prstGeom>
          <a:solidFill>
            <a:srgbClr val="F8FAFC"/>
          </a:solidFill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77824" y="2212848"/>
            <a:ext cx="123444" cy="1234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78078" y="2201875"/>
            <a:ext cx="147309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3.5 Sonnet / GPT-4o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1929" y="2594153"/>
            <a:ext cx="133502" cy="1335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11326" y="2583180"/>
            <a:ext cx="8211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Agent模式：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730959" y="2583180"/>
            <a:ext cx="20409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整项目级自主开发，支持深度重构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1929" y="2836469"/>
            <a:ext cx="133502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11326" y="2825496"/>
            <a:ext cx="8028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Composer：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709014" y="2825496"/>
            <a:ext cx="20409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多文件编辑与联动修改，效率倍增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1929" y="3078785"/>
            <a:ext cx="133502" cy="13350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11326" y="3067812"/>
            <a:ext cx="86959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@引用系统：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779422" y="3067812"/>
            <a:ext cx="19165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精准控制上下文，减少幻觉风险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1929" y="3321101"/>
            <a:ext cx="133502" cy="13350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011326" y="3310128"/>
            <a:ext cx="8979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.cursorrules：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805940" y="3310128"/>
            <a:ext cx="19165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项目级规范定义，统一团队标准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801929" y="4759452"/>
            <a:ext cx="3124505" cy="790956"/>
          </a:xfrm>
          <a:prstGeom prst="roundRect">
            <a:avLst>
              <a:gd name="adj" fmla="val 11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902513" y="4879238"/>
            <a:ext cx="5285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科研价值</a:t>
            </a:r>
            <a:endParaRPr lang="en-US" sz="8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902513" y="5066690"/>
            <a:ext cx="142646" cy="133502"/>
          </a:xfrm>
          <a:prstGeom prst="rect">
            <a:avLst/>
          </a:prstGeom>
        </p:spPr>
      </p:pic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1046074" y="5066690"/>
            <a:ext cx="142646" cy="133502"/>
          </a:xfrm>
          <a:prstGeom prst="rect">
            <a:avLst/>
          </a:prstGeom>
        </p:spPr>
      </p:pic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1188720" y="5066690"/>
            <a:ext cx="142646" cy="133502"/>
          </a:xfrm>
          <a:prstGeom prst="rect">
            <a:avLst/>
          </a:prstGeom>
        </p:spPr>
      </p:pic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1331366" y="5066690"/>
            <a:ext cx="142646" cy="133502"/>
          </a:xfrm>
          <a:prstGeom prst="rect">
            <a:avLst/>
          </a:prstGeom>
        </p:spPr>
      </p:pic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1474013" y="5066690"/>
            <a:ext cx="142646" cy="133502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902513" y="5294376"/>
            <a:ext cx="17721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C4A6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复杂算法 • 大规模数据 • 论文代码</a:t>
            </a:r>
            <a:endParaRPr lang="en-US" sz="900" dirty="0"/>
          </a:p>
        </p:txBody>
      </p:sp>
      <p:sp>
        <p:nvSpPr>
          <p:cNvPr id="38" name="Shape 25"/>
          <p:cNvSpPr/>
          <p:nvPr/>
        </p:nvSpPr>
        <p:spPr>
          <a:xfrm>
            <a:off x="4343400" y="1143000"/>
            <a:ext cx="3504895" cy="4600346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9" name="Shape 26"/>
          <p:cNvSpPr/>
          <p:nvPr/>
        </p:nvSpPr>
        <p:spPr>
          <a:xfrm>
            <a:off x="4535424" y="1944929"/>
            <a:ext cx="3124505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Shape 27"/>
          <p:cNvSpPr/>
          <p:nvPr/>
        </p:nvSpPr>
        <p:spPr>
          <a:xfrm>
            <a:off x="4535424" y="135056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</p:spPr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49724" y="1464869"/>
            <a:ext cx="228600" cy="22860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5115154" y="1345082"/>
            <a:ext cx="92445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Windsurf</a:t>
            </a:r>
            <a:endParaRPr lang="en-US" sz="1500" dirty="0"/>
          </a:p>
        </p:txBody>
      </p:sp>
      <p:sp>
        <p:nvSpPr>
          <p:cNvPr id="43" name="Shape 29"/>
          <p:cNvSpPr/>
          <p:nvPr/>
        </p:nvSpPr>
        <p:spPr>
          <a:xfrm>
            <a:off x="5115154" y="1602029"/>
            <a:ext cx="1304849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44" name="Text 30"/>
          <p:cNvSpPr txBox="1"/>
          <p:nvPr/>
        </p:nvSpPr>
        <p:spPr>
          <a:xfrm>
            <a:off x="5171846" y="1640434"/>
            <a:ext cx="12829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$15/月 (1000提示积分)</a:t>
            </a:r>
            <a:endParaRPr lang="en-US" sz="900" dirty="0"/>
          </a:p>
        </p:txBody>
      </p:sp>
      <p:sp>
        <p:nvSpPr>
          <p:cNvPr id="45" name="Shape 31"/>
          <p:cNvSpPr/>
          <p:nvPr/>
        </p:nvSpPr>
        <p:spPr>
          <a:xfrm>
            <a:off x="4535424" y="2106778"/>
            <a:ext cx="3124505" cy="342900"/>
          </a:xfrm>
          <a:prstGeom prst="roundRect">
            <a:avLst>
              <a:gd name="adj" fmla="val 44444"/>
            </a:avLst>
          </a:prstGeom>
          <a:solidFill>
            <a:srgbClr val="F8FAFC"/>
          </a:solidFill>
        </p:spPr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12234" y="2212848"/>
            <a:ext cx="123444" cy="123444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4811573" y="2201875"/>
            <a:ext cx="15489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Cascade Flow / Claude / GPT</a:t>
            </a:r>
            <a:endParaRPr lang="en-US" sz="9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35424" y="2594153"/>
            <a:ext cx="133502" cy="133502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4744822" y="2583180"/>
            <a:ext cx="10021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Cascade Flow：</a:t>
            </a:r>
            <a:endParaRPr lang="en-US" sz="1000" dirty="0"/>
          </a:p>
        </p:txBody>
      </p:sp>
      <p:sp>
        <p:nvSpPr>
          <p:cNvPr id="50" name="Text 34"/>
          <p:cNvSpPr txBox="1"/>
          <p:nvPr/>
        </p:nvSpPr>
        <p:spPr>
          <a:xfrm>
            <a:off x="5640934" y="2583180"/>
            <a:ext cx="15261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领先的迭代式开发工作流</a:t>
            </a:r>
            <a:endParaRPr lang="en-US" sz="1000" dirty="0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35424" y="2836469"/>
            <a:ext cx="133502" cy="133502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4744822" y="2825496"/>
            <a:ext cx="8787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多模型支持：</a:t>
            </a:r>
            <a:endParaRPr lang="en-US" sz="1000" dirty="0"/>
          </a:p>
        </p:txBody>
      </p:sp>
      <p:sp>
        <p:nvSpPr>
          <p:cNvPr id="53" name="Text 36"/>
          <p:cNvSpPr txBox="1"/>
          <p:nvPr/>
        </p:nvSpPr>
        <p:spPr>
          <a:xfrm>
            <a:off x="5522062" y="2825496"/>
            <a:ext cx="20500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Cascade引擎深度集成Claude与GPT</a:t>
            </a:r>
            <a:endParaRPr lang="en-US" sz="100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35424" y="3078785"/>
            <a:ext cx="133502" cy="133502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4744822" y="3067812"/>
            <a:ext cx="8787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多文件感知：</a:t>
            </a:r>
            <a:endParaRPr lang="en-US" sz="1000" dirty="0"/>
          </a:p>
        </p:txBody>
      </p:sp>
      <p:sp>
        <p:nvSpPr>
          <p:cNvPr id="56" name="Text 38"/>
          <p:cNvSpPr txBox="1"/>
          <p:nvPr/>
        </p:nvSpPr>
        <p:spPr>
          <a:xfrm>
            <a:off x="5522062" y="3067812"/>
            <a:ext cx="17830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出色的上下文理解，减少误判</a:t>
            </a:r>
            <a:endParaRPr lang="en-US" sz="1000" dirty="0"/>
          </a:p>
        </p:txBody>
      </p:sp>
      <p:pic>
        <p:nvPicPr>
          <p:cNvPr id="57" name="Image 1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35424" y="3321101"/>
            <a:ext cx="133502" cy="133502"/>
          </a:xfrm>
          <a:prstGeom prst="rect">
            <a:avLst/>
          </a:prstGeom>
        </p:spPr>
      </p:pic>
      <p:sp>
        <p:nvSpPr>
          <p:cNvPr id="58" name="Text 39"/>
          <p:cNvSpPr txBox="1"/>
          <p:nvPr/>
        </p:nvSpPr>
        <p:spPr>
          <a:xfrm>
            <a:off x="4744822" y="3310128"/>
            <a:ext cx="7452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性价比高：</a:t>
            </a:r>
            <a:endParaRPr lang="en-US" sz="1000" dirty="0"/>
          </a:p>
        </p:txBody>
      </p:sp>
      <p:sp>
        <p:nvSpPr>
          <p:cNvPr id="59" name="Text 40"/>
          <p:cNvSpPr txBox="1"/>
          <p:nvPr/>
        </p:nvSpPr>
        <p:spPr>
          <a:xfrm>
            <a:off x="5392217" y="3310128"/>
            <a:ext cx="21168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比Cursor便宜25%，适合预算敏感型</a:t>
            </a:r>
            <a:endParaRPr lang="en-US" sz="1000" dirty="0"/>
          </a:p>
        </p:txBody>
      </p:sp>
      <p:sp>
        <p:nvSpPr>
          <p:cNvPr id="60" name="Shape 41"/>
          <p:cNvSpPr/>
          <p:nvPr/>
        </p:nvSpPr>
        <p:spPr>
          <a:xfrm>
            <a:off x="4535424" y="4759452"/>
            <a:ext cx="3124505" cy="790956"/>
          </a:xfrm>
          <a:prstGeom prst="roundRect">
            <a:avLst>
              <a:gd name="adj" fmla="val 11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1" name="Text 42"/>
          <p:cNvSpPr txBox="1"/>
          <p:nvPr/>
        </p:nvSpPr>
        <p:spPr>
          <a:xfrm>
            <a:off x="4636922" y="4879238"/>
            <a:ext cx="5285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科研价值</a:t>
            </a:r>
            <a:endParaRPr lang="en-US" sz="800" dirty="0"/>
          </a:p>
        </p:txBody>
      </p:sp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4636922" y="5066690"/>
            <a:ext cx="142646" cy="133502"/>
          </a:xfrm>
          <a:prstGeom prst="rect">
            <a:avLst/>
          </a:prstGeom>
        </p:spPr>
      </p:pic>
      <p:pic>
        <p:nvPicPr>
          <p:cNvPr id="63" name="Image 18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4779569" y="5066690"/>
            <a:ext cx="142646" cy="133502"/>
          </a:xfrm>
          <a:prstGeom prst="rect">
            <a:avLst/>
          </a:prstGeom>
        </p:spPr>
      </p:pic>
      <p:pic>
        <p:nvPicPr>
          <p:cNvPr id="64" name="Image 19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4922215" y="5066690"/>
            <a:ext cx="142646" cy="133502"/>
          </a:xfrm>
          <a:prstGeom prst="rect">
            <a:avLst/>
          </a:prstGeom>
        </p:spPr>
      </p:pic>
      <p:pic>
        <p:nvPicPr>
          <p:cNvPr id="65" name="Image 20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5064862" y="5066690"/>
            <a:ext cx="142646" cy="133502"/>
          </a:xfrm>
          <a:prstGeom prst="rect">
            <a:avLst/>
          </a:prstGeom>
        </p:spPr>
      </p:pic>
      <p:pic>
        <p:nvPicPr>
          <p:cNvPr id="66" name="Image 21" descr="preencoded.png"/>
          <p:cNvPicPr>
            <a:picLocks noChangeAspect="1"/>
          </p:cNvPicPr>
          <p:nvPr/>
        </p:nvPicPr>
        <p:blipFill>
          <a:blip r:embed="rId7"/>
          <a:srcRect t="-2644" b="-2644"/>
          <a:stretch>
            <a:fillRect/>
          </a:stretch>
        </p:blipFill>
        <p:spPr>
          <a:xfrm>
            <a:off x="5208422" y="5066690"/>
            <a:ext cx="142646" cy="133502"/>
          </a:xfrm>
          <a:prstGeom prst="rect">
            <a:avLst/>
          </a:prstGeom>
        </p:spPr>
      </p:pic>
      <p:sp>
        <p:nvSpPr>
          <p:cNvPr id="67" name="Text 43"/>
          <p:cNvSpPr txBox="1"/>
          <p:nvPr/>
        </p:nvSpPr>
        <p:spPr>
          <a:xfrm>
            <a:off x="4636922" y="5294376"/>
            <a:ext cx="16578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C4A6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数据脚本 • 快速原型 • 实验迭代</a:t>
            </a:r>
            <a:endParaRPr lang="en-US" sz="900" dirty="0"/>
          </a:p>
        </p:txBody>
      </p:sp>
      <p:sp>
        <p:nvSpPr>
          <p:cNvPr id="68" name="Shape 44"/>
          <p:cNvSpPr/>
          <p:nvPr/>
        </p:nvSpPr>
        <p:spPr>
          <a:xfrm>
            <a:off x="8076895" y="1143000"/>
            <a:ext cx="3504895" cy="4600346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9" name="Shape 45"/>
          <p:cNvSpPr/>
          <p:nvPr/>
        </p:nvSpPr>
        <p:spPr>
          <a:xfrm>
            <a:off x="8269834" y="1944929"/>
            <a:ext cx="3124505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0" name="Shape 46"/>
          <p:cNvSpPr/>
          <p:nvPr/>
        </p:nvSpPr>
        <p:spPr>
          <a:xfrm>
            <a:off x="8269834" y="135056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</p:spPr>
      </p:sp>
      <p:pic>
        <p:nvPicPr>
          <p:cNvPr id="71" name="Image 22" descr="preencoded.png"/>
          <p:cNvPicPr>
            <a:picLocks noChangeAspect="1"/>
          </p:cNvPicPr>
          <p:nvPr/>
        </p:nvPicPr>
        <p:blipFill>
          <a:blip r:embed="rId8"/>
          <a:srcRect l="-361" r="-361"/>
          <a:stretch>
            <a:fillRect/>
          </a:stretch>
        </p:blipFill>
        <p:spPr>
          <a:xfrm>
            <a:off x="8388706" y="1464869"/>
            <a:ext cx="219456" cy="228600"/>
          </a:xfrm>
          <a:prstGeom prst="rect">
            <a:avLst/>
          </a:prstGeom>
        </p:spPr>
      </p:pic>
      <p:sp>
        <p:nvSpPr>
          <p:cNvPr id="72" name="Text 47"/>
          <p:cNvSpPr txBox="1"/>
          <p:nvPr/>
        </p:nvSpPr>
        <p:spPr>
          <a:xfrm>
            <a:off x="8848649" y="1345082"/>
            <a:ext cx="108630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Antigravity</a:t>
            </a:r>
            <a:endParaRPr lang="en-US" sz="1500" dirty="0"/>
          </a:p>
        </p:txBody>
      </p:sp>
      <p:sp>
        <p:nvSpPr>
          <p:cNvPr id="73" name="Shape 48"/>
          <p:cNvSpPr/>
          <p:nvPr/>
        </p:nvSpPr>
        <p:spPr>
          <a:xfrm>
            <a:off x="8848649" y="1602029"/>
            <a:ext cx="1209751" cy="2286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</p:spPr>
      </p:sp>
      <p:sp>
        <p:nvSpPr>
          <p:cNvPr id="74" name="Text 49"/>
          <p:cNvSpPr txBox="1"/>
          <p:nvPr/>
        </p:nvSpPr>
        <p:spPr>
          <a:xfrm>
            <a:off x="8905342" y="1640434"/>
            <a:ext cx="118689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完全免费 (2025新政)</a:t>
            </a:r>
            <a:endParaRPr lang="en-US" sz="900" dirty="0"/>
          </a:p>
        </p:txBody>
      </p:sp>
      <p:sp>
        <p:nvSpPr>
          <p:cNvPr id="75" name="Shape 50"/>
          <p:cNvSpPr/>
          <p:nvPr/>
        </p:nvSpPr>
        <p:spPr>
          <a:xfrm>
            <a:off x="8269834" y="2106778"/>
            <a:ext cx="3124505" cy="342900"/>
          </a:xfrm>
          <a:prstGeom prst="roundRect">
            <a:avLst>
              <a:gd name="adj" fmla="val 44444"/>
            </a:avLst>
          </a:prstGeom>
          <a:solidFill>
            <a:srgbClr val="F8FAFC"/>
          </a:solidFill>
        </p:spPr>
      </p:sp>
      <p:pic>
        <p:nvPicPr>
          <p:cNvPr id="76" name="Image 2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45729" y="2212848"/>
            <a:ext cx="123444" cy="123444"/>
          </a:xfrm>
          <a:prstGeom prst="rect">
            <a:avLst/>
          </a:prstGeom>
        </p:spPr>
      </p:pic>
      <p:sp>
        <p:nvSpPr>
          <p:cNvPr id="77" name="Text 51"/>
          <p:cNvSpPr txBox="1"/>
          <p:nvPr/>
        </p:nvSpPr>
        <p:spPr>
          <a:xfrm>
            <a:off x="8545982" y="2201875"/>
            <a:ext cx="178765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Opus 4.5 + Gemini 3.0 Pro</a:t>
            </a:r>
            <a:endParaRPr lang="en-US" sz="900" dirty="0"/>
          </a:p>
        </p:txBody>
      </p:sp>
      <p:pic>
        <p:nvPicPr>
          <p:cNvPr id="78" name="Image 24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69834" y="2594153"/>
            <a:ext cx="133502" cy="133502"/>
          </a:xfrm>
          <a:prstGeom prst="rect">
            <a:avLst/>
          </a:prstGeom>
        </p:spPr>
      </p:pic>
      <p:sp>
        <p:nvSpPr>
          <p:cNvPr id="79" name="Text 52"/>
          <p:cNvSpPr txBox="1"/>
          <p:nvPr/>
        </p:nvSpPr>
        <p:spPr>
          <a:xfrm>
            <a:off x="8479231" y="2583180"/>
            <a:ext cx="8787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双模型协同：</a:t>
            </a:r>
            <a:endParaRPr lang="en-US" sz="1000" dirty="0"/>
          </a:p>
        </p:txBody>
      </p:sp>
      <p:sp>
        <p:nvSpPr>
          <p:cNvPr id="80" name="Text 53"/>
          <p:cNvSpPr txBox="1"/>
          <p:nvPr/>
        </p:nvSpPr>
        <p:spPr>
          <a:xfrm>
            <a:off x="9255557" y="2583180"/>
            <a:ext cx="20025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同时调用Claude Opus与Gemini 3.0</a:t>
            </a:r>
            <a:endParaRPr lang="en-US" sz="1000" dirty="0"/>
          </a:p>
        </p:txBody>
      </p:sp>
      <p:pic>
        <p:nvPicPr>
          <p:cNvPr id="81" name="Image 25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69834" y="2836469"/>
            <a:ext cx="133502" cy="133502"/>
          </a:xfrm>
          <a:prstGeom prst="rect">
            <a:avLst/>
          </a:prstGeom>
        </p:spPr>
      </p:pic>
      <p:sp>
        <p:nvSpPr>
          <p:cNvPr id="82" name="Text 54"/>
          <p:cNvSpPr txBox="1"/>
          <p:nvPr/>
        </p:nvSpPr>
        <p:spPr>
          <a:xfrm>
            <a:off x="8479231" y="2825496"/>
            <a:ext cx="10122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多智能体异步：</a:t>
            </a:r>
            <a:endParaRPr lang="en-US" sz="1000" dirty="0"/>
          </a:p>
        </p:txBody>
      </p:sp>
      <p:sp>
        <p:nvSpPr>
          <p:cNvPr id="83" name="Text 55"/>
          <p:cNvSpPr txBox="1"/>
          <p:nvPr/>
        </p:nvSpPr>
        <p:spPr>
          <a:xfrm>
            <a:off x="9385402" y="2825496"/>
            <a:ext cx="17830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任务并行处理，提升开发效率</a:t>
            </a:r>
            <a:endParaRPr lang="en-US" sz="1000" dirty="0"/>
          </a:p>
        </p:txBody>
      </p:sp>
      <p:pic>
        <p:nvPicPr>
          <p:cNvPr id="84" name="Image 26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69834" y="3078785"/>
            <a:ext cx="133502" cy="133502"/>
          </a:xfrm>
          <a:prstGeom prst="rect">
            <a:avLst/>
          </a:prstGeom>
        </p:spPr>
      </p:pic>
      <p:sp>
        <p:nvSpPr>
          <p:cNvPr id="85" name="Text 56"/>
          <p:cNvSpPr txBox="1"/>
          <p:nvPr/>
        </p:nvSpPr>
        <p:spPr>
          <a:xfrm>
            <a:off x="8479231" y="3067812"/>
            <a:ext cx="8787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跨平台同步：</a:t>
            </a:r>
            <a:endParaRPr lang="en-US" sz="1000" dirty="0"/>
          </a:p>
        </p:txBody>
      </p:sp>
      <p:sp>
        <p:nvSpPr>
          <p:cNvPr id="86" name="Text 57"/>
          <p:cNvSpPr txBox="1"/>
          <p:nvPr/>
        </p:nvSpPr>
        <p:spPr>
          <a:xfrm>
            <a:off x="9255557" y="3067812"/>
            <a:ext cx="19641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VSCode、终端与浏览器无缝切换</a:t>
            </a:r>
            <a:endParaRPr lang="en-US" sz="1000" dirty="0"/>
          </a:p>
        </p:txBody>
      </p:sp>
      <p:pic>
        <p:nvPicPr>
          <p:cNvPr id="87" name="Image 27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69834" y="3321101"/>
            <a:ext cx="133502" cy="133502"/>
          </a:xfrm>
          <a:prstGeom prst="rect">
            <a:avLst/>
          </a:prstGeom>
        </p:spPr>
      </p:pic>
      <p:sp>
        <p:nvSpPr>
          <p:cNvPr id="88" name="Text 58"/>
          <p:cNvSpPr txBox="1"/>
          <p:nvPr/>
        </p:nvSpPr>
        <p:spPr>
          <a:xfrm>
            <a:off x="8479231" y="3310128"/>
            <a:ext cx="8787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Google生态：</a:t>
            </a:r>
            <a:endParaRPr lang="en-US" sz="1000" dirty="0"/>
          </a:p>
        </p:txBody>
      </p:sp>
      <p:sp>
        <p:nvSpPr>
          <p:cNvPr id="89" name="Text 59"/>
          <p:cNvSpPr txBox="1"/>
          <p:nvPr/>
        </p:nvSpPr>
        <p:spPr>
          <a:xfrm>
            <a:off x="9255557" y="3310128"/>
            <a:ext cx="20409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深度整合Google服务，零成本使用</a:t>
            </a:r>
            <a:endParaRPr lang="en-US" sz="1000" dirty="0"/>
          </a:p>
        </p:txBody>
      </p:sp>
      <p:sp>
        <p:nvSpPr>
          <p:cNvPr id="90" name="Shape 60"/>
          <p:cNvSpPr/>
          <p:nvPr/>
        </p:nvSpPr>
        <p:spPr>
          <a:xfrm>
            <a:off x="8269834" y="4759452"/>
            <a:ext cx="3124505" cy="790956"/>
          </a:xfrm>
          <a:prstGeom prst="roundRect">
            <a:avLst>
              <a:gd name="adj" fmla="val 11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1" name="Text 61"/>
          <p:cNvSpPr txBox="1"/>
          <p:nvPr/>
        </p:nvSpPr>
        <p:spPr>
          <a:xfrm>
            <a:off x="8370418" y="4879238"/>
            <a:ext cx="5285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369A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科研价值</a:t>
            </a:r>
            <a:endParaRPr lang="en-US" sz="800" dirty="0"/>
          </a:p>
        </p:txBody>
      </p:sp>
      <p:pic>
        <p:nvPicPr>
          <p:cNvPr id="92" name="Image 28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8370418" y="5066690"/>
            <a:ext cx="142646" cy="133502"/>
          </a:xfrm>
          <a:prstGeom prst="rect">
            <a:avLst/>
          </a:prstGeom>
        </p:spPr>
      </p:pic>
      <p:pic>
        <p:nvPicPr>
          <p:cNvPr id="93" name="Image 29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8513064" y="5066690"/>
            <a:ext cx="142646" cy="133502"/>
          </a:xfrm>
          <a:prstGeom prst="rect">
            <a:avLst/>
          </a:prstGeom>
        </p:spPr>
      </p:pic>
      <p:pic>
        <p:nvPicPr>
          <p:cNvPr id="94" name="Image 30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8655710" y="5066690"/>
            <a:ext cx="142646" cy="133502"/>
          </a:xfrm>
          <a:prstGeom prst="rect">
            <a:avLst/>
          </a:prstGeom>
        </p:spPr>
      </p:pic>
      <p:pic>
        <p:nvPicPr>
          <p:cNvPr id="95" name="Image 31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8799271" y="5066690"/>
            <a:ext cx="142646" cy="133502"/>
          </a:xfrm>
          <a:prstGeom prst="rect">
            <a:avLst/>
          </a:prstGeom>
        </p:spPr>
      </p:pic>
      <p:pic>
        <p:nvPicPr>
          <p:cNvPr id="96" name="Image 32" descr="preencoded.png"/>
          <p:cNvPicPr>
            <a:picLocks noChangeAspect="1"/>
          </p:cNvPicPr>
          <p:nvPr/>
        </p:nvPicPr>
        <p:blipFill>
          <a:blip r:embed="rId4"/>
          <a:srcRect t="-2644" b="-2644"/>
          <a:stretch>
            <a:fillRect/>
          </a:stretch>
        </p:blipFill>
        <p:spPr>
          <a:xfrm>
            <a:off x="8941918" y="5066690"/>
            <a:ext cx="142646" cy="133502"/>
          </a:xfrm>
          <a:prstGeom prst="rect">
            <a:avLst/>
          </a:prstGeom>
        </p:spPr>
      </p:pic>
      <p:sp>
        <p:nvSpPr>
          <p:cNvPr id="97" name="Text 62"/>
          <p:cNvSpPr txBox="1"/>
          <p:nvPr/>
        </p:nvSpPr>
        <p:spPr>
          <a:xfrm>
            <a:off x="8370418" y="5294376"/>
            <a:ext cx="16578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C4A6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学生首选 • 代码重构 • 算法探索</a:t>
            </a:r>
            <a:endParaRPr lang="en-US" sz="900" dirty="0"/>
          </a:p>
        </p:txBody>
      </p:sp>
      <p:sp>
        <p:nvSpPr>
          <p:cNvPr id="98" name="Shape 63"/>
          <p:cNvSpPr/>
          <p:nvPr/>
        </p:nvSpPr>
        <p:spPr>
          <a:xfrm>
            <a:off x="609905" y="6089904"/>
            <a:ext cx="10972800" cy="39044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9" name="Shape 64"/>
          <p:cNvSpPr/>
          <p:nvPr/>
        </p:nvSpPr>
        <p:spPr>
          <a:xfrm>
            <a:off x="609905" y="6089904"/>
            <a:ext cx="10972800" cy="9144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100" name="Image 33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09905" y="6221578"/>
            <a:ext cx="133502" cy="133502"/>
          </a:xfrm>
          <a:prstGeom prst="rect">
            <a:avLst/>
          </a:prstGeom>
        </p:spPr>
      </p:pic>
      <p:sp>
        <p:nvSpPr>
          <p:cNvPr id="101" name="Text 65"/>
          <p:cNvSpPr txBox="1"/>
          <p:nvPr/>
        </p:nvSpPr>
        <p:spPr>
          <a:xfrm>
            <a:off x="819302" y="6210605"/>
            <a:ext cx="72886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2025年最新提示：Cursor推出$40企业版增强数据隐私；Windsurf积分制更灵活；Antigravity目前完全免费但需Google账号权限。</a:t>
            </a:r>
            <a:endParaRPr lang="en-US" sz="1000" dirty="0"/>
          </a:p>
        </p:txBody>
      </p:sp>
      <p:sp>
        <p:nvSpPr>
          <p:cNvPr id="102" name="Shape 6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3" name="Shape 67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04" name="Text 68"/>
          <p:cNvSpPr txBox="1"/>
          <p:nvPr/>
        </p:nvSpPr>
        <p:spPr>
          <a:xfrm>
            <a:off x="609905" y="6558077"/>
            <a:ext cx="157642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AI驱动科研编程实战指南</a:t>
            </a:r>
            <a:endParaRPr lang="en-US" sz="1000" dirty="0"/>
          </a:p>
        </p:txBody>
      </p:sp>
      <p:sp>
        <p:nvSpPr>
          <p:cNvPr id="105" name="Text 69"/>
          <p:cNvSpPr txBox="1"/>
          <p:nvPr/>
        </p:nvSpPr>
        <p:spPr>
          <a:xfrm>
            <a:off x="11422685" y="6558077"/>
            <a:ext cx="26243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000" dirty="0"/>
          </a:p>
        </p:txBody>
      </p:sp>
      <p:sp>
        <p:nvSpPr>
          <p:cNvPr id="106" name="Shape 70"/>
          <p:cNvSpPr/>
          <p:nvPr/>
        </p:nvSpPr>
        <p:spPr>
          <a:xfrm>
            <a:off x="3450031" y="1152144"/>
            <a:ext cx="657454" cy="23774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07" name="Text 71"/>
          <p:cNvSpPr txBox="1"/>
          <p:nvPr/>
        </p:nvSpPr>
        <p:spPr>
          <a:xfrm>
            <a:off x="3564331" y="1209751"/>
            <a:ext cx="50932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行业标杆</a:t>
            </a:r>
            <a:endParaRPr lang="en-US" sz="800" dirty="0"/>
          </a:p>
        </p:txBody>
      </p:sp>
      <p:sp>
        <p:nvSpPr>
          <p:cNvPr id="108" name="Shape 72"/>
          <p:cNvSpPr/>
          <p:nvPr/>
        </p:nvSpPr>
        <p:spPr>
          <a:xfrm>
            <a:off x="7077456" y="1152144"/>
            <a:ext cx="761695" cy="23774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09" name="Text 73"/>
          <p:cNvSpPr txBox="1"/>
          <p:nvPr/>
        </p:nvSpPr>
        <p:spPr>
          <a:xfrm>
            <a:off x="7191756" y="1209751"/>
            <a:ext cx="61356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性价比之选</a:t>
            </a:r>
            <a:endParaRPr lang="en-US" sz="800" dirty="0"/>
          </a:p>
        </p:txBody>
      </p:sp>
      <p:sp>
        <p:nvSpPr>
          <p:cNvPr id="110" name="Shape 74"/>
          <p:cNvSpPr/>
          <p:nvPr/>
        </p:nvSpPr>
        <p:spPr>
          <a:xfrm>
            <a:off x="10597896" y="1152144"/>
            <a:ext cx="981151" cy="23774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11" name="Text 75"/>
          <p:cNvSpPr txBox="1"/>
          <p:nvPr/>
        </p:nvSpPr>
        <p:spPr>
          <a:xfrm>
            <a:off x="10712196" y="1209751"/>
            <a:ext cx="833018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Google免费神器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3502152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2.2b AI原生IDE对比（下）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208069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521708" y="267005"/>
            <a:ext cx="28099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本土化方案 / 规范驱动 / 高端上下文引擎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3638398" cy="5105095"/>
          </a:xfrm>
          <a:prstGeom prst="roundRect">
            <a:avLst>
              <a:gd name="adj" fmla="val 789"/>
            </a:avLst>
          </a:prstGeom>
          <a:solidFill>
            <a:srgbClr val="FFFFFF"/>
          </a:solidFill>
          <a:ln w="50800">
            <a:solidFill>
              <a:srgbClr val="EF4444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9798" y="1150315"/>
            <a:ext cx="552298" cy="209398"/>
          </a:xfrm>
          <a:prstGeom prst="roundRect">
            <a:avLst>
              <a:gd name="adj" fmla="val 79396"/>
            </a:avLst>
          </a:prstGeom>
          <a:solidFill>
            <a:srgbClr val="DCFCE7"/>
          </a:solidFill>
        </p:spPr>
      </p:sp>
      <p:sp>
        <p:nvSpPr>
          <p:cNvPr id="10" name="Text 8"/>
          <p:cNvSpPr txBox="1"/>
          <p:nvPr/>
        </p:nvSpPr>
        <p:spPr>
          <a:xfrm>
            <a:off x="3471062" y="1173175"/>
            <a:ext cx="50932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653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国内免费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9224" y="1764792"/>
            <a:ext cx="3247949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2" name="Shape 10"/>
          <p:cNvSpPr/>
          <p:nvPr/>
        </p:nvSpPr>
        <p:spPr>
          <a:xfrm>
            <a:off x="649224" y="1241755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FEF2F2"/>
          </a:solidFill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rcRect l="-1004" r="-1004"/>
          <a:stretch>
            <a:fillRect/>
          </a:stretch>
        </p:blipFill>
        <p:spPr>
          <a:xfrm>
            <a:off x="715975" y="1336853"/>
            <a:ext cx="267005" cy="20939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71346" y="1211580"/>
            <a:ext cx="77541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Trae 🇨🇳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71346" y="1500530"/>
            <a:ext cx="11247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字节跳动本土化方案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" y="1925726"/>
            <a:ext cx="58704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核心模型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440180" y="1925726"/>
            <a:ext cx="114940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Doubao / Claude 3.7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" y="2147011"/>
            <a:ext cx="339242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限制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440180" y="2127809"/>
            <a:ext cx="1110996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10快速+50慢速/月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9224" y="2481682"/>
            <a:ext cx="3247949" cy="2771546"/>
          </a:xfrm>
          <a:prstGeom prst="roundRect">
            <a:avLst>
              <a:gd name="adj" fmla="val 907"/>
            </a:avLst>
          </a:prstGeom>
          <a:solidFill>
            <a:srgbClr val="F8FAFC"/>
          </a:solidFill>
        </p:spPr>
      </p:sp>
      <p:sp>
        <p:nvSpPr>
          <p:cNvPr id="21" name="Text 18"/>
          <p:cNvSpPr txBox="1"/>
          <p:nvPr/>
        </p:nvSpPr>
        <p:spPr>
          <a:xfrm>
            <a:off x="763524" y="2595982"/>
            <a:ext cx="75712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核心功能亮点</a:t>
            </a:r>
            <a:endParaRPr lang="en-US" sz="8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763524" y="2840126"/>
            <a:ext cx="114300" cy="1051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39089" y="2798064"/>
            <a:ext cx="1559052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完全本土化体验，无需代理</a:t>
            </a:r>
            <a:endParaRPr lang="en-US" sz="9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763524" y="3051353"/>
            <a:ext cx="114300" cy="1051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39089" y="3010205"/>
            <a:ext cx="1568196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实时Web预览，可视化开发</a:t>
            </a:r>
            <a:endParaRPr lang="en-US" sz="9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2"/>
          <a:srcRect l="-12112" r="-12112"/>
          <a:stretch>
            <a:fillRect/>
          </a:stretch>
        </p:blipFill>
        <p:spPr>
          <a:xfrm>
            <a:off x="763524" y="3263494"/>
            <a:ext cx="114300" cy="1051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39089" y="3221431"/>
            <a:ext cx="1663294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智能Bug修复与中文文档生成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49224" y="5370271"/>
            <a:ext cx="3247949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9" name="Text 23"/>
          <p:cNvSpPr txBox="1"/>
          <p:nvPr/>
        </p:nvSpPr>
        <p:spPr>
          <a:xfrm>
            <a:off x="649224" y="5497373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科研价值</a:t>
            </a:r>
            <a:endParaRPr lang="en-US" sz="9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rcRect l="-5467" r="-5467"/>
          <a:stretch>
            <a:fillRect/>
          </a:stretch>
        </p:blipFill>
        <p:spPr>
          <a:xfrm>
            <a:off x="649224" y="5730545"/>
            <a:ext cx="142646" cy="114300"/>
          </a:xfrm>
          <a:prstGeom prst="rect">
            <a:avLst/>
          </a:prstGeom>
        </p:spPr>
      </p:pic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rcRect l="-5467" r="-5467"/>
          <a:stretch>
            <a:fillRect/>
          </a:stretch>
        </p:blipFill>
        <p:spPr>
          <a:xfrm>
            <a:off x="792785" y="5730545"/>
            <a:ext cx="142646" cy="114300"/>
          </a:xfrm>
          <a:prstGeom prst="rect">
            <a:avLst/>
          </a:prstGeom>
        </p:spPr>
      </p:pic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rcRect l="-5467" r="-5467"/>
          <a:stretch>
            <a:fillRect/>
          </a:stretch>
        </p:blipFill>
        <p:spPr>
          <a:xfrm>
            <a:off x="935431" y="5730545"/>
            <a:ext cx="142646" cy="114300"/>
          </a:xfrm>
          <a:prstGeom prst="rect">
            <a:avLst/>
          </a:prstGeom>
        </p:spPr>
      </p:pic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3"/>
          <a:srcRect l="-5467" r="-5467"/>
          <a:stretch>
            <a:fillRect/>
          </a:stretch>
        </p:blipFill>
        <p:spPr>
          <a:xfrm>
            <a:off x="1078078" y="5730545"/>
            <a:ext cx="142646" cy="114300"/>
          </a:xfrm>
          <a:prstGeom prst="rect">
            <a:avLst/>
          </a:prstGeom>
        </p:spPr>
      </p:pic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rcRect l="-5467" r="-5467"/>
          <a:stretch>
            <a:fillRect/>
          </a:stretch>
        </p:blipFill>
        <p:spPr>
          <a:xfrm>
            <a:off x="1220724" y="5730545"/>
            <a:ext cx="142646" cy="11430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3439973" y="5461711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最佳适用</a:t>
            </a:r>
            <a:endParaRPr lang="en-US" sz="900" dirty="0"/>
          </a:p>
        </p:txBody>
      </p:sp>
      <p:sp>
        <p:nvSpPr>
          <p:cNvPr id="36" name="Shape 25"/>
          <p:cNvSpPr/>
          <p:nvPr/>
        </p:nvSpPr>
        <p:spPr>
          <a:xfrm>
            <a:off x="2900477" y="5661965"/>
            <a:ext cx="1000354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</p:spPr>
      </p:sp>
      <p:sp>
        <p:nvSpPr>
          <p:cNvPr id="37" name="Text 26"/>
          <p:cNvSpPr txBox="1"/>
          <p:nvPr/>
        </p:nvSpPr>
        <p:spPr>
          <a:xfrm>
            <a:off x="2960827" y="5684825"/>
            <a:ext cx="9528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中文文档 / 教学演示</a:t>
            </a:r>
            <a:endParaRPr lang="en-US" sz="800" dirty="0"/>
          </a:p>
        </p:txBody>
      </p:sp>
      <p:sp>
        <p:nvSpPr>
          <p:cNvPr id="38" name="Shape 27"/>
          <p:cNvSpPr/>
          <p:nvPr/>
        </p:nvSpPr>
        <p:spPr>
          <a:xfrm>
            <a:off x="4280306" y="990295"/>
            <a:ext cx="3638398" cy="5105095"/>
          </a:xfrm>
          <a:prstGeom prst="roundRect">
            <a:avLst>
              <a:gd name="adj" fmla="val 789"/>
            </a:avLst>
          </a:prstGeom>
          <a:solidFill>
            <a:srgbClr val="FFFFFF"/>
          </a:solidFill>
          <a:ln w="50800">
            <a:solidFill>
              <a:srgbClr val="6366F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7078370" y="1150315"/>
            <a:ext cx="705002" cy="209398"/>
          </a:xfrm>
          <a:prstGeom prst="roundRect">
            <a:avLst>
              <a:gd name="adj" fmla="val 79396"/>
            </a:avLst>
          </a:prstGeom>
          <a:solidFill>
            <a:srgbClr val="F1F5F9"/>
          </a:solidFill>
        </p:spPr>
      </p:sp>
      <p:sp>
        <p:nvSpPr>
          <p:cNvPr id="40" name="Text 29"/>
          <p:cNvSpPr txBox="1"/>
          <p:nvPr/>
        </p:nvSpPr>
        <p:spPr>
          <a:xfrm>
            <a:off x="7139635" y="1192378"/>
            <a:ext cx="66111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$20-$200/mo</a:t>
            </a:r>
            <a:endParaRPr lang="en-US" sz="800" dirty="0"/>
          </a:p>
        </p:txBody>
      </p:sp>
      <p:sp>
        <p:nvSpPr>
          <p:cNvPr id="41" name="Shape 30"/>
          <p:cNvSpPr/>
          <p:nvPr/>
        </p:nvSpPr>
        <p:spPr>
          <a:xfrm>
            <a:off x="4472330" y="1764792"/>
            <a:ext cx="3247949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2" name="Shape 31"/>
          <p:cNvSpPr/>
          <p:nvPr/>
        </p:nvSpPr>
        <p:spPr>
          <a:xfrm>
            <a:off x="4472330" y="1241755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EEF2FF"/>
          </a:solidFill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5"/>
          <a:srcRect l="-1528" r="-1528"/>
          <a:stretch>
            <a:fillRect/>
          </a:stretch>
        </p:blipFill>
        <p:spPr>
          <a:xfrm>
            <a:off x="4591202" y="1336853"/>
            <a:ext cx="161849" cy="209398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4994453" y="1211580"/>
            <a:ext cx="50932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Kiro</a:t>
            </a:r>
            <a:endParaRPr lang="en-US" sz="1400" dirty="0"/>
          </a:p>
        </p:txBody>
      </p:sp>
      <p:sp>
        <p:nvSpPr>
          <p:cNvPr id="45" name="Text 33"/>
          <p:cNvSpPr txBox="1"/>
          <p:nvPr/>
        </p:nvSpPr>
        <p:spPr>
          <a:xfrm>
            <a:off x="4994453" y="1500530"/>
            <a:ext cx="11055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规范驱动开发 (SDD)</a:t>
            </a:r>
            <a:endParaRPr lang="en-US" sz="900" dirty="0"/>
          </a:p>
        </p:txBody>
      </p:sp>
      <p:sp>
        <p:nvSpPr>
          <p:cNvPr id="46" name="Text 34"/>
          <p:cNvSpPr txBox="1"/>
          <p:nvPr/>
        </p:nvSpPr>
        <p:spPr>
          <a:xfrm>
            <a:off x="4472330" y="1925726"/>
            <a:ext cx="58704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核心模型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5262372" y="1925726"/>
            <a:ext cx="90159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Model Agnostic</a:t>
            </a:r>
            <a:endParaRPr lang="en-US" sz="900" dirty="0"/>
          </a:p>
        </p:txBody>
      </p:sp>
      <p:sp>
        <p:nvSpPr>
          <p:cNvPr id="48" name="Text 36"/>
          <p:cNvSpPr txBox="1"/>
          <p:nvPr/>
        </p:nvSpPr>
        <p:spPr>
          <a:xfrm>
            <a:off x="4472330" y="2147011"/>
            <a:ext cx="339242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定价</a:t>
            </a:r>
            <a:endParaRPr lang="en-US" sz="900" dirty="0"/>
          </a:p>
        </p:txBody>
      </p:sp>
      <p:sp>
        <p:nvSpPr>
          <p:cNvPr id="49" name="Text 37"/>
          <p:cNvSpPr txBox="1"/>
          <p:nvPr/>
        </p:nvSpPr>
        <p:spPr>
          <a:xfrm>
            <a:off x="5262372" y="2147011"/>
            <a:ext cx="11969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 $20 / Power $200</a:t>
            </a:r>
            <a:endParaRPr lang="en-US" sz="900" dirty="0"/>
          </a:p>
        </p:txBody>
      </p:sp>
      <p:sp>
        <p:nvSpPr>
          <p:cNvPr id="50" name="Shape 38"/>
          <p:cNvSpPr/>
          <p:nvPr/>
        </p:nvSpPr>
        <p:spPr>
          <a:xfrm>
            <a:off x="4472330" y="2481682"/>
            <a:ext cx="3247949" cy="2771546"/>
          </a:xfrm>
          <a:prstGeom prst="roundRect">
            <a:avLst>
              <a:gd name="adj" fmla="val 907"/>
            </a:avLst>
          </a:prstGeom>
          <a:solidFill>
            <a:srgbClr val="F8FAFC"/>
          </a:solidFill>
        </p:spPr>
      </p:sp>
      <p:sp>
        <p:nvSpPr>
          <p:cNvPr id="51" name="Text 39"/>
          <p:cNvSpPr txBox="1"/>
          <p:nvPr/>
        </p:nvSpPr>
        <p:spPr>
          <a:xfrm>
            <a:off x="4586630" y="2595982"/>
            <a:ext cx="75712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核心功能亮点</a:t>
            </a:r>
            <a:endParaRPr lang="en-US" sz="800" dirty="0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6"/>
          <a:srcRect l="-12112" r="-12112"/>
          <a:stretch>
            <a:fillRect/>
          </a:stretch>
        </p:blipFill>
        <p:spPr>
          <a:xfrm>
            <a:off x="4586630" y="2840126"/>
            <a:ext cx="114300" cy="105156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4761281" y="2798064"/>
            <a:ext cx="1434694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强制"先文档后代码"流程</a:t>
            </a:r>
            <a:endParaRPr lang="en-US" sz="9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6"/>
          <a:srcRect l="-12112" r="-12112"/>
          <a:stretch>
            <a:fillRect/>
          </a:stretch>
        </p:blipFill>
        <p:spPr>
          <a:xfrm>
            <a:off x="4586630" y="3051353"/>
            <a:ext cx="114300" cy="105156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4761281" y="3010205"/>
            <a:ext cx="161574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自动维护Memory Bank体系</a:t>
            </a:r>
            <a:endParaRPr lang="en-US" sz="900" dirty="0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6"/>
          <a:srcRect l="-12112" r="-12112"/>
          <a:stretch>
            <a:fillRect/>
          </a:stretch>
        </p:blipFill>
        <p:spPr>
          <a:xfrm>
            <a:off x="4586630" y="3263494"/>
            <a:ext cx="114300" cy="105156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4761281" y="3221431"/>
            <a:ext cx="1511503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Spec-Driven保障可复现性</a:t>
            </a:r>
            <a:endParaRPr lang="en-US" sz="900" dirty="0"/>
          </a:p>
        </p:txBody>
      </p:sp>
      <p:sp>
        <p:nvSpPr>
          <p:cNvPr id="58" name="Shape 43"/>
          <p:cNvSpPr/>
          <p:nvPr/>
        </p:nvSpPr>
        <p:spPr>
          <a:xfrm>
            <a:off x="4472330" y="5370271"/>
            <a:ext cx="3247949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9" name="Text 44"/>
          <p:cNvSpPr txBox="1"/>
          <p:nvPr/>
        </p:nvSpPr>
        <p:spPr>
          <a:xfrm>
            <a:off x="4472330" y="5497373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科研价值</a:t>
            </a:r>
            <a:endParaRPr lang="en-US" sz="900" dirty="0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3"/>
          <a:srcRect l="-5467" r="-5467"/>
          <a:stretch>
            <a:fillRect/>
          </a:stretch>
        </p:blipFill>
        <p:spPr>
          <a:xfrm>
            <a:off x="4472330" y="5730545"/>
            <a:ext cx="142646" cy="114300"/>
          </a:xfrm>
          <a:prstGeom prst="rect">
            <a:avLst/>
          </a:prstGeom>
        </p:spPr>
      </p:pic>
      <p:pic>
        <p:nvPicPr>
          <p:cNvPr id="61" name="Image 14" descr="preencoded.png"/>
          <p:cNvPicPr>
            <a:picLocks noChangeAspect="1"/>
          </p:cNvPicPr>
          <p:nvPr/>
        </p:nvPicPr>
        <p:blipFill>
          <a:blip r:embed="rId3"/>
          <a:srcRect l="-5467" r="-5467"/>
          <a:stretch>
            <a:fillRect/>
          </a:stretch>
        </p:blipFill>
        <p:spPr>
          <a:xfrm>
            <a:off x="4614977" y="5730545"/>
            <a:ext cx="142646" cy="114300"/>
          </a:xfrm>
          <a:prstGeom prst="rect">
            <a:avLst/>
          </a:prstGeom>
        </p:spPr>
      </p:pic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3"/>
          <a:srcRect l="-5467" r="-5467"/>
          <a:stretch>
            <a:fillRect/>
          </a:stretch>
        </p:blipFill>
        <p:spPr>
          <a:xfrm>
            <a:off x="4757623" y="5730545"/>
            <a:ext cx="142646" cy="114300"/>
          </a:xfrm>
          <a:prstGeom prst="rect">
            <a:avLst/>
          </a:prstGeom>
        </p:spPr>
      </p:pic>
      <p:pic>
        <p:nvPicPr>
          <p:cNvPr id="63" name="Image 16" descr="preencoded.png"/>
          <p:cNvPicPr>
            <a:picLocks noChangeAspect="1"/>
          </p:cNvPicPr>
          <p:nvPr/>
        </p:nvPicPr>
        <p:blipFill>
          <a:blip r:embed="rId3"/>
          <a:srcRect l="-5467" r="-5467"/>
          <a:stretch>
            <a:fillRect/>
          </a:stretch>
        </p:blipFill>
        <p:spPr>
          <a:xfrm>
            <a:off x="4901184" y="5730545"/>
            <a:ext cx="142646" cy="114300"/>
          </a:xfrm>
          <a:prstGeom prst="rect">
            <a:avLst/>
          </a:prstGeom>
        </p:spPr>
      </p:pic>
      <p:pic>
        <p:nvPicPr>
          <p:cNvPr id="64" name="Image 17" descr="preencoded.png"/>
          <p:cNvPicPr>
            <a:picLocks noChangeAspect="1"/>
          </p:cNvPicPr>
          <p:nvPr/>
        </p:nvPicPr>
        <p:blipFill>
          <a:blip r:embed="rId3"/>
          <a:srcRect l="-5467" r="-5467"/>
          <a:stretch>
            <a:fillRect/>
          </a:stretch>
        </p:blipFill>
        <p:spPr>
          <a:xfrm>
            <a:off x="5043830" y="5730545"/>
            <a:ext cx="142646" cy="114300"/>
          </a:xfrm>
          <a:prstGeom prst="rect">
            <a:avLst/>
          </a:prstGeom>
        </p:spPr>
      </p:pic>
      <p:sp>
        <p:nvSpPr>
          <p:cNvPr id="65" name="Text 45"/>
          <p:cNvSpPr txBox="1"/>
          <p:nvPr/>
        </p:nvSpPr>
        <p:spPr>
          <a:xfrm>
            <a:off x="7262165" y="5461711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最佳适用</a:t>
            </a:r>
            <a:endParaRPr lang="en-US" sz="900" dirty="0"/>
          </a:p>
        </p:txBody>
      </p:sp>
      <p:sp>
        <p:nvSpPr>
          <p:cNvPr id="66" name="Shape 46"/>
          <p:cNvSpPr/>
          <p:nvPr/>
        </p:nvSpPr>
        <p:spPr>
          <a:xfrm>
            <a:off x="6722669" y="5661965"/>
            <a:ext cx="1000354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</p:spPr>
      </p:sp>
      <p:sp>
        <p:nvSpPr>
          <p:cNvPr id="67" name="Text 47"/>
          <p:cNvSpPr txBox="1"/>
          <p:nvPr/>
        </p:nvSpPr>
        <p:spPr>
          <a:xfrm>
            <a:off x="6783934" y="5684825"/>
            <a:ext cx="9528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大型协作 / 核心复现</a:t>
            </a:r>
            <a:endParaRPr lang="en-US" sz="800" dirty="0"/>
          </a:p>
        </p:txBody>
      </p:sp>
      <p:sp>
        <p:nvSpPr>
          <p:cNvPr id="68" name="Shape 48"/>
          <p:cNvSpPr/>
          <p:nvPr/>
        </p:nvSpPr>
        <p:spPr>
          <a:xfrm>
            <a:off x="8102498" y="990295"/>
            <a:ext cx="3638398" cy="5105095"/>
          </a:xfrm>
          <a:prstGeom prst="roundRect">
            <a:avLst>
              <a:gd name="adj" fmla="val 789"/>
            </a:avLst>
          </a:prstGeom>
          <a:solidFill>
            <a:srgbClr val="FFFFFF"/>
          </a:solidFill>
          <a:ln w="50800">
            <a:solidFill>
              <a:srgbClr val="8B5C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9" name="Shape 49"/>
          <p:cNvSpPr/>
          <p:nvPr/>
        </p:nvSpPr>
        <p:spPr>
          <a:xfrm>
            <a:off x="11097158" y="1150315"/>
            <a:ext cx="514807" cy="209398"/>
          </a:xfrm>
          <a:prstGeom prst="roundRect">
            <a:avLst>
              <a:gd name="adj" fmla="val 79396"/>
            </a:avLst>
          </a:prstGeom>
          <a:solidFill>
            <a:srgbClr val="FFF7ED"/>
          </a:solidFill>
        </p:spPr>
      </p:sp>
      <p:sp>
        <p:nvSpPr>
          <p:cNvPr id="70" name="Text 50"/>
          <p:cNvSpPr txBox="1"/>
          <p:nvPr/>
        </p:nvSpPr>
        <p:spPr>
          <a:xfrm>
            <a:off x="11157509" y="1192378"/>
            <a:ext cx="47091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$100/mo</a:t>
            </a:r>
            <a:endParaRPr lang="en-US" sz="800" dirty="0"/>
          </a:p>
        </p:txBody>
      </p:sp>
      <p:sp>
        <p:nvSpPr>
          <p:cNvPr id="71" name="Shape 51"/>
          <p:cNvSpPr/>
          <p:nvPr/>
        </p:nvSpPr>
        <p:spPr>
          <a:xfrm>
            <a:off x="8294522" y="1764792"/>
            <a:ext cx="3247949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Shape 52"/>
          <p:cNvSpPr/>
          <p:nvPr/>
        </p:nvSpPr>
        <p:spPr>
          <a:xfrm>
            <a:off x="8294522" y="1241755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F3E8FF"/>
          </a:solidFill>
        </p:spPr>
      </p:sp>
      <p:pic>
        <p:nvPicPr>
          <p:cNvPr id="73" name="Image 18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389620" y="1336853"/>
            <a:ext cx="209398" cy="209398"/>
          </a:xfrm>
          <a:prstGeom prst="rect">
            <a:avLst/>
          </a:prstGeom>
        </p:spPr>
      </p:pic>
      <p:sp>
        <p:nvSpPr>
          <p:cNvPr id="74" name="Text 53"/>
          <p:cNvSpPr txBox="1"/>
          <p:nvPr/>
        </p:nvSpPr>
        <p:spPr>
          <a:xfrm>
            <a:off x="8816645" y="1211580"/>
            <a:ext cx="861365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Augment</a:t>
            </a:r>
            <a:endParaRPr lang="en-US" sz="1400" dirty="0"/>
          </a:p>
        </p:txBody>
      </p:sp>
      <p:sp>
        <p:nvSpPr>
          <p:cNvPr id="75" name="Text 54"/>
          <p:cNvSpPr txBox="1"/>
          <p:nvPr/>
        </p:nvSpPr>
        <p:spPr>
          <a:xfrm>
            <a:off x="8816645" y="1500530"/>
            <a:ext cx="8961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极致上下文引擎</a:t>
            </a:r>
            <a:endParaRPr lang="en-US" sz="900" dirty="0"/>
          </a:p>
        </p:txBody>
      </p:sp>
      <p:sp>
        <p:nvSpPr>
          <p:cNvPr id="76" name="Text 55"/>
          <p:cNvSpPr txBox="1"/>
          <p:nvPr/>
        </p:nvSpPr>
        <p:spPr>
          <a:xfrm>
            <a:off x="8294522" y="1925726"/>
            <a:ext cx="58704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核心模型</a:t>
            </a:r>
            <a:endParaRPr lang="en-US" sz="900" dirty="0"/>
          </a:p>
        </p:txBody>
      </p:sp>
      <p:sp>
        <p:nvSpPr>
          <p:cNvPr id="77" name="Text 56"/>
          <p:cNvSpPr txBox="1"/>
          <p:nvPr/>
        </p:nvSpPr>
        <p:spPr>
          <a:xfrm>
            <a:off x="9085478" y="1925726"/>
            <a:ext cx="137800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Context Engine + GPT-4</a:t>
            </a:r>
            <a:endParaRPr lang="en-US" sz="900" dirty="0"/>
          </a:p>
        </p:txBody>
      </p:sp>
      <p:sp>
        <p:nvSpPr>
          <p:cNvPr id="78" name="Text 57"/>
          <p:cNvSpPr txBox="1"/>
          <p:nvPr/>
        </p:nvSpPr>
        <p:spPr>
          <a:xfrm>
            <a:off x="8294522" y="2147011"/>
            <a:ext cx="339242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额度</a:t>
            </a:r>
            <a:endParaRPr lang="en-US" sz="900" dirty="0"/>
          </a:p>
        </p:txBody>
      </p:sp>
      <p:sp>
        <p:nvSpPr>
          <p:cNvPr id="79" name="Text 58"/>
          <p:cNvSpPr txBox="1"/>
          <p:nvPr/>
        </p:nvSpPr>
        <p:spPr>
          <a:xfrm>
            <a:off x="9085478" y="2147011"/>
            <a:ext cx="110185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208,000 Credits/mo</a:t>
            </a:r>
            <a:endParaRPr lang="en-US" sz="900" dirty="0"/>
          </a:p>
        </p:txBody>
      </p:sp>
      <p:sp>
        <p:nvSpPr>
          <p:cNvPr id="80" name="Shape 59"/>
          <p:cNvSpPr/>
          <p:nvPr/>
        </p:nvSpPr>
        <p:spPr>
          <a:xfrm>
            <a:off x="8294522" y="2481682"/>
            <a:ext cx="3247949" cy="2771546"/>
          </a:xfrm>
          <a:prstGeom prst="roundRect">
            <a:avLst>
              <a:gd name="adj" fmla="val 907"/>
            </a:avLst>
          </a:prstGeom>
          <a:solidFill>
            <a:srgbClr val="F8FAFC"/>
          </a:solidFill>
        </p:spPr>
      </p:sp>
      <p:sp>
        <p:nvSpPr>
          <p:cNvPr id="81" name="Text 60"/>
          <p:cNvSpPr txBox="1"/>
          <p:nvPr/>
        </p:nvSpPr>
        <p:spPr>
          <a:xfrm>
            <a:off x="8408822" y="2595982"/>
            <a:ext cx="75712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核心功能亮点</a:t>
            </a:r>
            <a:endParaRPr lang="en-US" sz="800" dirty="0"/>
          </a:p>
        </p:txBody>
      </p:sp>
      <p:pic>
        <p:nvPicPr>
          <p:cNvPr id="82" name="Image 19" descr="preencoded.png"/>
          <p:cNvPicPr>
            <a:picLocks noChangeAspect="1"/>
          </p:cNvPicPr>
          <p:nvPr/>
        </p:nvPicPr>
        <p:blipFill>
          <a:blip r:embed="rId8"/>
          <a:srcRect l="-12112" r="-12112"/>
          <a:stretch>
            <a:fillRect/>
          </a:stretch>
        </p:blipFill>
        <p:spPr>
          <a:xfrm>
            <a:off x="8408822" y="2840126"/>
            <a:ext cx="114300" cy="105156"/>
          </a:xfrm>
          <a:prstGeom prst="rect">
            <a:avLst/>
          </a:prstGeom>
        </p:spPr>
      </p:pic>
      <p:sp>
        <p:nvSpPr>
          <p:cNvPr id="83" name="Text 61"/>
          <p:cNvSpPr txBox="1"/>
          <p:nvPr/>
        </p:nvSpPr>
        <p:spPr>
          <a:xfrm>
            <a:off x="8584387" y="2798064"/>
            <a:ext cx="157734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超大代码库理解能力(RAG+)</a:t>
            </a:r>
            <a:endParaRPr lang="en-US" sz="900" dirty="0"/>
          </a:p>
        </p:txBody>
      </p:sp>
      <p:pic>
        <p:nvPicPr>
          <p:cNvPr id="84" name="Image 20" descr="preencoded.png"/>
          <p:cNvPicPr>
            <a:picLocks noChangeAspect="1"/>
          </p:cNvPicPr>
          <p:nvPr/>
        </p:nvPicPr>
        <p:blipFill>
          <a:blip r:embed="rId8"/>
          <a:srcRect l="-12112" r="-12112"/>
          <a:stretch>
            <a:fillRect/>
          </a:stretch>
        </p:blipFill>
        <p:spPr>
          <a:xfrm>
            <a:off x="8408822" y="3051353"/>
            <a:ext cx="114300" cy="105156"/>
          </a:xfrm>
          <a:prstGeom prst="rect">
            <a:avLst/>
          </a:prstGeom>
        </p:spPr>
      </p:pic>
      <p:sp>
        <p:nvSpPr>
          <p:cNvPr id="85" name="Text 62"/>
          <p:cNvSpPr txBox="1"/>
          <p:nvPr/>
        </p:nvSpPr>
        <p:spPr>
          <a:xfrm>
            <a:off x="8584387" y="3010205"/>
            <a:ext cx="1330452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MCP工具原生集成支持</a:t>
            </a:r>
            <a:endParaRPr lang="en-US" sz="900" dirty="0"/>
          </a:p>
        </p:txBody>
      </p:sp>
      <p:pic>
        <p:nvPicPr>
          <p:cNvPr id="86" name="Image 21" descr="preencoded.png"/>
          <p:cNvPicPr>
            <a:picLocks noChangeAspect="1"/>
          </p:cNvPicPr>
          <p:nvPr/>
        </p:nvPicPr>
        <p:blipFill>
          <a:blip r:embed="rId8"/>
          <a:srcRect l="-12112" r="-12112"/>
          <a:stretch>
            <a:fillRect/>
          </a:stretch>
        </p:blipFill>
        <p:spPr>
          <a:xfrm>
            <a:off x="8408822" y="3263494"/>
            <a:ext cx="114300" cy="105156"/>
          </a:xfrm>
          <a:prstGeom prst="rect">
            <a:avLst/>
          </a:prstGeom>
        </p:spPr>
      </p:pic>
      <p:sp>
        <p:nvSpPr>
          <p:cNvPr id="87" name="Text 63"/>
          <p:cNvSpPr txBox="1"/>
          <p:nvPr/>
        </p:nvSpPr>
        <p:spPr>
          <a:xfrm>
            <a:off x="8584387" y="3221431"/>
            <a:ext cx="1444752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SOC 2 Type II企业级安全</a:t>
            </a:r>
            <a:endParaRPr lang="en-US" sz="900" dirty="0"/>
          </a:p>
        </p:txBody>
      </p:sp>
      <p:sp>
        <p:nvSpPr>
          <p:cNvPr id="88" name="Shape 64"/>
          <p:cNvSpPr/>
          <p:nvPr/>
        </p:nvSpPr>
        <p:spPr>
          <a:xfrm>
            <a:off x="8294522" y="5370271"/>
            <a:ext cx="3247949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9" name="Text 65"/>
          <p:cNvSpPr txBox="1"/>
          <p:nvPr/>
        </p:nvSpPr>
        <p:spPr>
          <a:xfrm>
            <a:off x="8294522" y="5497373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科研价值</a:t>
            </a:r>
            <a:endParaRPr lang="en-US" sz="900" dirty="0"/>
          </a:p>
        </p:txBody>
      </p:sp>
      <p:pic>
        <p:nvPicPr>
          <p:cNvPr id="90" name="Image 22" descr="preencoded.png"/>
          <p:cNvPicPr>
            <a:picLocks noChangeAspect="1"/>
          </p:cNvPicPr>
          <p:nvPr/>
        </p:nvPicPr>
        <p:blipFill>
          <a:blip r:embed="rId3"/>
          <a:srcRect l="-5467" r="-5467"/>
          <a:stretch>
            <a:fillRect/>
          </a:stretch>
        </p:blipFill>
        <p:spPr>
          <a:xfrm>
            <a:off x="8294522" y="5730545"/>
            <a:ext cx="142646" cy="114300"/>
          </a:xfrm>
          <a:prstGeom prst="rect">
            <a:avLst/>
          </a:prstGeom>
        </p:spPr>
      </p:pic>
      <p:pic>
        <p:nvPicPr>
          <p:cNvPr id="91" name="Image 23" descr="preencoded.png"/>
          <p:cNvPicPr>
            <a:picLocks noChangeAspect="1"/>
          </p:cNvPicPr>
          <p:nvPr/>
        </p:nvPicPr>
        <p:blipFill>
          <a:blip r:embed="rId3"/>
          <a:srcRect l="-5467" r="-5467"/>
          <a:stretch>
            <a:fillRect/>
          </a:stretch>
        </p:blipFill>
        <p:spPr>
          <a:xfrm>
            <a:off x="8438083" y="5730545"/>
            <a:ext cx="142646" cy="114300"/>
          </a:xfrm>
          <a:prstGeom prst="rect">
            <a:avLst/>
          </a:prstGeom>
        </p:spPr>
      </p:pic>
      <p:pic>
        <p:nvPicPr>
          <p:cNvPr id="92" name="Image 24" descr="preencoded.png"/>
          <p:cNvPicPr>
            <a:picLocks noChangeAspect="1"/>
          </p:cNvPicPr>
          <p:nvPr/>
        </p:nvPicPr>
        <p:blipFill>
          <a:blip r:embed="rId3"/>
          <a:srcRect l="-5467" r="-5467"/>
          <a:stretch>
            <a:fillRect/>
          </a:stretch>
        </p:blipFill>
        <p:spPr>
          <a:xfrm>
            <a:off x="8580730" y="5730545"/>
            <a:ext cx="142646" cy="114300"/>
          </a:xfrm>
          <a:prstGeom prst="rect">
            <a:avLst/>
          </a:prstGeom>
        </p:spPr>
      </p:pic>
      <p:pic>
        <p:nvPicPr>
          <p:cNvPr id="93" name="Image 25" descr="preencoded.png"/>
          <p:cNvPicPr>
            <a:picLocks noChangeAspect="1"/>
          </p:cNvPicPr>
          <p:nvPr/>
        </p:nvPicPr>
        <p:blipFill>
          <a:blip r:embed="rId3"/>
          <a:srcRect l="-5467" r="-5467"/>
          <a:stretch>
            <a:fillRect/>
          </a:stretch>
        </p:blipFill>
        <p:spPr>
          <a:xfrm>
            <a:off x="8723376" y="5730545"/>
            <a:ext cx="142646" cy="114300"/>
          </a:xfrm>
          <a:prstGeom prst="rect">
            <a:avLst/>
          </a:prstGeom>
        </p:spPr>
      </p:pic>
      <p:pic>
        <p:nvPicPr>
          <p:cNvPr id="94" name="Image 26" descr="preencoded.png"/>
          <p:cNvPicPr>
            <a:picLocks noChangeAspect="1"/>
          </p:cNvPicPr>
          <p:nvPr/>
        </p:nvPicPr>
        <p:blipFill>
          <a:blip r:embed="rId3"/>
          <a:srcRect l="-5467" r="-5467"/>
          <a:stretch>
            <a:fillRect/>
          </a:stretch>
        </p:blipFill>
        <p:spPr>
          <a:xfrm>
            <a:off x="8866022" y="5730545"/>
            <a:ext cx="142646" cy="114300"/>
          </a:xfrm>
          <a:prstGeom prst="rect">
            <a:avLst/>
          </a:prstGeom>
        </p:spPr>
      </p:pic>
      <p:sp>
        <p:nvSpPr>
          <p:cNvPr id="95" name="Text 66"/>
          <p:cNvSpPr txBox="1"/>
          <p:nvPr/>
        </p:nvSpPr>
        <p:spPr>
          <a:xfrm>
            <a:off x="11085271" y="5461711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最佳适用</a:t>
            </a:r>
            <a:endParaRPr lang="en-US" sz="900" dirty="0"/>
          </a:p>
        </p:txBody>
      </p:sp>
      <p:sp>
        <p:nvSpPr>
          <p:cNvPr id="96" name="Shape 67"/>
          <p:cNvSpPr/>
          <p:nvPr/>
        </p:nvSpPr>
        <p:spPr>
          <a:xfrm>
            <a:off x="10545775" y="5661965"/>
            <a:ext cx="1000354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</p:spPr>
      </p:sp>
      <p:sp>
        <p:nvSpPr>
          <p:cNvPr id="97" name="Text 68"/>
          <p:cNvSpPr txBox="1"/>
          <p:nvPr/>
        </p:nvSpPr>
        <p:spPr>
          <a:xfrm>
            <a:off x="10607040" y="5684825"/>
            <a:ext cx="9528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超大项目 / 复杂逻辑</a:t>
            </a:r>
            <a:endParaRPr lang="en-US" sz="800" dirty="0"/>
          </a:p>
        </p:txBody>
      </p:sp>
      <p:sp>
        <p:nvSpPr>
          <p:cNvPr id="98" name="Shape 6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9" name="Shape 70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0" name="Text 71"/>
          <p:cNvSpPr txBox="1"/>
          <p:nvPr/>
        </p:nvSpPr>
        <p:spPr>
          <a:xfrm>
            <a:off x="609905" y="6537046"/>
            <a:ext cx="151699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AI驱动科研编程实战指南</a:t>
            </a:r>
            <a:endParaRPr lang="en-US" sz="1000" dirty="0"/>
          </a:p>
        </p:txBody>
      </p:sp>
      <p:sp>
        <p:nvSpPr>
          <p:cNvPr id="101" name="Text 72"/>
          <p:cNvSpPr txBox="1"/>
          <p:nvPr/>
        </p:nvSpPr>
        <p:spPr>
          <a:xfrm>
            <a:off x="11452860" y="6556248"/>
            <a:ext cx="2313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3949294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2.2 CLI工具深度对比 (2025版)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65521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969764" y="295351"/>
            <a:ext cx="40005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Code / Codex CLI / Gemini CLI / Droid 极客工具评测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5562295" cy="2457907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" y="1418234"/>
            <a:ext cx="5210251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" name="Shape 8"/>
          <p:cNvSpPr/>
          <p:nvPr/>
        </p:nvSpPr>
        <p:spPr>
          <a:xfrm>
            <a:off x="647395" y="104607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F1EE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24205" y="1121969"/>
            <a:ext cx="152705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44245" y="1114654"/>
            <a:ext cx="9628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09590" y="1153058"/>
            <a:ext cx="457200" cy="142646"/>
          </a:xfrm>
          <a:prstGeom prst="roundRect">
            <a:avLst>
              <a:gd name="adj" fmla="val 128205"/>
            </a:avLst>
          </a:prstGeom>
          <a:solidFill>
            <a:srgbClr val="FEF3C7"/>
          </a:solidFill>
        </p:spPr>
      </p:sp>
      <p:sp>
        <p:nvSpPr>
          <p:cNvPr id="14" name="Text 11"/>
          <p:cNvSpPr txBox="1"/>
          <p:nvPr/>
        </p:nvSpPr>
        <p:spPr>
          <a:xfrm>
            <a:off x="5447995" y="1162202"/>
            <a:ext cx="457200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9770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Pro/Max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47395" y="1496873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核心模型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622292" y="1516075"/>
            <a:ext cx="13240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3.5 Sonnet / Opus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47395" y="1707185"/>
            <a:ext cx="324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价格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913986" y="1725473"/>
            <a:ext cx="10387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$20 Pro / $200 Max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7395" y="1962302"/>
            <a:ext cx="5210251" cy="981151"/>
          </a:xfrm>
          <a:prstGeom prst="roundRect">
            <a:avLst>
              <a:gd name="adj" fmla="val 5429"/>
            </a:avLst>
          </a:prstGeom>
          <a:solidFill>
            <a:srgbClr val="F8FAFC"/>
          </a:solidFill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rcRect l="-7143" r="-7143"/>
          <a:stretch>
            <a:fillRect/>
          </a:stretch>
        </p:blipFill>
        <p:spPr>
          <a:xfrm>
            <a:off x="724205" y="2322576"/>
            <a:ext cx="95098" cy="9509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65022" y="2306117"/>
            <a:ext cx="130942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项目记忆 (Project Memory)</a:t>
            </a:r>
            <a:endParaRPr lang="en-US" sz="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2"/>
          <a:srcRect l="-7143" r="-7143"/>
          <a:stretch>
            <a:fillRect/>
          </a:stretch>
        </p:blipFill>
        <p:spPr>
          <a:xfrm>
            <a:off x="3290926" y="2322576"/>
            <a:ext cx="95098" cy="9509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431743" y="2306117"/>
            <a:ext cx="88056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200K 超长上下文</a:t>
            </a:r>
            <a:endParaRPr lang="en-US" sz="8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2"/>
          <a:srcRect l="-7143" r="-7143"/>
          <a:stretch>
            <a:fillRect/>
          </a:stretch>
        </p:blipFill>
        <p:spPr>
          <a:xfrm>
            <a:off x="724205" y="2481682"/>
            <a:ext cx="95098" cy="9509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65022" y="2465222"/>
            <a:ext cx="93817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复杂任务多步分解</a:t>
            </a:r>
            <a:endParaRPr lang="en-US" sz="8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2"/>
          <a:srcRect l="-7143" r="-7143"/>
          <a:stretch>
            <a:fillRect/>
          </a:stretch>
        </p:blipFill>
        <p:spPr>
          <a:xfrm>
            <a:off x="3290926" y="2481682"/>
            <a:ext cx="95098" cy="9509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431743" y="2465222"/>
            <a:ext cx="93817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深度代码审查能力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647395" y="2983687"/>
            <a:ext cx="5210251" cy="256946"/>
          </a:xfrm>
          <a:prstGeom prst="roundRect">
            <a:avLst>
              <a:gd name="adj" fmla="val 52722"/>
            </a:avLst>
          </a:prstGeom>
          <a:solidFill>
            <a:srgbClr val="F1F5F9"/>
          </a:solidFill>
        </p:spPr>
      </p:sp>
      <p:sp>
        <p:nvSpPr>
          <p:cNvPr id="29" name="Text 22"/>
          <p:cNvSpPr txBox="1"/>
          <p:nvPr/>
        </p:nvSpPr>
        <p:spPr>
          <a:xfrm>
            <a:off x="724205" y="3029407"/>
            <a:ext cx="221376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适用：大型项目深度重构、论文算法精确复现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172200" y="914400"/>
            <a:ext cx="5562295" cy="2457907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62395" y="1418234"/>
            <a:ext cx="5210251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2" name="Shape 25"/>
          <p:cNvSpPr/>
          <p:nvPr/>
        </p:nvSpPr>
        <p:spPr>
          <a:xfrm>
            <a:off x="6362395" y="104607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CFDF5"/>
          </a:solidFill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rcRect t="-180" b="-180"/>
          <a:stretch>
            <a:fillRect/>
          </a:stretch>
        </p:blipFill>
        <p:spPr>
          <a:xfrm>
            <a:off x="6420002" y="1121969"/>
            <a:ext cx="190195" cy="1527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759245" y="1114654"/>
            <a:ext cx="848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Codex CLI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11314786" y="1153058"/>
            <a:ext cx="267005" cy="142646"/>
          </a:xfrm>
          <a:prstGeom prst="roundRect">
            <a:avLst>
              <a:gd name="adj" fmla="val 128205"/>
            </a:avLst>
          </a:prstGeom>
          <a:solidFill>
            <a:srgbClr val="FEF3C7"/>
          </a:solidFill>
        </p:spPr>
      </p:sp>
      <p:sp>
        <p:nvSpPr>
          <p:cNvPr id="36" name="Text 28"/>
          <p:cNvSpPr txBox="1"/>
          <p:nvPr/>
        </p:nvSpPr>
        <p:spPr>
          <a:xfrm>
            <a:off x="11353190" y="1162202"/>
            <a:ext cx="267005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9770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Plus</a:t>
            </a:r>
            <a:endParaRPr lang="en-US" sz="800" dirty="0"/>
          </a:p>
        </p:txBody>
      </p:sp>
      <p:sp>
        <p:nvSpPr>
          <p:cNvPr id="37" name="Text 29"/>
          <p:cNvSpPr txBox="1"/>
          <p:nvPr/>
        </p:nvSpPr>
        <p:spPr>
          <a:xfrm>
            <a:off x="6362395" y="1496873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核心模型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10701223" y="1516075"/>
            <a:ext cx="9628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GPT-5.2 / GPT-4o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6362395" y="1707185"/>
            <a:ext cx="324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价格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0641787" y="1725473"/>
            <a:ext cx="10195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$20 Plus / $200 Pro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6362395" y="1962302"/>
            <a:ext cx="5210251" cy="981151"/>
          </a:xfrm>
          <a:prstGeom prst="roundRect">
            <a:avLst>
              <a:gd name="adj" fmla="val 5429"/>
            </a:avLst>
          </a:prstGeom>
          <a:solidFill>
            <a:srgbClr val="F8FAFC"/>
          </a:solidFill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4"/>
          <a:srcRect l="-7143" r="-7143"/>
          <a:stretch>
            <a:fillRect/>
          </a:stretch>
        </p:blipFill>
        <p:spPr>
          <a:xfrm>
            <a:off x="6439205" y="2322576"/>
            <a:ext cx="95098" cy="95098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580022" y="2306117"/>
            <a:ext cx="83301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原生多模态支持</a:t>
            </a:r>
            <a:endParaRPr lang="en-US" sz="8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4"/>
          <a:srcRect l="-7143" r="-7143"/>
          <a:stretch>
            <a:fillRect/>
          </a:stretch>
        </p:blipFill>
        <p:spPr>
          <a:xfrm>
            <a:off x="9005926" y="2322576"/>
            <a:ext cx="95098" cy="9509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9146743" y="2306117"/>
            <a:ext cx="72786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实时联网查询</a:t>
            </a:r>
            <a:endParaRPr lang="en-US" sz="8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4"/>
          <a:srcRect l="-7143" r="-7143"/>
          <a:stretch>
            <a:fillRect/>
          </a:stretch>
        </p:blipFill>
        <p:spPr>
          <a:xfrm>
            <a:off x="6439205" y="2481682"/>
            <a:ext cx="95098" cy="95098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6580022" y="2465222"/>
            <a:ext cx="83301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丰富的插件生态</a:t>
            </a:r>
            <a:endParaRPr lang="en-US" sz="8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4"/>
          <a:srcRect l="-7143" r="-7143"/>
          <a:stretch>
            <a:fillRect/>
          </a:stretch>
        </p:blipFill>
        <p:spPr>
          <a:xfrm>
            <a:off x="9005926" y="2481682"/>
            <a:ext cx="95098" cy="95098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9146743" y="2465222"/>
            <a:ext cx="70866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API 快速集成</a:t>
            </a:r>
            <a:endParaRPr lang="en-US" sz="800" dirty="0"/>
          </a:p>
        </p:txBody>
      </p:sp>
      <p:sp>
        <p:nvSpPr>
          <p:cNvPr id="50" name="Shape 38"/>
          <p:cNvSpPr/>
          <p:nvPr/>
        </p:nvSpPr>
        <p:spPr>
          <a:xfrm>
            <a:off x="6362395" y="2983687"/>
            <a:ext cx="5210251" cy="256946"/>
          </a:xfrm>
          <a:prstGeom prst="roundRect">
            <a:avLst>
              <a:gd name="adj" fmla="val 52722"/>
            </a:avLst>
          </a:prstGeom>
          <a:solidFill>
            <a:srgbClr val="F1F5F9"/>
          </a:solidFill>
        </p:spPr>
      </p:sp>
      <p:sp>
        <p:nvSpPr>
          <p:cNvPr id="51" name="Text 39"/>
          <p:cNvSpPr txBox="1"/>
          <p:nvPr/>
        </p:nvSpPr>
        <p:spPr>
          <a:xfrm>
            <a:off x="6439205" y="3029407"/>
            <a:ext cx="216621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适用：快速原型验证、API集成、多模态任务</a:t>
            </a:r>
            <a:endParaRPr lang="en-US" sz="800" dirty="0"/>
          </a:p>
        </p:txBody>
      </p:sp>
      <p:sp>
        <p:nvSpPr>
          <p:cNvPr id="52" name="Shape 40"/>
          <p:cNvSpPr/>
          <p:nvPr/>
        </p:nvSpPr>
        <p:spPr>
          <a:xfrm>
            <a:off x="457200" y="3518611"/>
            <a:ext cx="5562295" cy="2457907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3" name="Shape 41"/>
          <p:cNvSpPr/>
          <p:nvPr/>
        </p:nvSpPr>
        <p:spPr>
          <a:xfrm>
            <a:off x="647395" y="4022446"/>
            <a:ext cx="5210251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4" name="Shape 42"/>
          <p:cNvSpPr/>
          <p:nvPr/>
        </p:nvSpPr>
        <p:spPr>
          <a:xfrm>
            <a:off x="647395" y="365028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F6FF"/>
          </a:solidFill>
        </p:spPr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24205" y="3726180"/>
            <a:ext cx="152705" cy="152705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1044245" y="3718865"/>
            <a:ext cx="9144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Gemini CLI</a:t>
            </a:r>
            <a:endParaRPr lang="en-US" sz="1200" dirty="0"/>
          </a:p>
        </p:txBody>
      </p:sp>
      <p:sp>
        <p:nvSpPr>
          <p:cNvPr id="57" name="Shape 44"/>
          <p:cNvSpPr/>
          <p:nvPr/>
        </p:nvSpPr>
        <p:spPr>
          <a:xfrm>
            <a:off x="5591556" y="3756355"/>
            <a:ext cx="267005" cy="142646"/>
          </a:xfrm>
          <a:prstGeom prst="roundRect">
            <a:avLst>
              <a:gd name="adj" fmla="val 128205"/>
            </a:avLst>
          </a:prstGeom>
          <a:solidFill>
            <a:srgbClr val="DCFCE7"/>
          </a:solidFill>
        </p:spPr>
      </p:sp>
      <p:sp>
        <p:nvSpPr>
          <p:cNvPr id="58" name="Text 45"/>
          <p:cNvSpPr txBox="1"/>
          <p:nvPr/>
        </p:nvSpPr>
        <p:spPr>
          <a:xfrm>
            <a:off x="5629046" y="3766414"/>
            <a:ext cx="267005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5803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Free</a:t>
            </a:r>
            <a:endParaRPr lang="en-US" sz="800" dirty="0"/>
          </a:p>
        </p:txBody>
      </p:sp>
      <p:sp>
        <p:nvSpPr>
          <p:cNvPr id="59" name="Text 46"/>
          <p:cNvSpPr txBox="1"/>
          <p:nvPr/>
        </p:nvSpPr>
        <p:spPr>
          <a:xfrm>
            <a:off x="647395" y="4101084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核心模型</a:t>
            </a:r>
            <a:endParaRPr lang="en-US" sz="900" dirty="0"/>
          </a:p>
        </p:txBody>
      </p:sp>
      <p:sp>
        <p:nvSpPr>
          <p:cNvPr id="60" name="Text 47"/>
          <p:cNvSpPr txBox="1"/>
          <p:nvPr/>
        </p:nvSpPr>
        <p:spPr>
          <a:xfrm>
            <a:off x="5120640" y="4120286"/>
            <a:ext cx="8293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Gemini 2.5 Pro</a:t>
            </a:r>
            <a:endParaRPr lang="en-US" sz="900" dirty="0"/>
          </a:p>
        </p:txBody>
      </p:sp>
      <p:sp>
        <p:nvSpPr>
          <p:cNvPr id="61" name="Text 48"/>
          <p:cNvSpPr txBox="1"/>
          <p:nvPr/>
        </p:nvSpPr>
        <p:spPr>
          <a:xfrm>
            <a:off x="647395" y="4310482"/>
            <a:ext cx="324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价格</a:t>
            </a:r>
            <a:endParaRPr lang="en-US" sz="900" dirty="0"/>
          </a:p>
        </p:txBody>
      </p:sp>
      <p:sp>
        <p:nvSpPr>
          <p:cNvPr id="62" name="Text 49"/>
          <p:cNvSpPr txBox="1"/>
          <p:nvPr/>
        </p:nvSpPr>
        <p:spPr>
          <a:xfrm>
            <a:off x="5005426" y="4329684"/>
            <a:ext cx="9436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Free (60 req/min)</a:t>
            </a:r>
            <a:endParaRPr lang="en-US" sz="900" dirty="0"/>
          </a:p>
        </p:txBody>
      </p:sp>
      <p:sp>
        <p:nvSpPr>
          <p:cNvPr id="63" name="Shape 50"/>
          <p:cNvSpPr/>
          <p:nvPr/>
        </p:nvSpPr>
        <p:spPr>
          <a:xfrm>
            <a:off x="647395" y="4565599"/>
            <a:ext cx="5210251" cy="981151"/>
          </a:xfrm>
          <a:prstGeom prst="roundRect">
            <a:avLst>
              <a:gd name="adj" fmla="val 5429"/>
            </a:avLst>
          </a:prstGeom>
          <a:solidFill>
            <a:srgbClr val="F8FAFC"/>
          </a:solidFill>
        </p:spPr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6"/>
          <a:srcRect l="-7143" r="-7143"/>
          <a:stretch>
            <a:fillRect/>
          </a:stretch>
        </p:blipFill>
        <p:spPr>
          <a:xfrm>
            <a:off x="724205" y="4926787"/>
            <a:ext cx="95098" cy="95098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865022" y="4910328"/>
            <a:ext cx="100401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1M 超大上下文窗口</a:t>
            </a:r>
            <a:endParaRPr lang="en-US" sz="800" dirty="0"/>
          </a:p>
        </p:txBody>
      </p:sp>
      <p:pic>
        <p:nvPicPr>
          <p:cNvPr id="66" name="Image 12" descr="preencoded.png"/>
          <p:cNvPicPr>
            <a:picLocks noChangeAspect="1"/>
          </p:cNvPicPr>
          <p:nvPr/>
        </p:nvPicPr>
        <p:blipFill>
          <a:blip r:embed="rId6"/>
          <a:srcRect l="-7143" r="-7143"/>
          <a:stretch>
            <a:fillRect/>
          </a:stretch>
        </p:blipFill>
        <p:spPr>
          <a:xfrm>
            <a:off x="3290926" y="4926787"/>
            <a:ext cx="95098" cy="95098"/>
          </a:xfrm>
          <a:prstGeom prst="rect">
            <a:avLst/>
          </a:prstGeom>
        </p:spPr>
      </p:pic>
      <p:sp>
        <p:nvSpPr>
          <p:cNvPr id="67" name="Text 52"/>
          <p:cNvSpPr txBox="1"/>
          <p:nvPr/>
        </p:nvSpPr>
        <p:spPr>
          <a:xfrm>
            <a:off x="3431743" y="4910328"/>
            <a:ext cx="106161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Gemini 3.0 Flash 极速</a:t>
            </a:r>
            <a:endParaRPr lang="en-US" sz="800" dirty="0"/>
          </a:p>
        </p:txBody>
      </p:sp>
      <p:pic>
        <p:nvPicPr>
          <p:cNvPr id="68" name="Image 13" descr="preencoded.png"/>
          <p:cNvPicPr>
            <a:picLocks noChangeAspect="1"/>
          </p:cNvPicPr>
          <p:nvPr/>
        </p:nvPicPr>
        <p:blipFill>
          <a:blip r:embed="rId6"/>
          <a:srcRect l="-7143" r="-7143"/>
          <a:stretch>
            <a:fillRect/>
          </a:stretch>
        </p:blipFill>
        <p:spPr>
          <a:xfrm>
            <a:off x="724205" y="5085893"/>
            <a:ext cx="95098" cy="95098"/>
          </a:xfrm>
          <a:prstGeom prst="rect">
            <a:avLst/>
          </a:prstGeom>
        </p:spPr>
      </p:pic>
      <p:sp>
        <p:nvSpPr>
          <p:cNvPr id="69" name="Text 53"/>
          <p:cNvSpPr txBox="1"/>
          <p:nvPr/>
        </p:nvSpPr>
        <p:spPr>
          <a:xfrm>
            <a:off x="865022" y="5069434"/>
            <a:ext cx="104241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海量文本无成本处理</a:t>
            </a:r>
            <a:endParaRPr lang="en-US" sz="800" dirty="0"/>
          </a:p>
        </p:txBody>
      </p:sp>
      <p:pic>
        <p:nvPicPr>
          <p:cNvPr id="70" name="Image 14" descr="preencoded.png"/>
          <p:cNvPicPr>
            <a:picLocks noChangeAspect="1"/>
          </p:cNvPicPr>
          <p:nvPr/>
        </p:nvPicPr>
        <p:blipFill>
          <a:blip r:embed="rId6"/>
          <a:srcRect l="-7143" r="-7143"/>
          <a:stretch>
            <a:fillRect/>
          </a:stretch>
        </p:blipFill>
        <p:spPr>
          <a:xfrm>
            <a:off x="3290926" y="5085893"/>
            <a:ext cx="95098" cy="95098"/>
          </a:xfrm>
          <a:prstGeom prst="rect">
            <a:avLst/>
          </a:prstGeom>
        </p:spPr>
      </p:pic>
      <p:sp>
        <p:nvSpPr>
          <p:cNvPr id="71" name="Text 54"/>
          <p:cNvSpPr txBox="1"/>
          <p:nvPr/>
        </p:nvSpPr>
        <p:spPr>
          <a:xfrm>
            <a:off x="3431743" y="5069434"/>
            <a:ext cx="95646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Google Search 集成</a:t>
            </a:r>
            <a:endParaRPr lang="en-US" sz="800" dirty="0"/>
          </a:p>
        </p:txBody>
      </p:sp>
      <p:sp>
        <p:nvSpPr>
          <p:cNvPr id="72" name="Shape 55"/>
          <p:cNvSpPr/>
          <p:nvPr/>
        </p:nvSpPr>
        <p:spPr>
          <a:xfrm>
            <a:off x="647395" y="5587898"/>
            <a:ext cx="5210251" cy="256946"/>
          </a:xfrm>
          <a:prstGeom prst="roundRect">
            <a:avLst>
              <a:gd name="adj" fmla="val 52722"/>
            </a:avLst>
          </a:prstGeom>
          <a:solidFill>
            <a:srgbClr val="F1F5F9"/>
          </a:solidFill>
        </p:spPr>
      </p:sp>
      <p:sp>
        <p:nvSpPr>
          <p:cNvPr id="73" name="Text 56"/>
          <p:cNvSpPr txBox="1"/>
          <p:nvPr/>
        </p:nvSpPr>
        <p:spPr>
          <a:xfrm>
            <a:off x="724205" y="5632704"/>
            <a:ext cx="214701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适用：零预算项目、大文本分析、学生/教学</a:t>
            </a:r>
            <a:endParaRPr lang="en-US" sz="800" dirty="0"/>
          </a:p>
        </p:txBody>
      </p:sp>
      <p:sp>
        <p:nvSpPr>
          <p:cNvPr id="74" name="Shape 57"/>
          <p:cNvSpPr/>
          <p:nvPr/>
        </p:nvSpPr>
        <p:spPr>
          <a:xfrm>
            <a:off x="6172200" y="3518611"/>
            <a:ext cx="5562295" cy="2457907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5" name="Shape 58"/>
          <p:cNvSpPr/>
          <p:nvPr/>
        </p:nvSpPr>
        <p:spPr>
          <a:xfrm>
            <a:off x="6362395" y="4022446"/>
            <a:ext cx="5210251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6" name="Shape 59"/>
          <p:cNvSpPr/>
          <p:nvPr/>
        </p:nvSpPr>
        <p:spPr>
          <a:xfrm>
            <a:off x="6362395" y="365028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3E8FF"/>
          </a:solidFill>
        </p:spPr>
      </p:sp>
      <p:pic>
        <p:nvPicPr>
          <p:cNvPr id="77" name="Image 15" descr="preencoded.png"/>
          <p:cNvPicPr>
            <a:picLocks noChangeAspect="1"/>
          </p:cNvPicPr>
          <p:nvPr/>
        </p:nvPicPr>
        <p:blipFill>
          <a:blip r:embed="rId7"/>
          <a:srcRect l="-33" r="-33"/>
          <a:stretch>
            <a:fillRect/>
          </a:stretch>
        </p:blipFill>
        <p:spPr>
          <a:xfrm>
            <a:off x="6429146" y="3726180"/>
            <a:ext cx="171907" cy="152705"/>
          </a:xfrm>
          <a:prstGeom prst="rect">
            <a:avLst/>
          </a:prstGeom>
        </p:spPr>
      </p:pic>
      <p:sp>
        <p:nvSpPr>
          <p:cNvPr id="78" name="Text 60"/>
          <p:cNvSpPr txBox="1"/>
          <p:nvPr/>
        </p:nvSpPr>
        <p:spPr>
          <a:xfrm>
            <a:off x="6759245" y="3718865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Droid</a:t>
            </a:r>
            <a:endParaRPr lang="en-US" sz="1200" dirty="0"/>
          </a:p>
        </p:txBody>
      </p:sp>
      <p:sp>
        <p:nvSpPr>
          <p:cNvPr id="79" name="Shape 61"/>
          <p:cNvSpPr/>
          <p:nvPr/>
        </p:nvSpPr>
        <p:spPr>
          <a:xfrm>
            <a:off x="11166653" y="3756355"/>
            <a:ext cx="409651" cy="142646"/>
          </a:xfrm>
          <a:prstGeom prst="roundRect">
            <a:avLst>
              <a:gd name="adj" fmla="val 128205"/>
            </a:avLst>
          </a:prstGeom>
          <a:solidFill>
            <a:srgbClr val="F3E8FF"/>
          </a:solidFill>
        </p:spPr>
      </p:sp>
      <p:sp>
        <p:nvSpPr>
          <p:cNvPr id="80" name="Text 62"/>
          <p:cNvSpPr txBox="1"/>
          <p:nvPr/>
        </p:nvSpPr>
        <p:spPr>
          <a:xfrm>
            <a:off x="11205058" y="3766414"/>
            <a:ext cx="409651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E22C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Factory</a:t>
            </a:r>
            <a:endParaRPr lang="en-US" sz="800" dirty="0"/>
          </a:p>
        </p:txBody>
      </p:sp>
      <p:sp>
        <p:nvSpPr>
          <p:cNvPr id="81" name="Text 63"/>
          <p:cNvSpPr txBox="1"/>
          <p:nvPr/>
        </p:nvSpPr>
        <p:spPr>
          <a:xfrm>
            <a:off x="6362395" y="4101084"/>
            <a:ext cx="324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厂商</a:t>
            </a:r>
            <a:endParaRPr lang="en-US" sz="900" dirty="0"/>
          </a:p>
        </p:txBody>
      </p:sp>
      <p:sp>
        <p:nvSpPr>
          <p:cNvPr id="82" name="Text 64"/>
          <p:cNvSpPr txBox="1"/>
          <p:nvPr/>
        </p:nvSpPr>
        <p:spPr>
          <a:xfrm>
            <a:off x="11042294" y="4120286"/>
            <a:ext cx="6199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Factory AI</a:t>
            </a:r>
            <a:endParaRPr lang="en-US" sz="900" dirty="0"/>
          </a:p>
        </p:txBody>
      </p:sp>
      <p:sp>
        <p:nvSpPr>
          <p:cNvPr id="83" name="Text 65"/>
          <p:cNvSpPr txBox="1"/>
          <p:nvPr/>
        </p:nvSpPr>
        <p:spPr>
          <a:xfrm>
            <a:off x="6362395" y="4310482"/>
            <a:ext cx="324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价格</a:t>
            </a:r>
            <a:endParaRPr lang="en-US" sz="900" dirty="0"/>
          </a:p>
        </p:txBody>
      </p:sp>
      <p:sp>
        <p:nvSpPr>
          <p:cNvPr id="84" name="Text 66"/>
          <p:cNvSpPr txBox="1"/>
          <p:nvPr/>
        </p:nvSpPr>
        <p:spPr>
          <a:xfrm>
            <a:off x="10445191" y="4329684"/>
            <a:ext cx="12198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Subscription / API Key</a:t>
            </a:r>
            <a:endParaRPr lang="en-US" sz="900" dirty="0"/>
          </a:p>
        </p:txBody>
      </p:sp>
      <p:sp>
        <p:nvSpPr>
          <p:cNvPr id="85" name="Shape 67"/>
          <p:cNvSpPr/>
          <p:nvPr/>
        </p:nvSpPr>
        <p:spPr>
          <a:xfrm>
            <a:off x="6362395" y="4565599"/>
            <a:ext cx="5210251" cy="981151"/>
          </a:xfrm>
          <a:prstGeom prst="roundRect">
            <a:avLst>
              <a:gd name="adj" fmla="val 5429"/>
            </a:avLst>
          </a:prstGeom>
          <a:solidFill>
            <a:srgbClr val="F8FAFC"/>
          </a:solidFill>
        </p:spPr>
      </p:sp>
      <p:pic>
        <p:nvPicPr>
          <p:cNvPr id="86" name="Image 16" descr="preencoded.png"/>
          <p:cNvPicPr>
            <a:picLocks noChangeAspect="1"/>
          </p:cNvPicPr>
          <p:nvPr/>
        </p:nvPicPr>
        <p:blipFill>
          <a:blip r:embed="rId8"/>
          <a:srcRect l="-7143" r="-7143"/>
          <a:stretch>
            <a:fillRect/>
          </a:stretch>
        </p:blipFill>
        <p:spPr>
          <a:xfrm>
            <a:off x="6439205" y="4926787"/>
            <a:ext cx="95098" cy="95098"/>
          </a:xfrm>
          <a:prstGeom prst="rect">
            <a:avLst/>
          </a:prstGeom>
        </p:spPr>
      </p:pic>
      <p:sp>
        <p:nvSpPr>
          <p:cNvPr id="87" name="Text 68"/>
          <p:cNvSpPr txBox="1"/>
          <p:nvPr/>
        </p:nvSpPr>
        <p:spPr>
          <a:xfrm>
            <a:off x="6580022" y="4910328"/>
            <a:ext cx="82296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CI/CD 深度集成</a:t>
            </a:r>
            <a:endParaRPr lang="en-US" sz="800" dirty="0"/>
          </a:p>
        </p:txBody>
      </p:sp>
      <p:pic>
        <p:nvPicPr>
          <p:cNvPr id="88" name="Image 17" descr="preencoded.png"/>
          <p:cNvPicPr>
            <a:picLocks noChangeAspect="1"/>
          </p:cNvPicPr>
          <p:nvPr/>
        </p:nvPicPr>
        <p:blipFill>
          <a:blip r:embed="rId8"/>
          <a:srcRect l="-7143" r="-7143"/>
          <a:stretch>
            <a:fillRect/>
          </a:stretch>
        </p:blipFill>
        <p:spPr>
          <a:xfrm>
            <a:off x="9005926" y="4926787"/>
            <a:ext cx="95098" cy="95098"/>
          </a:xfrm>
          <a:prstGeom prst="rect">
            <a:avLst/>
          </a:prstGeom>
        </p:spPr>
      </p:pic>
      <p:sp>
        <p:nvSpPr>
          <p:cNvPr id="89" name="Text 69"/>
          <p:cNvSpPr txBox="1"/>
          <p:nvPr/>
        </p:nvSpPr>
        <p:spPr>
          <a:xfrm>
            <a:off x="9146743" y="4910328"/>
            <a:ext cx="83301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代码库安全隔离</a:t>
            </a:r>
            <a:endParaRPr lang="en-US" sz="800" dirty="0"/>
          </a:p>
        </p:txBody>
      </p:sp>
      <p:pic>
        <p:nvPicPr>
          <p:cNvPr id="90" name="Image 18" descr="preencoded.png"/>
          <p:cNvPicPr>
            <a:picLocks noChangeAspect="1"/>
          </p:cNvPicPr>
          <p:nvPr/>
        </p:nvPicPr>
        <p:blipFill>
          <a:blip r:embed="rId8"/>
          <a:srcRect l="-7143" r="-7143"/>
          <a:stretch>
            <a:fillRect/>
          </a:stretch>
        </p:blipFill>
        <p:spPr>
          <a:xfrm>
            <a:off x="6439205" y="5085893"/>
            <a:ext cx="95098" cy="95098"/>
          </a:xfrm>
          <a:prstGeom prst="rect">
            <a:avLst/>
          </a:prstGeom>
        </p:spPr>
      </p:pic>
      <p:sp>
        <p:nvSpPr>
          <p:cNvPr id="91" name="Text 70"/>
          <p:cNvSpPr txBox="1"/>
          <p:nvPr/>
        </p:nvSpPr>
        <p:spPr>
          <a:xfrm>
            <a:off x="6580022" y="5069434"/>
            <a:ext cx="93817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自动化任务流水线</a:t>
            </a:r>
            <a:endParaRPr lang="en-US" sz="800" dirty="0"/>
          </a:p>
        </p:txBody>
      </p:sp>
      <p:pic>
        <p:nvPicPr>
          <p:cNvPr id="92" name="Image 19" descr="preencoded.png"/>
          <p:cNvPicPr>
            <a:picLocks noChangeAspect="1"/>
          </p:cNvPicPr>
          <p:nvPr/>
        </p:nvPicPr>
        <p:blipFill>
          <a:blip r:embed="rId8"/>
          <a:srcRect l="-7143" r="-7143"/>
          <a:stretch>
            <a:fillRect/>
          </a:stretch>
        </p:blipFill>
        <p:spPr>
          <a:xfrm>
            <a:off x="9005926" y="5085893"/>
            <a:ext cx="95098" cy="95098"/>
          </a:xfrm>
          <a:prstGeom prst="rect">
            <a:avLst/>
          </a:prstGeom>
        </p:spPr>
      </p:pic>
      <p:sp>
        <p:nvSpPr>
          <p:cNvPr id="93" name="Text 71"/>
          <p:cNvSpPr txBox="1"/>
          <p:nvPr/>
        </p:nvSpPr>
        <p:spPr>
          <a:xfrm>
            <a:off x="9146743" y="5069434"/>
            <a:ext cx="83301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企业级合规控制</a:t>
            </a:r>
            <a:endParaRPr lang="en-US" sz="800" dirty="0"/>
          </a:p>
        </p:txBody>
      </p:sp>
      <p:sp>
        <p:nvSpPr>
          <p:cNvPr id="94" name="Shape 72"/>
          <p:cNvSpPr/>
          <p:nvPr/>
        </p:nvSpPr>
        <p:spPr>
          <a:xfrm>
            <a:off x="6362395" y="5587898"/>
            <a:ext cx="5210251" cy="256946"/>
          </a:xfrm>
          <a:prstGeom prst="roundRect">
            <a:avLst>
              <a:gd name="adj" fmla="val 52722"/>
            </a:avLst>
          </a:prstGeom>
          <a:solidFill>
            <a:srgbClr val="F1F5F9"/>
          </a:solidFill>
        </p:spPr>
      </p:sp>
      <p:sp>
        <p:nvSpPr>
          <p:cNvPr id="95" name="Text 73"/>
          <p:cNvSpPr txBox="1"/>
          <p:nvPr/>
        </p:nvSpPr>
        <p:spPr>
          <a:xfrm>
            <a:off x="6439205" y="5632704"/>
            <a:ext cx="206197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适用：企业DevOps自动化、批量代码重构</a:t>
            </a:r>
            <a:endParaRPr lang="en-US" sz="800" dirty="0"/>
          </a:p>
        </p:txBody>
      </p:sp>
      <p:sp>
        <p:nvSpPr>
          <p:cNvPr id="96" name="Shape 74"/>
          <p:cNvSpPr/>
          <p:nvPr/>
        </p:nvSpPr>
        <p:spPr>
          <a:xfrm>
            <a:off x="457200" y="6084418"/>
            <a:ext cx="11277295" cy="552298"/>
          </a:xfrm>
          <a:prstGeom prst="roundRect">
            <a:avLst>
              <a:gd name="adj" fmla="val 2283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97" name="Image 20" descr="preencoded.png"/>
          <p:cNvPicPr>
            <a:picLocks noChangeAspect="1"/>
          </p:cNvPicPr>
          <p:nvPr/>
        </p:nvPicPr>
        <p:blipFill>
          <a:blip r:embed="rId9"/>
          <a:srcRect t="-842" b="-842"/>
          <a:stretch>
            <a:fillRect/>
          </a:stretch>
        </p:blipFill>
        <p:spPr>
          <a:xfrm>
            <a:off x="619049" y="6270955"/>
            <a:ext cx="190195" cy="171907"/>
          </a:xfrm>
          <a:prstGeom prst="rect">
            <a:avLst/>
          </a:prstGeom>
        </p:spPr>
      </p:pic>
      <p:sp>
        <p:nvSpPr>
          <p:cNvPr id="98" name="Text 75"/>
          <p:cNvSpPr txBox="1"/>
          <p:nvPr/>
        </p:nvSpPr>
        <p:spPr>
          <a:xfrm>
            <a:off x="923544" y="6170371"/>
            <a:ext cx="2359152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80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CLI工具核心价值：管道式工作流与自动化</a:t>
            </a:r>
            <a:endParaRPr lang="en-US" sz="900" dirty="0"/>
          </a:p>
        </p:txBody>
      </p:sp>
      <p:sp>
        <p:nvSpPr>
          <p:cNvPr id="99" name="Text 76"/>
          <p:cNvSpPr txBox="1"/>
          <p:nvPr/>
        </p:nvSpPr>
        <p:spPr>
          <a:xfrm>
            <a:off x="923544" y="6400800"/>
            <a:ext cx="49057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65F4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不同于IDE的交互式编程，CLI工具可编排进Shell脚本，实现"无人值守"的数据清洗与代码生成。</a:t>
            </a:r>
            <a:endParaRPr lang="en-US" sz="900" dirty="0"/>
          </a:p>
        </p:txBody>
      </p:sp>
      <p:sp>
        <p:nvSpPr>
          <p:cNvPr id="100" name="Shape 77"/>
          <p:cNvSpPr/>
          <p:nvPr/>
        </p:nvSpPr>
        <p:spPr>
          <a:xfrm>
            <a:off x="8238744" y="6233465"/>
            <a:ext cx="3343046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1" name="Text 78"/>
          <p:cNvSpPr txBox="1"/>
          <p:nvPr/>
        </p:nvSpPr>
        <p:spPr>
          <a:xfrm>
            <a:off x="8362188" y="6290158"/>
            <a:ext cx="31821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478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gemini "refactor this" &lt; main.py &gt; main_v2.py</a:t>
            </a:r>
            <a:endParaRPr lang="en-US" sz="900" dirty="0"/>
          </a:p>
        </p:txBody>
      </p:sp>
      <p:sp>
        <p:nvSpPr>
          <p:cNvPr id="102" name="Shape 7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3" name="Shape 80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4" name="Text 81"/>
          <p:cNvSpPr txBox="1"/>
          <p:nvPr/>
        </p:nvSpPr>
        <p:spPr>
          <a:xfrm>
            <a:off x="609905" y="6567221"/>
            <a:ext cx="13533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AI驱动科研编程实战指南</a:t>
            </a:r>
            <a:endParaRPr lang="en-US" sz="900" dirty="0"/>
          </a:p>
        </p:txBody>
      </p:sp>
      <p:sp>
        <p:nvSpPr>
          <p:cNvPr id="105" name="Text 82"/>
          <p:cNvSpPr txBox="1"/>
          <p:nvPr/>
        </p:nvSpPr>
        <p:spPr>
          <a:xfrm>
            <a:off x="11445545" y="6567221"/>
            <a:ext cx="2286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2540203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2.4 云平台快速对比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4612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560674" y="295351"/>
            <a:ext cx="30102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Replit / bolt.new / Lovable / Orchids 特点解析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5544007" cy="2381098"/>
          </a:xfrm>
          <a:prstGeom prst="roundRect">
            <a:avLst>
              <a:gd name="adj" fmla="val 1536"/>
            </a:avLst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7454" y="117134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FF7ED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28777" y="1266444"/>
            <a:ext cx="237744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52144" y="1259129"/>
            <a:ext cx="59893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Replit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108753" y="1251814"/>
            <a:ext cx="694944" cy="228600"/>
          </a:xfrm>
          <a:prstGeom prst="roundRect">
            <a:avLst>
              <a:gd name="adj" fmla="val 400000"/>
            </a:avLst>
          </a:prstGeom>
          <a:solidFill>
            <a:srgbClr val="F1F5F9"/>
          </a:solidFill>
        </p:spPr>
      </p:sp>
      <p:sp>
        <p:nvSpPr>
          <p:cNvPr id="13" name="Text 10"/>
          <p:cNvSpPr txBox="1"/>
          <p:nvPr/>
        </p:nvSpPr>
        <p:spPr>
          <a:xfrm>
            <a:off x="5200193" y="1301191"/>
            <a:ext cx="59436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免费 / 付费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57454" y="2053742"/>
            <a:ext cx="5143500" cy="875995"/>
          </a:xfrm>
          <a:prstGeom prst="roundRect">
            <a:avLst>
              <a:gd name="adj" fmla="val 680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 l="-16743" r="-16743"/>
          <a:stretch>
            <a:fillRect/>
          </a:stretch>
        </p:blipFill>
        <p:spPr>
          <a:xfrm>
            <a:off x="780898" y="2208276"/>
            <a:ext cx="133502" cy="1143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90295" y="2187245"/>
            <a:ext cx="17455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浏览器IDE，零环境配置门槛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2"/>
          <a:srcRect l="-16743" r="-16743"/>
          <a:stretch>
            <a:fillRect/>
          </a:stretch>
        </p:blipFill>
        <p:spPr>
          <a:xfrm>
            <a:off x="780898" y="2437790"/>
            <a:ext cx="133502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90295" y="2416759"/>
            <a:ext cx="23362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多人实时协作编辑（类似Google Docs）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rcRect l="-16743" r="-16743"/>
          <a:stretch>
            <a:fillRect/>
          </a:stretch>
        </p:blipFill>
        <p:spPr>
          <a:xfrm>
            <a:off x="780898" y="2667305"/>
            <a:ext cx="133502" cy="1143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90295" y="2646274"/>
            <a:ext cx="15261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内置托管，一键部署应用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657454" y="3062326"/>
            <a:ext cx="50932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适用场景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1159459" y="3053182"/>
            <a:ext cx="23966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教学演示、快速原型验证、Python脚本分享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191402" y="990295"/>
            <a:ext cx="5544007" cy="2381098"/>
          </a:xfrm>
          <a:prstGeom prst="roundRect">
            <a:avLst>
              <a:gd name="adj" fmla="val 1536"/>
            </a:avLst>
          </a:prstGeom>
          <a:solidFill>
            <a:srgbClr val="FFFFFF"/>
          </a:solidFill>
          <a:ln w="38100">
            <a:solidFill>
              <a:srgbClr val="0EA5E9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391656" y="117134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0F2FE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rcRect l="-1648" r="-1648"/>
          <a:stretch>
            <a:fillRect/>
          </a:stretch>
        </p:blipFill>
        <p:spPr>
          <a:xfrm>
            <a:off x="6495898" y="1266444"/>
            <a:ext cx="171907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886346" y="1259129"/>
            <a:ext cx="76992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bolt.new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10842955" y="1251814"/>
            <a:ext cx="694944" cy="228600"/>
          </a:xfrm>
          <a:prstGeom prst="roundRect">
            <a:avLst>
              <a:gd name="adj" fmla="val 400000"/>
            </a:avLst>
          </a:prstGeom>
          <a:solidFill>
            <a:srgbClr val="F1F5F9"/>
          </a:solidFill>
        </p:spPr>
      </p:sp>
      <p:sp>
        <p:nvSpPr>
          <p:cNvPr id="28" name="Text 21"/>
          <p:cNvSpPr txBox="1"/>
          <p:nvPr/>
        </p:nvSpPr>
        <p:spPr>
          <a:xfrm>
            <a:off x="10934395" y="1301191"/>
            <a:ext cx="59436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免费 / 付费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6391656" y="2053742"/>
            <a:ext cx="5143500" cy="875995"/>
          </a:xfrm>
          <a:prstGeom prst="roundRect">
            <a:avLst>
              <a:gd name="adj" fmla="val 680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rcRect l="-16743" r="-16743"/>
          <a:stretch>
            <a:fillRect/>
          </a:stretch>
        </p:blipFill>
        <p:spPr>
          <a:xfrm>
            <a:off x="6515100" y="2208276"/>
            <a:ext cx="133502" cy="1143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724498" y="2187245"/>
            <a:ext cx="23170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现代全栈开发环境，基于WebContainers</a:t>
            </a:r>
            <a:endParaRPr lang="en-US" sz="10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4"/>
          <a:srcRect l="-16743" r="-16743"/>
          <a:stretch>
            <a:fillRect/>
          </a:stretch>
        </p:blipFill>
        <p:spPr>
          <a:xfrm>
            <a:off x="6515100" y="2437790"/>
            <a:ext cx="133502" cy="1143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724498" y="2416759"/>
            <a:ext cx="21835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极速启动，浏览器内直接运行Node.js</a:t>
            </a:r>
            <a:endParaRPr lang="en-US" sz="10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rcRect l="-16743" r="-16743"/>
          <a:stretch>
            <a:fillRect/>
          </a:stretch>
        </p:blipFill>
        <p:spPr>
          <a:xfrm>
            <a:off x="6515100" y="2667305"/>
            <a:ext cx="133502" cy="11430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724498" y="2646274"/>
            <a:ext cx="19165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实时预览与热重载，所见即所得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6391656" y="3062326"/>
            <a:ext cx="50932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适用场景</a:t>
            </a:r>
            <a:endParaRPr lang="en-US" sz="800" dirty="0"/>
          </a:p>
        </p:txBody>
      </p:sp>
      <p:sp>
        <p:nvSpPr>
          <p:cNvPr id="37" name="Text 27"/>
          <p:cNvSpPr txBox="1"/>
          <p:nvPr/>
        </p:nvSpPr>
        <p:spPr>
          <a:xfrm>
            <a:off x="6893662" y="3053182"/>
            <a:ext cx="232074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Web应用开发、前端Demo展示、全栈项目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457200" y="3556102"/>
            <a:ext cx="5544007" cy="2381098"/>
          </a:xfrm>
          <a:prstGeom prst="roundRect">
            <a:avLst>
              <a:gd name="adj" fmla="val 1536"/>
            </a:avLst>
          </a:prstGeom>
          <a:solidFill>
            <a:srgbClr val="FFFFFF"/>
          </a:solidFill>
          <a:ln w="38100">
            <a:solidFill>
              <a:srgbClr val="EC4899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657454" y="373623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CE7F3"/>
          </a:solidFill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52551" y="3832250"/>
            <a:ext cx="190195" cy="19019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1152144" y="3824021"/>
            <a:ext cx="74157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Lovable</a:t>
            </a:r>
            <a:endParaRPr lang="en-US" sz="1300" dirty="0"/>
          </a:p>
        </p:txBody>
      </p:sp>
      <p:sp>
        <p:nvSpPr>
          <p:cNvPr id="42" name="Shape 31"/>
          <p:cNvSpPr/>
          <p:nvPr/>
        </p:nvSpPr>
        <p:spPr>
          <a:xfrm>
            <a:off x="5321808" y="3816706"/>
            <a:ext cx="485546" cy="228600"/>
          </a:xfrm>
          <a:prstGeom prst="roundRect">
            <a:avLst>
              <a:gd name="adj" fmla="val 400000"/>
            </a:avLst>
          </a:prstGeom>
          <a:solidFill>
            <a:srgbClr val="F1F5F9"/>
          </a:solidFill>
        </p:spPr>
      </p:sp>
      <p:sp>
        <p:nvSpPr>
          <p:cNvPr id="43" name="Text 32"/>
          <p:cNvSpPr txBox="1"/>
          <p:nvPr/>
        </p:nvSpPr>
        <p:spPr>
          <a:xfrm>
            <a:off x="5413248" y="3866083"/>
            <a:ext cx="38496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$20/月</a:t>
            </a:r>
            <a:endParaRPr lang="en-US" sz="800" dirty="0"/>
          </a:p>
        </p:txBody>
      </p:sp>
      <p:sp>
        <p:nvSpPr>
          <p:cNvPr id="44" name="Shape 33"/>
          <p:cNvSpPr/>
          <p:nvPr/>
        </p:nvSpPr>
        <p:spPr>
          <a:xfrm>
            <a:off x="657454" y="4619549"/>
            <a:ext cx="5143500" cy="875995"/>
          </a:xfrm>
          <a:prstGeom prst="roundRect">
            <a:avLst>
              <a:gd name="adj" fmla="val 680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6"/>
          <a:srcRect l="-16743" r="-16743"/>
          <a:stretch>
            <a:fillRect/>
          </a:stretch>
        </p:blipFill>
        <p:spPr>
          <a:xfrm>
            <a:off x="780898" y="4773168"/>
            <a:ext cx="133502" cy="114300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990295" y="4752137"/>
            <a:ext cx="23070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全栈应用自动生成，关注产品而非代码</a:t>
            </a:r>
            <a:endParaRPr lang="en-US" sz="10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6"/>
          <a:srcRect l="-16743" r="-16743"/>
          <a:stretch>
            <a:fillRect/>
          </a:stretch>
        </p:blipFill>
        <p:spPr>
          <a:xfrm>
            <a:off x="780898" y="5002682"/>
            <a:ext cx="133502" cy="114300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990295" y="4981651"/>
            <a:ext cx="17931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设计友好，生成的UI美观度高</a:t>
            </a:r>
            <a:endParaRPr lang="en-US" sz="100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6"/>
          <a:srcRect l="-16743" r="-16743"/>
          <a:stretch>
            <a:fillRect/>
          </a:stretch>
        </p:blipFill>
        <p:spPr>
          <a:xfrm>
            <a:off x="780898" y="5232197"/>
            <a:ext cx="133502" cy="114300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990295" y="5211166"/>
            <a:ext cx="20409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集成数据库与后端逻辑，开箱即用</a:t>
            </a:r>
            <a:endParaRPr lang="en-US" sz="1000" dirty="0"/>
          </a:p>
        </p:txBody>
      </p:sp>
      <p:sp>
        <p:nvSpPr>
          <p:cNvPr id="51" name="Text 37"/>
          <p:cNvSpPr txBox="1"/>
          <p:nvPr/>
        </p:nvSpPr>
        <p:spPr>
          <a:xfrm>
            <a:off x="657454" y="5627218"/>
            <a:ext cx="50932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适用场景</a:t>
            </a:r>
            <a:endParaRPr lang="en-US" sz="800" dirty="0"/>
          </a:p>
        </p:txBody>
      </p:sp>
      <p:sp>
        <p:nvSpPr>
          <p:cNvPr id="52" name="Text 38"/>
          <p:cNvSpPr txBox="1"/>
          <p:nvPr/>
        </p:nvSpPr>
        <p:spPr>
          <a:xfrm>
            <a:off x="1159459" y="5618074"/>
            <a:ext cx="25109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快速产品验证(MVP)、非技术创业、工具搭建</a:t>
            </a:r>
            <a:endParaRPr lang="en-US" sz="900" dirty="0"/>
          </a:p>
        </p:txBody>
      </p:sp>
      <p:sp>
        <p:nvSpPr>
          <p:cNvPr id="53" name="Shape 39"/>
          <p:cNvSpPr/>
          <p:nvPr/>
        </p:nvSpPr>
        <p:spPr>
          <a:xfrm>
            <a:off x="6191402" y="3556102"/>
            <a:ext cx="5544007" cy="2381098"/>
          </a:xfrm>
          <a:prstGeom prst="roundRect">
            <a:avLst>
              <a:gd name="adj" fmla="val 1536"/>
            </a:avLst>
          </a:prstGeom>
          <a:solidFill>
            <a:srgbClr val="FFFFFF"/>
          </a:solidFill>
          <a:ln w="38100">
            <a:solidFill>
              <a:srgbClr val="8B5CF6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4" name="Shape 40"/>
          <p:cNvSpPr/>
          <p:nvPr/>
        </p:nvSpPr>
        <p:spPr>
          <a:xfrm>
            <a:off x="6391656" y="373623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3E8FF"/>
          </a:solidFill>
        </p:spPr>
      </p:sp>
      <p:sp>
        <p:nvSpPr>
          <p:cNvPr id="55" name="Text 41"/>
          <p:cNvSpPr txBox="1"/>
          <p:nvPr/>
        </p:nvSpPr>
        <p:spPr>
          <a:xfrm>
            <a:off x="6886346" y="3824021"/>
            <a:ext cx="74157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Orchids</a:t>
            </a:r>
            <a:endParaRPr lang="en-US" sz="1300" dirty="0"/>
          </a:p>
        </p:txBody>
      </p:sp>
      <p:sp>
        <p:nvSpPr>
          <p:cNvPr id="56" name="Shape 42"/>
          <p:cNvSpPr/>
          <p:nvPr/>
        </p:nvSpPr>
        <p:spPr>
          <a:xfrm>
            <a:off x="10925251" y="3816706"/>
            <a:ext cx="609905" cy="228600"/>
          </a:xfrm>
          <a:prstGeom prst="roundRect">
            <a:avLst>
              <a:gd name="adj" fmla="val 400000"/>
            </a:avLst>
          </a:prstGeom>
          <a:solidFill>
            <a:srgbClr val="F1F5F9"/>
          </a:solidFill>
        </p:spPr>
      </p:sp>
      <p:sp>
        <p:nvSpPr>
          <p:cNvPr id="57" name="Text 43"/>
          <p:cNvSpPr txBox="1"/>
          <p:nvPr/>
        </p:nvSpPr>
        <p:spPr>
          <a:xfrm>
            <a:off x="11016691" y="3866083"/>
            <a:ext cx="50932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免费试用</a:t>
            </a:r>
            <a:endParaRPr lang="en-US" sz="800" dirty="0"/>
          </a:p>
        </p:txBody>
      </p:sp>
      <p:sp>
        <p:nvSpPr>
          <p:cNvPr id="58" name="Shape 44"/>
          <p:cNvSpPr/>
          <p:nvPr/>
        </p:nvSpPr>
        <p:spPr>
          <a:xfrm>
            <a:off x="6391656" y="4619549"/>
            <a:ext cx="5143500" cy="875995"/>
          </a:xfrm>
          <a:prstGeom prst="roundRect">
            <a:avLst>
              <a:gd name="adj" fmla="val 680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7"/>
          <a:srcRect l="-16743" r="-16743"/>
          <a:stretch>
            <a:fillRect/>
          </a:stretch>
        </p:blipFill>
        <p:spPr>
          <a:xfrm>
            <a:off x="6515100" y="4773168"/>
            <a:ext cx="133502" cy="114300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6724498" y="4752137"/>
            <a:ext cx="22887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UI Bench评分第一，界面生成能力极强</a:t>
            </a:r>
            <a:endParaRPr lang="en-US" sz="1000" dirty="0"/>
          </a:p>
        </p:txBody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7"/>
          <a:srcRect l="-16743" r="-16743"/>
          <a:stretch>
            <a:fillRect/>
          </a:stretch>
        </p:blipFill>
        <p:spPr>
          <a:xfrm>
            <a:off x="6515100" y="5002682"/>
            <a:ext cx="133502" cy="114300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6724498" y="4981651"/>
            <a:ext cx="16596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专注于复杂交互界面的构建</a:t>
            </a:r>
            <a:endParaRPr lang="en-US" sz="1000" dirty="0"/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7"/>
          <a:srcRect l="-16743" r="-16743"/>
          <a:stretch>
            <a:fillRect/>
          </a:stretch>
        </p:blipFill>
        <p:spPr>
          <a:xfrm>
            <a:off x="6515100" y="5232197"/>
            <a:ext cx="133502" cy="114300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6724498" y="5211166"/>
            <a:ext cx="19165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科研工具可视化界面的最佳选择</a:t>
            </a:r>
            <a:endParaRPr lang="en-US" sz="1000" dirty="0"/>
          </a:p>
        </p:txBody>
      </p:sp>
      <p:sp>
        <p:nvSpPr>
          <p:cNvPr id="65" name="Text 48"/>
          <p:cNvSpPr txBox="1"/>
          <p:nvPr/>
        </p:nvSpPr>
        <p:spPr>
          <a:xfrm>
            <a:off x="6391656" y="5627218"/>
            <a:ext cx="50932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适用场景</a:t>
            </a:r>
            <a:endParaRPr lang="en-US" sz="800" dirty="0"/>
          </a:p>
        </p:txBody>
      </p:sp>
      <p:sp>
        <p:nvSpPr>
          <p:cNvPr id="66" name="Text 49"/>
          <p:cNvSpPr txBox="1"/>
          <p:nvPr/>
        </p:nvSpPr>
        <p:spPr>
          <a:xfrm>
            <a:off x="6893662" y="5618074"/>
            <a:ext cx="24158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科研数据看板、实验控制面板、复杂UI设计</a:t>
            </a:r>
            <a:endParaRPr lang="en-US" sz="900" dirty="0"/>
          </a:p>
        </p:txBody>
      </p:sp>
      <p:sp>
        <p:nvSpPr>
          <p:cNvPr id="67" name="Shape 50"/>
          <p:cNvSpPr/>
          <p:nvPr/>
        </p:nvSpPr>
        <p:spPr>
          <a:xfrm>
            <a:off x="457200" y="6082589"/>
            <a:ext cx="11277295" cy="552298"/>
          </a:xfrm>
          <a:prstGeom prst="roundRect">
            <a:avLst>
              <a:gd name="adj" fmla="val 22836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68" name="Image 15" descr="preencoded.png"/>
          <p:cNvPicPr>
            <a:picLocks noChangeAspect="1"/>
          </p:cNvPicPr>
          <p:nvPr/>
        </p:nvPicPr>
        <p:blipFill>
          <a:blip r:embed="rId8"/>
          <a:srcRect l="-1064" r="-1064"/>
          <a:stretch>
            <a:fillRect/>
          </a:stretch>
        </p:blipFill>
        <p:spPr>
          <a:xfrm>
            <a:off x="619049" y="6270041"/>
            <a:ext cx="219456" cy="171907"/>
          </a:xfrm>
          <a:prstGeom prst="rect">
            <a:avLst/>
          </a:prstGeom>
        </p:spPr>
      </p:pic>
      <p:sp>
        <p:nvSpPr>
          <p:cNvPr id="69" name="Text 51"/>
          <p:cNvSpPr txBox="1"/>
          <p:nvPr/>
        </p:nvSpPr>
        <p:spPr>
          <a:xfrm>
            <a:off x="952805" y="6187745"/>
            <a:ext cx="36027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云平台优势：无需本地环境配置，极其适合跨设备工作与教学</a:t>
            </a:r>
            <a:endParaRPr lang="en-US" sz="1000" dirty="0"/>
          </a:p>
        </p:txBody>
      </p:sp>
      <p:sp>
        <p:nvSpPr>
          <p:cNvPr id="70" name="Text 52"/>
          <p:cNvSpPr txBox="1"/>
          <p:nvPr/>
        </p:nvSpPr>
        <p:spPr>
          <a:xfrm>
            <a:off x="952805" y="6400800"/>
            <a:ext cx="66111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提示：云平台通常依赖稳定的网络连接，处理大规模本地数据（如GB级影像）时可能存在上传下载瓶颈，建议搭配本地IDE使用。</a:t>
            </a:r>
            <a:endParaRPr lang="en-US" sz="900" dirty="0"/>
          </a:p>
        </p:txBody>
      </p:sp>
      <p:sp>
        <p:nvSpPr>
          <p:cNvPr id="71" name="Shape 5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2" name="Shape 54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73" name="Text 55"/>
          <p:cNvSpPr txBox="1"/>
          <p:nvPr/>
        </p:nvSpPr>
        <p:spPr>
          <a:xfrm>
            <a:off x="609905" y="6558077"/>
            <a:ext cx="157642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AI驱动科研编程实战指南</a:t>
            </a:r>
            <a:endParaRPr lang="en-US" sz="1000" dirty="0"/>
          </a:p>
        </p:txBody>
      </p:sp>
      <p:sp>
        <p:nvSpPr>
          <p:cNvPr id="74" name="Text 56"/>
          <p:cNvSpPr txBox="1"/>
          <p:nvPr/>
        </p:nvSpPr>
        <p:spPr>
          <a:xfrm>
            <a:off x="11449202" y="6558077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457200" y="184709"/>
            <a:ext cx="3797503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2.3 工具选择决策树 (2025版)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348886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662526" y="295351"/>
            <a:ext cx="35341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Strategies for Tool Selection: Budget × Scenario × Skill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90395" y="1623974"/>
            <a:ext cx="9944100" cy="109545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4695" y="1747418"/>
            <a:ext cx="2343607" cy="84764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04695" y="1747418"/>
            <a:ext cx="38405" cy="847649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57400" y="1929384"/>
            <a:ext cx="114300" cy="1143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232965" y="1894637"/>
            <a:ext cx="46360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零预算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057400" y="2100377"/>
            <a:ext cx="2076602" cy="209398"/>
          </a:xfrm>
          <a:prstGeom prst="roundRect">
            <a:avLst>
              <a:gd name="adj" fmla="val 79396"/>
            </a:avLst>
          </a:prstGeom>
          <a:solidFill>
            <a:srgbClr val="F8FAFC"/>
          </a:solidFill>
        </p:spPr>
      </p:sp>
      <p:sp>
        <p:nvSpPr>
          <p:cNvPr id="14" name="Text 11"/>
          <p:cNvSpPr txBox="1"/>
          <p:nvPr/>
        </p:nvSpPr>
        <p:spPr>
          <a:xfrm>
            <a:off x="2118665" y="2123237"/>
            <a:ext cx="11356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Antigravity + Trae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057400" y="2315261"/>
            <a:ext cx="14008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Google与字节提供的免费神器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359859" y="1747418"/>
            <a:ext cx="2343607" cy="84764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59859" y="1747418"/>
            <a:ext cx="38405" cy="847649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8" name="Text 15"/>
          <p:cNvSpPr txBox="1"/>
          <p:nvPr/>
        </p:nvSpPr>
        <p:spPr>
          <a:xfrm>
            <a:off x="4512564" y="1894637"/>
            <a:ext cx="77724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低预算 &lt;$20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12564" y="2100377"/>
            <a:ext cx="2076602" cy="209398"/>
          </a:xfrm>
          <a:prstGeom prst="roundRect">
            <a:avLst>
              <a:gd name="adj" fmla="val 79396"/>
            </a:avLst>
          </a:prstGeom>
          <a:solidFill>
            <a:srgbClr val="F8FAFC"/>
          </a:solidFill>
        </p:spPr>
      </p:sp>
      <p:sp>
        <p:nvSpPr>
          <p:cNvPr id="20" name="Text 17"/>
          <p:cNvSpPr txBox="1"/>
          <p:nvPr/>
        </p:nvSpPr>
        <p:spPr>
          <a:xfrm>
            <a:off x="4572914" y="2123237"/>
            <a:ext cx="9454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Windsurf ($15)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512564" y="2315261"/>
            <a:ext cx="14008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Cascade Flow带来极高性价比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815023" y="1747418"/>
            <a:ext cx="2343607" cy="84764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15023" y="1747418"/>
            <a:ext cx="38405" cy="847649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4" name="Text 21"/>
          <p:cNvSpPr txBox="1"/>
          <p:nvPr/>
        </p:nvSpPr>
        <p:spPr>
          <a:xfrm>
            <a:off x="6967728" y="1894637"/>
            <a:ext cx="76809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 $20-40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967728" y="2100377"/>
            <a:ext cx="2076602" cy="209398"/>
          </a:xfrm>
          <a:prstGeom prst="roundRect">
            <a:avLst>
              <a:gd name="adj" fmla="val 79396"/>
            </a:avLst>
          </a:prstGeom>
          <a:solidFill>
            <a:srgbClr val="F8FAFC"/>
          </a:solidFill>
        </p:spPr>
      </p:sp>
      <p:sp>
        <p:nvSpPr>
          <p:cNvPr id="26" name="Text 23"/>
          <p:cNvSpPr txBox="1"/>
          <p:nvPr/>
        </p:nvSpPr>
        <p:spPr>
          <a:xfrm>
            <a:off x="7028078" y="2123237"/>
            <a:ext cx="10405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Cursor Pro ($20)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967728" y="2315261"/>
            <a:ext cx="11722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最成熟IDE + 免费强力CLI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9270187" y="1747418"/>
            <a:ext cx="2343607" cy="84764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270187" y="1747418"/>
            <a:ext cx="38405" cy="847649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0" name="Text 27"/>
          <p:cNvSpPr txBox="1"/>
          <p:nvPr/>
        </p:nvSpPr>
        <p:spPr>
          <a:xfrm>
            <a:off x="9422892" y="1894637"/>
            <a:ext cx="7296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高端 $100+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422892" y="2100377"/>
            <a:ext cx="2076602" cy="209398"/>
          </a:xfrm>
          <a:prstGeom prst="roundRect">
            <a:avLst>
              <a:gd name="adj" fmla="val 79396"/>
            </a:avLst>
          </a:prstGeom>
          <a:solidFill>
            <a:srgbClr val="F8FAFC"/>
          </a:solidFill>
        </p:spPr>
      </p:sp>
      <p:sp>
        <p:nvSpPr>
          <p:cNvPr id="32" name="Text 29"/>
          <p:cNvSpPr txBox="1"/>
          <p:nvPr/>
        </p:nvSpPr>
        <p:spPr>
          <a:xfrm>
            <a:off x="9483242" y="2123237"/>
            <a:ext cx="9738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Augment / Kiro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422892" y="2315261"/>
            <a:ext cx="12673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极致上下文与规范驱动开发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1790395" y="2872130"/>
            <a:ext cx="9944100" cy="109545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904695" y="2995574"/>
            <a:ext cx="2343607" cy="84764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904695" y="2995574"/>
            <a:ext cx="38405" cy="847649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7" name="Text 34"/>
          <p:cNvSpPr txBox="1"/>
          <p:nvPr/>
        </p:nvSpPr>
        <p:spPr>
          <a:xfrm>
            <a:off x="2057400" y="3142793"/>
            <a:ext cx="124449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数据脚本 &lt;500 Lines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057400" y="3348533"/>
            <a:ext cx="2076602" cy="209398"/>
          </a:xfrm>
          <a:prstGeom prst="roundRect">
            <a:avLst>
              <a:gd name="adj" fmla="val 79396"/>
            </a:avLst>
          </a:prstGeom>
          <a:solidFill>
            <a:srgbClr val="F8FAFC"/>
          </a:solidFill>
        </p:spPr>
      </p:sp>
      <p:sp>
        <p:nvSpPr>
          <p:cNvPr id="39" name="Text 36"/>
          <p:cNvSpPr txBox="1"/>
          <p:nvPr/>
        </p:nvSpPr>
        <p:spPr>
          <a:xfrm>
            <a:off x="2118665" y="3371393"/>
            <a:ext cx="10689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Cursor + Jupyter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2057400" y="3562502"/>
            <a:ext cx="10671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交互式分析的最佳拍档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359859" y="2995574"/>
            <a:ext cx="2343607" cy="84764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359859" y="2995574"/>
            <a:ext cx="38405" cy="847649"/>
          </a:xfrm>
          <a:prstGeom prst="rect">
            <a:avLst/>
          </a:prstGeom>
          <a:solidFill>
            <a:srgbClr val="6366F1"/>
          </a:solidFill>
        </p:spPr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2"/>
          <a:srcRect t="-80" b="-80"/>
          <a:stretch>
            <a:fillRect/>
          </a:stretch>
        </p:blipFill>
        <p:spPr>
          <a:xfrm>
            <a:off x="4512564" y="3176626"/>
            <a:ext cx="142646" cy="114300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4716475" y="3142793"/>
            <a:ext cx="58704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中型项目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4512564" y="3348533"/>
            <a:ext cx="2076602" cy="209398"/>
          </a:xfrm>
          <a:prstGeom prst="roundRect">
            <a:avLst>
              <a:gd name="adj" fmla="val 79396"/>
            </a:avLst>
          </a:prstGeom>
          <a:solidFill>
            <a:srgbClr val="F8FAFC"/>
          </a:solidFill>
        </p:spPr>
      </p:sp>
      <p:sp>
        <p:nvSpPr>
          <p:cNvPr id="46" name="Text 42"/>
          <p:cNvSpPr txBox="1"/>
          <p:nvPr/>
        </p:nvSpPr>
        <p:spPr>
          <a:xfrm>
            <a:off x="4572914" y="3371393"/>
            <a:ext cx="9829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Windsurf / Trae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4512564" y="3562502"/>
            <a:ext cx="10671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平衡上下文理解与成本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6815023" y="2995574"/>
            <a:ext cx="2343607" cy="84764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6815023" y="2995574"/>
            <a:ext cx="38405" cy="847649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50" name="Text 46"/>
          <p:cNvSpPr txBox="1"/>
          <p:nvPr/>
        </p:nvSpPr>
        <p:spPr>
          <a:xfrm>
            <a:off x="6967728" y="3142793"/>
            <a:ext cx="132039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大型系统 &gt;2000 Lines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6967728" y="3348533"/>
            <a:ext cx="2076602" cy="209398"/>
          </a:xfrm>
          <a:prstGeom prst="roundRect">
            <a:avLst>
              <a:gd name="adj" fmla="val 79396"/>
            </a:avLst>
          </a:prstGeom>
          <a:solidFill>
            <a:srgbClr val="F8FAFC"/>
          </a:solidFill>
        </p:spPr>
      </p:sp>
      <p:sp>
        <p:nvSpPr>
          <p:cNvPr id="52" name="Text 48"/>
          <p:cNvSpPr txBox="1"/>
          <p:nvPr/>
        </p:nvSpPr>
        <p:spPr>
          <a:xfrm>
            <a:off x="7028078" y="3371393"/>
            <a:ext cx="9738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Augment / Kiro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6967728" y="3562502"/>
            <a:ext cx="12673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超大上下文引擎或规范驱动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9270187" y="2995574"/>
            <a:ext cx="2343607" cy="84764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9270187" y="2995574"/>
            <a:ext cx="38405" cy="847649"/>
          </a:xfrm>
          <a:prstGeom prst="rect">
            <a:avLst/>
          </a:prstGeom>
          <a:solidFill>
            <a:srgbClr val="F43F5E"/>
          </a:solidFill>
        </p:spPr>
      </p:sp>
      <p:pic>
        <p:nvPicPr>
          <p:cNvPr id="5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422892" y="3176626"/>
            <a:ext cx="114300" cy="114300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9597542" y="3142793"/>
            <a:ext cx="58704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算法研究</a:t>
            </a:r>
            <a:endParaRPr lang="en-US" sz="900" dirty="0"/>
          </a:p>
        </p:txBody>
      </p:sp>
      <p:sp>
        <p:nvSpPr>
          <p:cNvPr id="58" name="Shape 53"/>
          <p:cNvSpPr/>
          <p:nvPr/>
        </p:nvSpPr>
        <p:spPr>
          <a:xfrm>
            <a:off x="9422892" y="3348533"/>
            <a:ext cx="2076602" cy="209398"/>
          </a:xfrm>
          <a:prstGeom prst="roundRect">
            <a:avLst>
              <a:gd name="adj" fmla="val 79396"/>
            </a:avLst>
          </a:prstGeom>
          <a:solidFill>
            <a:srgbClr val="F8FAFC"/>
          </a:solidFill>
        </p:spPr>
      </p:sp>
      <p:sp>
        <p:nvSpPr>
          <p:cNvPr id="59" name="Text 54"/>
          <p:cNvSpPr txBox="1"/>
          <p:nvPr/>
        </p:nvSpPr>
        <p:spPr>
          <a:xfrm>
            <a:off x="9483242" y="3371393"/>
            <a:ext cx="15928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Code + Antigravity</a:t>
            </a:r>
            <a:endParaRPr lang="en-US" sz="1000" dirty="0"/>
          </a:p>
        </p:txBody>
      </p:sp>
      <p:sp>
        <p:nvSpPr>
          <p:cNvPr id="60" name="Text 55"/>
          <p:cNvSpPr txBox="1"/>
          <p:nvPr/>
        </p:nvSpPr>
        <p:spPr>
          <a:xfrm>
            <a:off x="9422892" y="3562502"/>
            <a:ext cx="10671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深度推理与多模型协作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1790395" y="4119372"/>
            <a:ext cx="9944100" cy="109545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1904695" y="4243730"/>
            <a:ext cx="3161995" cy="84764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3" name="Shape 58"/>
          <p:cNvSpPr/>
          <p:nvPr/>
        </p:nvSpPr>
        <p:spPr>
          <a:xfrm>
            <a:off x="1904695" y="4243730"/>
            <a:ext cx="38405" cy="847649"/>
          </a:xfrm>
          <a:prstGeom prst="rect">
            <a:avLst/>
          </a:prstGeom>
          <a:solidFill>
            <a:srgbClr val="84CC16"/>
          </a:solidFill>
        </p:spPr>
      </p:sp>
      <p:pic>
        <p:nvPicPr>
          <p:cNvPr id="64" name="Image 3" descr="preencoded.png"/>
          <p:cNvPicPr>
            <a:picLocks noChangeAspect="1"/>
          </p:cNvPicPr>
          <p:nvPr/>
        </p:nvPicPr>
        <p:blipFill>
          <a:blip r:embed="rId4"/>
          <a:srcRect l="-2571" r="-2571"/>
          <a:stretch>
            <a:fillRect/>
          </a:stretch>
        </p:blipFill>
        <p:spPr>
          <a:xfrm>
            <a:off x="2057400" y="4424782"/>
            <a:ext cx="105156" cy="114300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2222906" y="4390949"/>
            <a:ext cx="70134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零基础入门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2057400" y="4596689"/>
            <a:ext cx="2895905" cy="209398"/>
          </a:xfrm>
          <a:prstGeom prst="roundRect">
            <a:avLst>
              <a:gd name="adj" fmla="val 79396"/>
            </a:avLst>
          </a:prstGeom>
          <a:solidFill>
            <a:srgbClr val="F8FAFC"/>
          </a:solidFill>
        </p:spPr>
      </p:sp>
      <p:sp>
        <p:nvSpPr>
          <p:cNvPr id="67" name="Text 61"/>
          <p:cNvSpPr txBox="1"/>
          <p:nvPr/>
        </p:nvSpPr>
        <p:spPr>
          <a:xfrm>
            <a:off x="2118665" y="4618634"/>
            <a:ext cx="7927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Trae / Replit</a:t>
            </a:r>
            <a:endParaRPr lang="en-US" sz="1000" dirty="0"/>
          </a:p>
        </p:txBody>
      </p:sp>
      <p:sp>
        <p:nvSpPr>
          <p:cNvPr id="68" name="Text 62"/>
          <p:cNvSpPr txBox="1"/>
          <p:nvPr/>
        </p:nvSpPr>
        <p:spPr>
          <a:xfrm>
            <a:off x="2057400" y="4810658"/>
            <a:ext cx="11530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中文友好 / 无需环境配置</a:t>
            </a:r>
            <a:endParaRPr lang="en-US" sz="800" dirty="0"/>
          </a:p>
        </p:txBody>
      </p:sp>
      <p:sp>
        <p:nvSpPr>
          <p:cNvPr id="69" name="Shape 63"/>
          <p:cNvSpPr/>
          <p:nvPr/>
        </p:nvSpPr>
        <p:spPr>
          <a:xfrm>
            <a:off x="5178247" y="4243730"/>
            <a:ext cx="3161995" cy="84764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0" name="Shape 64"/>
          <p:cNvSpPr/>
          <p:nvPr/>
        </p:nvSpPr>
        <p:spPr>
          <a:xfrm>
            <a:off x="5178247" y="4243730"/>
            <a:ext cx="38405" cy="847649"/>
          </a:xfrm>
          <a:prstGeom prst="rect">
            <a:avLst/>
          </a:prstGeom>
          <a:solidFill>
            <a:srgbClr val="EAB308"/>
          </a:solidFill>
        </p:spPr>
      </p:sp>
      <p:pic>
        <p:nvPicPr>
          <p:cNvPr id="71" name="Image 4" descr="preencoded.png"/>
          <p:cNvPicPr>
            <a:picLocks noChangeAspect="1"/>
          </p:cNvPicPr>
          <p:nvPr/>
        </p:nvPicPr>
        <p:blipFill>
          <a:blip r:embed="rId5"/>
          <a:srcRect l="-2571" r="-2571"/>
          <a:stretch>
            <a:fillRect/>
          </a:stretch>
        </p:blipFill>
        <p:spPr>
          <a:xfrm>
            <a:off x="5330952" y="4424782"/>
            <a:ext cx="105156" cy="114300"/>
          </a:xfrm>
          <a:prstGeom prst="rect">
            <a:avLst/>
          </a:prstGeom>
        </p:spPr>
      </p:pic>
      <p:sp>
        <p:nvSpPr>
          <p:cNvPr id="72" name="Text 65"/>
          <p:cNvSpPr txBox="1"/>
          <p:nvPr/>
        </p:nvSpPr>
        <p:spPr>
          <a:xfrm>
            <a:off x="5496458" y="4390949"/>
            <a:ext cx="77724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Python基础</a:t>
            </a:r>
            <a:endParaRPr lang="en-US" sz="900" dirty="0"/>
          </a:p>
        </p:txBody>
      </p:sp>
      <p:sp>
        <p:nvSpPr>
          <p:cNvPr id="73" name="Shape 66"/>
          <p:cNvSpPr/>
          <p:nvPr/>
        </p:nvSpPr>
        <p:spPr>
          <a:xfrm>
            <a:off x="5330952" y="4596689"/>
            <a:ext cx="2895905" cy="209398"/>
          </a:xfrm>
          <a:prstGeom prst="roundRect">
            <a:avLst>
              <a:gd name="adj" fmla="val 79396"/>
            </a:avLst>
          </a:prstGeom>
          <a:solidFill>
            <a:srgbClr val="F8FAFC"/>
          </a:solidFill>
        </p:spPr>
      </p:sp>
      <p:sp>
        <p:nvSpPr>
          <p:cNvPr id="74" name="Text 67"/>
          <p:cNvSpPr txBox="1"/>
          <p:nvPr/>
        </p:nvSpPr>
        <p:spPr>
          <a:xfrm>
            <a:off x="5391302" y="4618634"/>
            <a:ext cx="11265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Cursor / Windsurf</a:t>
            </a:r>
            <a:endParaRPr lang="en-US" sz="1000" dirty="0"/>
          </a:p>
        </p:txBody>
      </p:sp>
      <p:sp>
        <p:nvSpPr>
          <p:cNvPr id="75" name="Text 68"/>
          <p:cNvSpPr txBox="1"/>
          <p:nvPr/>
        </p:nvSpPr>
        <p:spPr>
          <a:xfrm>
            <a:off x="5330952" y="4810658"/>
            <a:ext cx="11722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利用现有知识最大化效率</a:t>
            </a:r>
            <a:endParaRPr lang="en-US" sz="800" dirty="0"/>
          </a:p>
        </p:txBody>
      </p:sp>
      <p:sp>
        <p:nvSpPr>
          <p:cNvPr id="76" name="Shape 69"/>
          <p:cNvSpPr/>
          <p:nvPr/>
        </p:nvSpPr>
        <p:spPr>
          <a:xfrm>
            <a:off x="8451799" y="4243730"/>
            <a:ext cx="3161995" cy="84764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7" name="Shape 70"/>
          <p:cNvSpPr/>
          <p:nvPr/>
        </p:nvSpPr>
        <p:spPr>
          <a:xfrm>
            <a:off x="8451799" y="4243730"/>
            <a:ext cx="38405" cy="847649"/>
          </a:xfrm>
          <a:prstGeom prst="rect">
            <a:avLst/>
          </a:prstGeom>
          <a:solidFill>
            <a:srgbClr val="64748B"/>
          </a:solidFill>
        </p:spPr>
      </p:sp>
      <p:pic>
        <p:nvPicPr>
          <p:cNvPr id="78" name="Image 5" descr="preencoded.png"/>
          <p:cNvPicPr>
            <a:picLocks noChangeAspect="1"/>
          </p:cNvPicPr>
          <p:nvPr/>
        </p:nvPicPr>
        <p:blipFill>
          <a:blip r:embed="rId6"/>
          <a:srcRect l="-1911" r="-1911"/>
          <a:stretch>
            <a:fillRect/>
          </a:stretch>
        </p:blipFill>
        <p:spPr>
          <a:xfrm>
            <a:off x="8604504" y="4424782"/>
            <a:ext cx="133502" cy="114300"/>
          </a:xfrm>
          <a:prstGeom prst="rect">
            <a:avLst/>
          </a:prstGeom>
        </p:spPr>
      </p:pic>
      <p:sp>
        <p:nvSpPr>
          <p:cNvPr id="79" name="Text 71"/>
          <p:cNvSpPr txBox="1"/>
          <p:nvPr/>
        </p:nvSpPr>
        <p:spPr>
          <a:xfrm>
            <a:off x="8798357" y="4390949"/>
            <a:ext cx="65379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CLI爱好者</a:t>
            </a:r>
            <a:endParaRPr lang="en-US" sz="900" dirty="0"/>
          </a:p>
        </p:txBody>
      </p:sp>
      <p:sp>
        <p:nvSpPr>
          <p:cNvPr id="80" name="Shape 72"/>
          <p:cNvSpPr/>
          <p:nvPr/>
        </p:nvSpPr>
        <p:spPr>
          <a:xfrm>
            <a:off x="8604504" y="4596689"/>
            <a:ext cx="2895905" cy="209398"/>
          </a:xfrm>
          <a:prstGeom prst="roundRect">
            <a:avLst>
              <a:gd name="adj" fmla="val 79396"/>
            </a:avLst>
          </a:prstGeom>
          <a:solidFill>
            <a:srgbClr val="F8FAFC"/>
          </a:solidFill>
        </p:spPr>
      </p:sp>
      <p:sp>
        <p:nvSpPr>
          <p:cNvPr id="81" name="Text 73"/>
          <p:cNvSpPr txBox="1"/>
          <p:nvPr/>
        </p:nvSpPr>
        <p:spPr>
          <a:xfrm>
            <a:off x="8664854" y="4618634"/>
            <a:ext cx="13258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Claude Code / Gemini</a:t>
            </a:r>
            <a:endParaRPr lang="en-US" sz="1000" dirty="0"/>
          </a:p>
        </p:txBody>
      </p:sp>
      <p:sp>
        <p:nvSpPr>
          <p:cNvPr id="82" name="Text 74"/>
          <p:cNvSpPr txBox="1"/>
          <p:nvPr/>
        </p:nvSpPr>
        <p:spPr>
          <a:xfrm>
            <a:off x="8604504" y="4810658"/>
            <a:ext cx="10671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纯键盘操作的极致快感</a:t>
            </a:r>
            <a:endParaRPr lang="en-US" sz="800" dirty="0"/>
          </a:p>
        </p:txBody>
      </p:sp>
      <p:sp>
        <p:nvSpPr>
          <p:cNvPr id="83" name="Shape 75"/>
          <p:cNvSpPr/>
          <p:nvPr/>
        </p:nvSpPr>
        <p:spPr>
          <a:xfrm>
            <a:off x="457200" y="5970118"/>
            <a:ext cx="11277295" cy="666598"/>
          </a:xfrm>
          <a:prstGeom prst="roundRect">
            <a:avLst>
              <a:gd name="adj" fmla="val 1567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84" name="Image 6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rcRect l="-57" r="-57"/>
          <a:stretch>
            <a:fillRect/>
          </a:stretch>
        </p:blipFill>
        <p:spPr>
          <a:xfrm>
            <a:off x="649224" y="6185916"/>
            <a:ext cx="200254" cy="228600"/>
          </a:xfrm>
          <a:prstGeom prst="rect">
            <a:avLst/>
          </a:prstGeom>
        </p:spPr>
      </p:pic>
      <p:sp>
        <p:nvSpPr>
          <p:cNvPr id="85" name="Text 76"/>
          <p:cNvSpPr txBox="1"/>
          <p:nvPr/>
        </p:nvSpPr>
        <p:spPr>
          <a:xfrm>
            <a:off x="1002182" y="6080760"/>
            <a:ext cx="8147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决策金句</a:t>
            </a:r>
            <a:endParaRPr lang="en-US" sz="1300" dirty="0"/>
          </a:p>
        </p:txBody>
      </p:sp>
      <p:sp>
        <p:nvSpPr>
          <p:cNvPr id="86" name="Text 77"/>
          <p:cNvSpPr txBox="1"/>
          <p:nvPr/>
        </p:nvSpPr>
        <p:spPr>
          <a:xfrm>
            <a:off x="1002182" y="6337706"/>
            <a:ext cx="55586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40A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"2025年的选择不再是单一工具，而是 Antigravity (Free) 与 Cursor/Kiro (Pro) 的生态组合。"</a:t>
            </a:r>
            <a:endParaRPr lang="en-US" sz="1000" dirty="0"/>
          </a:p>
        </p:txBody>
      </p:sp>
      <p:sp>
        <p:nvSpPr>
          <p:cNvPr id="87" name="Text 78"/>
          <p:cNvSpPr txBox="1"/>
          <p:nvPr/>
        </p:nvSpPr>
        <p:spPr>
          <a:xfrm>
            <a:off x="11910974" y="6610198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11</a:t>
            </a:r>
            <a:endParaRPr lang="en-US" sz="1000" dirty="0"/>
          </a:p>
        </p:txBody>
      </p:sp>
      <p:sp>
        <p:nvSpPr>
          <p:cNvPr id="88" name="Shape 79"/>
          <p:cNvSpPr/>
          <p:nvPr/>
        </p:nvSpPr>
        <p:spPr>
          <a:xfrm>
            <a:off x="457200" y="1623974"/>
            <a:ext cx="1333195" cy="1095451"/>
          </a:xfrm>
          <a:prstGeom prst="roundRect">
            <a:avLst>
              <a:gd name="adj" fmla="val 5807"/>
            </a:avLst>
          </a:prstGeom>
          <a:solidFill>
            <a:srgbClr val="1E293B"/>
          </a:solidFill>
        </p:spPr>
      </p:sp>
      <p:pic>
        <p:nvPicPr>
          <p:cNvPr id="89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09498" y="1825142"/>
            <a:ext cx="228600" cy="228600"/>
          </a:xfrm>
          <a:prstGeom prst="rect">
            <a:avLst/>
          </a:prstGeom>
        </p:spPr>
      </p:pic>
      <p:sp>
        <p:nvSpPr>
          <p:cNvPr id="90" name="Text 80"/>
          <p:cNvSpPr txBox="1"/>
          <p:nvPr/>
        </p:nvSpPr>
        <p:spPr>
          <a:xfrm>
            <a:off x="895198" y="2099462"/>
            <a:ext cx="5815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按预算</a:t>
            </a:r>
            <a:endParaRPr lang="en-US" sz="1200" dirty="0"/>
          </a:p>
        </p:txBody>
      </p:sp>
      <p:sp>
        <p:nvSpPr>
          <p:cNvPr id="91" name="Text 81"/>
          <p:cNvSpPr txBox="1"/>
          <p:nvPr/>
        </p:nvSpPr>
        <p:spPr>
          <a:xfrm>
            <a:off x="892454" y="2375611"/>
            <a:ext cx="5532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BUDGET</a:t>
            </a:r>
            <a:endParaRPr lang="en-US" sz="900" dirty="0"/>
          </a:p>
        </p:txBody>
      </p:sp>
      <p:sp>
        <p:nvSpPr>
          <p:cNvPr id="92" name="Shape 82"/>
          <p:cNvSpPr/>
          <p:nvPr/>
        </p:nvSpPr>
        <p:spPr>
          <a:xfrm>
            <a:off x="457200" y="2872130"/>
            <a:ext cx="1333195" cy="1095451"/>
          </a:xfrm>
          <a:prstGeom prst="roundRect">
            <a:avLst>
              <a:gd name="adj" fmla="val 5807"/>
            </a:avLst>
          </a:prstGeom>
          <a:solidFill>
            <a:srgbClr val="334155"/>
          </a:solidFill>
        </p:spPr>
      </p:sp>
      <p:pic>
        <p:nvPicPr>
          <p:cNvPr id="93" name="Image 8" descr="preencoded.png"/>
          <p:cNvPicPr>
            <a:picLocks noChangeAspect="1"/>
          </p:cNvPicPr>
          <p:nvPr/>
        </p:nvPicPr>
        <p:blipFill>
          <a:blip r:embed="rId9"/>
          <a:srcRect t="-45" b="-45"/>
          <a:stretch>
            <a:fillRect/>
          </a:stretch>
        </p:blipFill>
        <p:spPr>
          <a:xfrm>
            <a:off x="995782" y="3072384"/>
            <a:ext cx="256946" cy="228600"/>
          </a:xfrm>
          <a:prstGeom prst="rect">
            <a:avLst/>
          </a:prstGeom>
        </p:spPr>
      </p:pic>
      <p:sp>
        <p:nvSpPr>
          <p:cNvPr id="94" name="Text 83"/>
          <p:cNvSpPr txBox="1"/>
          <p:nvPr/>
        </p:nvSpPr>
        <p:spPr>
          <a:xfrm>
            <a:off x="895198" y="3346704"/>
            <a:ext cx="5815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按场景</a:t>
            </a:r>
            <a:endParaRPr lang="en-US" sz="1200" dirty="0"/>
          </a:p>
        </p:txBody>
      </p:sp>
      <p:sp>
        <p:nvSpPr>
          <p:cNvPr id="95" name="Text 84"/>
          <p:cNvSpPr txBox="1"/>
          <p:nvPr/>
        </p:nvSpPr>
        <p:spPr>
          <a:xfrm>
            <a:off x="838505" y="3622853"/>
            <a:ext cx="6675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SCENARIO</a:t>
            </a:r>
            <a:endParaRPr lang="en-US" sz="900" dirty="0"/>
          </a:p>
        </p:txBody>
      </p:sp>
      <p:sp>
        <p:nvSpPr>
          <p:cNvPr id="96" name="Shape 85"/>
          <p:cNvSpPr/>
          <p:nvPr/>
        </p:nvSpPr>
        <p:spPr>
          <a:xfrm>
            <a:off x="457200" y="4119372"/>
            <a:ext cx="1333195" cy="1095451"/>
          </a:xfrm>
          <a:prstGeom prst="roundRect">
            <a:avLst>
              <a:gd name="adj" fmla="val 5807"/>
            </a:avLst>
          </a:prstGeom>
          <a:solidFill>
            <a:srgbClr val="475569"/>
          </a:solidFill>
        </p:spPr>
      </p:sp>
      <p:pic>
        <p:nvPicPr>
          <p:cNvPr id="97" name="Image 9" descr="preencoded.png"/>
          <p:cNvPicPr>
            <a:picLocks noChangeAspect="1"/>
          </p:cNvPicPr>
          <p:nvPr/>
        </p:nvPicPr>
        <p:blipFill>
          <a:blip r:embed="rId10"/>
          <a:srcRect l="-80" r="-80"/>
          <a:stretch>
            <a:fillRect/>
          </a:stretch>
        </p:blipFill>
        <p:spPr>
          <a:xfrm>
            <a:off x="981151" y="4320540"/>
            <a:ext cx="286207" cy="228600"/>
          </a:xfrm>
          <a:prstGeom prst="rect">
            <a:avLst/>
          </a:prstGeom>
        </p:spPr>
      </p:pic>
      <p:sp>
        <p:nvSpPr>
          <p:cNvPr id="98" name="Text 86"/>
          <p:cNvSpPr txBox="1"/>
          <p:nvPr/>
        </p:nvSpPr>
        <p:spPr>
          <a:xfrm>
            <a:off x="895198" y="4594860"/>
            <a:ext cx="5815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按基础</a:t>
            </a:r>
            <a:endParaRPr lang="en-US" sz="1200" dirty="0"/>
          </a:p>
        </p:txBody>
      </p:sp>
      <p:sp>
        <p:nvSpPr>
          <p:cNvPr id="99" name="Text 87"/>
          <p:cNvSpPr txBox="1"/>
          <p:nvPr/>
        </p:nvSpPr>
        <p:spPr>
          <a:xfrm>
            <a:off x="769010" y="4871009"/>
            <a:ext cx="8001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SKILL LEVEL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2968142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Vibe Coding 哲学体系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76802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991356" y="267005"/>
            <a:ext cx="27148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道法术器：从思维到工具的完整方法论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1067105"/>
            <a:ext cx="5372100" cy="2628900"/>
          </a:xfrm>
          <a:prstGeom prst="roundRect">
            <a:avLst>
              <a:gd name="adj" fmla="val 1512"/>
            </a:avLst>
          </a:prstGeom>
          <a:solidFill>
            <a:srgbClr val="F8FAFC"/>
          </a:solidFill>
          <a:ln w="63500">
            <a:solidFill>
              <a:srgbClr val="0F172A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7649" y="1953158"/>
            <a:ext cx="4895698" cy="9144"/>
          </a:xfrm>
          <a:prstGeom prst="rect">
            <a:avLst/>
          </a:prstGeom>
          <a:solidFill>
            <a:srgbClr val="000000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847649" y="1377086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F172A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61949" y="1491386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57554" y="1343254"/>
            <a:ext cx="164592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道 Philosophy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57554" y="1663294"/>
            <a:ext cx="14749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核心思维与第一性原理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7649" y="2137867"/>
            <a:ext cx="123444" cy="1234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86307" y="2097634"/>
            <a:ext cx="256672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凡是AI能做的，就不要人工做 (AI First)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7649" y="2431390"/>
            <a:ext cx="123444" cy="1234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86307" y="2392070"/>
            <a:ext cx="25374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上下文是第一性要素 (Context is King)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7649" y="2725826"/>
            <a:ext cx="123444" cy="1234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86307" y="2685593"/>
            <a:ext cx="308061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先结构后代码，规划优于实现 (Structure First)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7649" y="3019349"/>
            <a:ext cx="123444" cy="1234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86307" y="2980030"/>
            <a:ext cx="228051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奥卡姆剃刀：如无必要，勿增代码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210605" y="1067105"/>
            <a:ext cx="5372100" cy="2628900"/>
          </a:xfrm>
          <a:prstGeom prst="roundRect">
            <a:avLst>
              <a:gd name="adj" fmla="val 1512"/>
            </a:avLst>
          </a:prstGeom>
          <a:solidFill>
            <a:srgbClr val="EFF6FF"/>
          </a:solidFill>
          <a:ln w="635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448349" y="1953158"/>
            <a:ext cx="4895698" cy="9144"/>
          </a:xfrm>
          <a:prstGeom prst="rect">
            <a:avLst/>
          </a:prstGeom>
          <a:solidFill>
            <a:srgbClr val="000000">
              <a:alpha val="10000"/>
            </a:srgbClr>
          </a:solidFill>
        </p:spPr>
      </p:sp>
      <p:sp>
        <p:nvSpPr>
          <p:cNvPr id="24" name="Shape 17"/>
          <p:cNvSpPr/>
          <p:nvPr/>
        </p:nvSpPr>
        <p:spPr>
          <a:xfrm>
            <a:off x="6448349" y="1377086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3B82F6"/>
          </a:solidFill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rcRect t="-45" b="-45"/>
          <a:stretch>
            <a:fillRect/>
          </a:stretch>
        </p:blipFill>
        <p:spPr>
          <a:xfrm>
            <a:off x="6548018" y="1491386"/>
            <a:ext cx="256946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58254" y="1343254"/>
            <a:ext cx="1856232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法 Methodology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7058254" y="1663294"/>
            <a:ext cx="12079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系统化的实施原则</a:t>
            </a:r>
            <a:endParaRPr lang="en-US" sz="10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rcRect t="-1359" b="-1359"/>
          <a:stretch>
            <a:fillRect/>
          </a:stretch>
        </p:blipFill>
        <p:spPr>
          <a:xfrm>
            <a:off x="6448349" y="2137867"/>
            <a:ext cx="105156" cy="123444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667805" y="2097634"/>
            <a:ext cx="212872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一句话目标 + 非目标 (明确边界)</a:t>
            </a:r>
            <a:endParaRPr lang="en-US" sz="11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rcRect t="-1359" b="-1359"/>
          <a:stretch>
            <a:fillRect/>
          </a:stretch>
        </p:blipFill>
        <p:spPr>
          <a:xfrm>
            <a:off x="6448349" y="2431390"/>
            <a:ext cx="105156" cy="12344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667805" y="2392070"/>
            <a:ext cx="277611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正交性设计，功能不重复 (Orthogonality)</a:t>
            </a:r>
            <a:endParaRPr lang="en-US" sz="11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4"/>
          <a:srcRect t="-1359" b="-1359"/>
          <a:stretch>
            <a:fillRect/>
          </a:stretch>
        </p:blipFill>
        <p:spPr>
          <a:xfrm>
            <a:off x="6448349" y="2725826"/>
            <a:ext cx="105156" cy="123444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667805" y="2685593"/>
            <a:ext cx="289956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能抄不写，文档即上下文 (Docs as Context)</a:t>
            </a:r>
            <a:endParaRPr lang="en-US" sz="11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4"/>
          <a:srcRect t="-1359" b="-1359"/>
          <a:stretch>
            <a:fillRect/>
          </a:stretch>
        </p:blipFill>
        <p:spPr>
          <a:xfrm>
            <a:off x="6448349" y="3019349"/>
            <a:ext cx="105156" cy="123444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667805" y="2980030"/>
            <a:ext cx="170901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按职责拆模块，接口先行</a:t>
            </a:r>
            <a:endParaRPr lang="en-US" sz="1100" dirty="0"/>
          </a:p>
        </p:txBody>
      </p:sp>
      <p:sp>
        <p:nvSpPr>
          <p:cNvPr id="36" name="Shape 24"/>
          <p:cNvSpPr/>
          <p:nvPr/>
        </p:nvSpPr>
        <p:spPr>
          <a:xfrm>
            <a:off x="609905" y="3924605"/>
            <a:ext cx="5372100" cy="2628900"/>
          </a:xfrm>
          <a:prstGeom prst="roundRect">
            <a:avLst>
              <a:gd name="adj" fmla="val 1512"/>
            </a:avLst>
          </a:prstGeom>
          <a:solidFill>
            <a:srgbClr val="ECFDF5"/>
          </a:solidFill>
          <a:ln w="63500">
            <a:solidFill>
              <a:srgbClr val="10B98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7" name="Shape 25"/>
          <p:cNvSpPr/>
          <p:nvPr/>
        </p:nvSpPr>
        <p:spPr>
          <a:xfrm>
            <a:off x="847649" y="4810658"/>
            <a:ext cx="4895698" cy="9144"/>
          </a:xfrm>
          <a:prstGeom prst="rect">
            <a:avLst/>
          </a:prstGeom>
          <a:solidFill>
            <a:srgbClr val="000000">
              <a:alpha val="10000"/>
            </a:srgbClr>
          </a:solidFill>
        </p:spPr>
      </p:sp>
      <p:sp>
        <p:nvSpPr>
          <p:cNvPr id="38" name="Shape 26"/>
          <p:cNvSpPr/>
          <p:nvPr/>
        </p:nvSpPr>
        <p:spPr>
          <a:xfrm>
            <a:off x="847649" y="4234586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10B981"/>
          </a:solidFill>
        </p:spPr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61949" y="4348886"/>
            <a:ext cx="228600" cy="22860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1457554" y="4200754"/>
            <a:ext cx="1198778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术 Tactics</a:t>
            </a:r>
            <a:endParaRPr lang="en-US" sz="1600" dirty="0"/>
          </a:p>
        </p:txBody>
      </p:sp>
      <p:sp>
        <p:nvSpPr>
          <p:cNvPr id="41" name="Text 28"/>
          <p:cNvSpPr txBox="1"/>
          <p:nvPr/>
        </p:nvSpPr>
        <p:spPr>
          <a:xfrm>
            <a:off x="1457554" y="4520794"/>
            <a:ext cx="10652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具体的实战技巧</a:t>
            </a:r>
            <a:endParaRPr lang="en-US" sz="10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47649" y="4995367"/>
            <a:ext cx="123444" cy="123444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86307" y="4955134"/>
            <a:ext cx="318577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明确写清：能改什么，不能改什么 (Constraints)</a:t>
            </a:r>
            <a:endParaRPr lang="en-US" sz="1100" dirty="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47649" y="5288890"/>
            <a:ext cx="123444" cy="123444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1086307" y="5249570"/>
            <a:ext cx="249997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Debug只给：预期 vs 实际 + 最小复现</a:t>
            </a:r>
            <a:endParaRPr lang="en-US" sz="11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47649" y="5583326"/>
            <a:ext cx="123444" cy="123444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1086307" y="5543093"/>
            <a:ext cx="212872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测试可交给AI生成，断言由人审</a:t>
            </a:r>
            <a:endParaRPr lang="en-US" sz="1100" dirty="0"/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47649" y="5876849"/>
            <a:ext cx="123444" cy="123444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1086307" y="5837530"/>
            <a:ext cx="231891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代码一多就切会话 (Reset Session)</a:t>
            </a:r>
            <a:endParaRPr lang="en-US" sz="1100" dirty="0"/>
          </a:p>
        </p:txBody>
      </p:sp>
      <p:sp>
        <p:nvSpPr>
          <p:cNvPr id="50" name="Shape 33"/>
          <p:cNvSpPr/>
          <p:nvPr/>
        </p:nvSpPr>
        <p:spPr>
          <a:xfrm>
            <a:off x="6210605" y="3924605"/>
            <a:ext cx="5372100" cy="2628900"/>
          </a:xfrm>
          <a:prstGeom prst="roundRect">
            <a:avLst>
              <a:gd name="adj" fmla="val 1512"/>
            </a:avLst>
          </a:prstGeom>
          <a:solidFill>
            <a:srgbClr val="F5F3FF"/>
          </a:solidFill>
          <a:ln w="63500">
            <a:solidFill>
              <a:srgbClr val="8B5C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1" name="Shape 34"/>
          <p:cNvSpPr/>
          <p:nvPr/>
        </p:nvSpPr>
        <p:spPr>
          <a:xfrm>
            <a:off x="6448349" y="4810658"/>
            <a:ext cx="4895698" cy="9144"/>
          </a:xfrm>
          <a:prstGeom prst="rect">
            <a:avLst/>
          </a:prstGeom>
          <a:solidFill>
            <a:srgbClr val="000000">
              <a:alpha val="10000"/>
            </a:srgbClr>
          </a:solidFill>
        </p:spPr>
      </p:sp>
      <p:sp>
        <p:nvSpPr>
          <p:cNvPr id="52" name="Shape 35"/>
          <p:cNvSpPr/>
          <p:nvPr/>
        </p:nvSpPr>
        <p:spPr>
          <a:xfrm>
            <a:off x="6448349" y="4234586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8B5CF6"/>
          </a:solidFill>
        </p:spPr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7"/>
          <a:srcRect l="-80" r="-80"/>
          <a:stretch>
            <a:fillRect/>
          </a:stretch>
        </p:blipFill>
        <p:spPr>
          <a:xfrm>
            <a:off x="6534302" y="4348886"/>
            <a:ext cx="286207" cy="228600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7058254" y="4200754"/>
            <a:ext cx="1008583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器 Tools</a:t>
            </a:r>
            <a:endParaRPr lang="en-US" sz="1600" dirty="0"/>
          </a:p>
        </p:txBody>
      </p:sp>
      <p:sp>
        <p:nvSpPr>
          <p:cNvPr id="55" name="Text 37"/>
          <p:cNvSpPr txBox="1"/>
          <p:nvPr/>
        </p:nvSpPr>
        <p:spPr>
          <a:xfrm>
            <a:off x="7058254" y="4520794"/>
            <a:ext cx="10652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工具选择与组合</a:t>
            </a:r>
            <a:endParaRPr lang="en-US" sz="1000" dirty="0"/>
          </a:p>
        </p:txBody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448349" y="4995367"/>
            <a:ext cx="123444" cy="123444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6687007" y="4955134"/>
            <a:ext cx="197601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IDE: Cursor / Windsurf / Kiro</a:t>
            </a:r>
            <a:endParaRPr lang="en-US" sz="1100" dirty="0"/>
          </a:p>
        </p:txBody>
      </p:sp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448349" y="5288890"/>
            <a:ext cx="123444" cy="123444"/>
          </a:xfrm>
          <a:prstGeom prst="rect">
            <a:avLst/>
          </a:prstGeom>
        </p:spPr>
      </p:pic>
      <p:sp>
        <p:nvSpPr>
          <p:cNvPr id="59" name="Text 39"/>
          <p:cNvSpPr txBox="1"/>
          <p:nvPr/>
        </p:nvSpPr>
        <p:spPr>
          <a:xfrm>
            <a:off x="6687007" y="5249570"/>
            <a:ext cx="209946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CLI: Claude Code / Gemini CLI</a:t>
            </a:r>
            <a:endParaRPr lang="en-US" sz="1100" dirty="0"/>
          </a:p>
        </p:txBody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448349" y="5583326"/>
            <a:ext cx="123444" cy="123444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6687007" y="5543093"/>
            <a:ext cx="27477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Model: Claude 3.5 / GPT-4o / Gemini 2.5</a:t>
            </a:r>
            <a:endParaRPr lang="en-US" sz="1100" dirty="0"/>
          </a:p>
        </p:txBody>
      </p:sp>
      <p:pic>
        <p:nvPicPr>
          <p:cNvPr id="62" name="Image 19" descr="preencoded.png"/>
          <p:cNvPicPr>
            <a:picLocks noChangeAspect="1"/>
          </p:cNvPicPr>
          <p:nvPr/>
        </p:nvPicPr>
        <p:blipFill>
          <a:blip r:embed="rId9"/>
          <a:srcRect t="-1359" b="-1359"/>
          <a:stretch>
            <a:fillRect/>
          </a:stretch>
        </p:blipFill>
        <p:spPr>
          <a:xfrm>
            <a:off x="6448349" y="5876849"/>
            <a:ext cx="105156" cy="123444"/>
          </a:xfrm>
          <a:prstGeom prst="rect">
            <a:avLst/>
          </a:prstGeom>
        </p:spPr>
      </p:pic>
      <p:sp>
        <p:nvSpPr>
          <p:cNvPr id="63" name="Text 41"/>
          <p:cNvSpPr txBox="1"/>
          <p:nvPr/>
        </p:nvSpPr>
        <p:spPr>
          <a:xfrm>
            <a:off x="6667805" y="5846674"/>
            <a:ext cx="21003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详细对比见第二部分"工具全景图"</a:t>
            </a:r>
            <a:endParaRPr lang="en-US" sz="1000" dirty="0"/>
          </a:p>
        </p:txBody>
      </p:sp>
      <p:sp>
        <p:nvSpPr>
          <p:cNvPr id="64" name="Shape 4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5" name="Shape 4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66" name="Text 44"/>
          <p:cNvSpPr txBox="1"/>
          <p:nvPr/>
        </p:nvSpPr>
        <p:spPr>
          <a:xfrm>
            <a:off x="609905" y="6538874"/>
            <a:ext cx="15581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AI驱动科研编程实战指南</a:t>
            </a:r>
            <a:endParaRPr lang="en-US" sz="1000" dirty="0"/>
          </a:p>
        </p:txBody>
      </p:sp>
      <p:sp>
        <p:nvSpPr>
          <p:cNvPr id="67" name="Text 45"/>
          <p:cNvSpPr txBox="1"/>
          <p:nvPr/>
        </p:nvSpPr>
        <p:spPr>
          <a:xfrm>
            <a:off x="11449202" y="6558077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12</a:t>
            </a:r>
            <a:endParaRPr lang="en-US" sz="1000" dirty="0"/>
          </a:p>
        </p:txBody>
      </p:sp>
      <p:sp>
        <p:nvSpPr>
          <p:cNvPr id="68" name="Shape 46"/>
          <p:cNvSpPr/>
          <p:nvPr/>
        </p:nvSpPr>
        <p:spPr>
          <a:xfrm>
            <a:off x="5011826" y="3170225"/>
            <a:ext cx="2171700" cy="523951"/>
          </a:xfrm>
          <a:prstGeom prst="roundRect">
            <a:avLst>
              <a:gd name="adj" fmla="val 15865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259629" y="3314700"/>
            <a:ext cx="228600" cy="228600"/>
          </a:xfrm>
          <a:prstGeom prst="rect">
            <a:avLst/>
          </a:prstGeom>
        </p:spPr>
      </p:pic>
      <p:sp>
        <p:nvSpPr>
          <p:cNvPr id="70" name="Text 47"/>
          <p:cNvSpPr txBox="1"/>
          <p:nvPr/>
        </p:nvSpPr>
        <p:spPr>
          <a:xfrm>
            <a:off x="5564124" y="3332074"/>
            <a:ext cx="149778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Meta-Methodology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4511650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3.1 Prompt 工程：精准沟通的艺术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21208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5526634" y="267005"/>
            <a:ext cx="27057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5W1H 结构化框架与科研场景实战模板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3095" y="2354580"/>
            <a:ext cx="2364638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对比实验：AI 为何"听不懂"？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3095" y="2834640"/>
            <a:ext cx="5734202" cy="91440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FECACA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3154" y="2843784"/>
            <a:ext cx="5715000" cy="304495"/>
          </a:xfrm>
          <a:prstGeom prst="rect">
            <a:avLst/>
          </a:prstGeom>
          <a:solidFill>
            <a:srgbClr val="FECACA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7454" y="2932481"/>
            <a:ext cx="133502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66851" y="2897734"/>
            <a:ext cx="17931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模糊描述 (Vibe Coding 典型)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59706" y="2899562"/>
            <a:ext cx="1190549" cy="190195"/>
          </a:xfrm>
          <a:prstGeom prst="roundRect">
            <a:avLst>
              <a:gd name="adj" fmla="val 96154"/>
            </a:avLst>
          </a:prstGeom>
          <a:solidFill>
            <a:srgbClr val="FFFFFF">
              <a:alpha val="30000"/>
            </a:srgbClr>
          </a:solidFill>
        </p:spPr>
      </p:sp>
      <p:sp>
        <p:nvSpPr>
          <p:cNvPr id="14" name="Text 11"/>
          <p:cNvSpPr txBox="1"/>
          <p:nvPr/>
        </p:nvSpPr>
        <p:spPr>
          <a:xfrm>
            <a:off x="5035601" y="2927909"/>
            <a:ext cx="11247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1B1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Result: AI Confusion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57454" y="3278124"/>
            <a:ext cx="15544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"帮我分析这个数据"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57454" y="3278124"/>
            <a:ext cx="5231282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Thinking: - Which dimension? (Descriptive stats? Regression? Clustering?) - Which tool? (Pandas? Numpy? Scikit-learn?) - Output format? (Print? CSV? Plot?)</a:t>
            </a:r>
            <a:endParaRPr lang="en-US" sz="1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rcRect t="-856" b="-856"/>
          <a:stretch>
            <a:fillRect/>
          </a:stretch>
        </p:blipFill>
        <p:spPr>
          <a:xfrm>
            <a:off x="3332074" y="3854196"/>
            <a:ext cx="133502" cy="18105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33095" y="4172407"/>
            <a:ext cx="5734202" cy="1095451"/>
          </a:xfrm>
          <a:prstGeom prst="roundRect">
            <a:avLst>
              <a:gd name="adj" fmla="val 5807"/>
            </a:avLst>
          </a:prstGeom>
          <a:solidFill>
            <a:srgbClr val="1E293B"/>
          </a:solidFill>
          <a:ln w="12700">
            <a:solidFill>
              <a:srgbClr val="DCFCE7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3154" y="4182466"/>
            <a:ext cx="5715000" cy="304495"/>
          </a:xfrm>
          <a:prstGeom prst="rect">
            <a:avLst/>
          </a:prstGeom>
          <a:solidFill>
            <a:srgbClr val="DCFCE7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7454" y="4270248"/>
            <a:ext cx="133502" cy="1335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66851" y="4235501"/>
            <a:ext cx="20217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精准描述 (Prompt Engineering)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43907" y="4237330"/>
            <a:ext cx="1399946" cy="190195"/>
          </a:xfrm>
          <a:prstGeom prst="roundRect">
            <a:avLst>
              <a:gd name="adj" fmla="val 96154"/>
            </a:avLst>
          </a:prstGeom>
          <a:solidFill>
            <a:srgbClr val="FFFFFF">
              <a:alpha val="30000"/>
            </a:srgbClr>
          </a:solidFill>
        </p:spPr>
      </p:sp>
      <p:sp>
        <p:nvSpPr>
          <p:cNvPr id="23" name="Text 18"/>
          <p:cNvSpPr txBox="1"/>
          <p:nvPr/>
        </p:nvSpPr>
        <p:spPr>
          <a:xfrm>
            <a:off x="4820717" y="4265676"/>
            <a:ext cx="13341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6534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Result: Perfect Execution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657454" y="4616806"/>
            <a:ext cx="7360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"Read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289304" y="4616806"/>
            <a:ext cx="5166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data.csv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701698" y="4616806"/>
            <a:ext cx="6309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calculate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2225650" y="4616806"/>
            <a:ext cx="11640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Mean, Median, Std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3283610" y="4616806"/>
            <a:ext cx="15261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'population' column. Use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4710989" y="4616806"/>
            <a:ext cx="6501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657454" y="4616806"/>
            <a:ext cx="5355641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plot a bar chart. Save as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1372514" y="4797857"/>
            <a:ext cx="6592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output.png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930298" y="4797857"/>
            <a:ext cx="3355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160727" y="4797857"/>
            <a:ext cx="4782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300dpi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2534717" y="4797857"/>
            <a:ext cx="1828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."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657454" y="4797857"/>
            <a:ext cx="5079492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Understanding: ✅ Input: data.csv ✅ Task: Statistics (Mean/Median/Std) + Plotting ✅ Tech Stack: Matplotlib ✅ Output Spec: 300dpi PNG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569050" y="990295"/>
            <a:ext cx="5095951" cy="5639105"/>
          </a:xfrm>
          <a:prstGeom prst="roundRect">
            <a:avLst>
              <a:gd name="adj" fmla="val 4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rcRect l="-1773" r="-1773"/>
          <a:stretch>
            <a:fillRect/>
          </a:stretch>
        </p:blipFill>
        <p:spPr>
          <a:xfrm>
            <a:off x="6769303" y="1236269"/>
            <a:ext cx="200254" cy="171907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7045452" y="1190549"/>
            <a:ext cx="156088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5W1H 结构化框架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6769303" y="1568196"/>
            <a:ext cx="2305202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6769303" y="1568196"/>
            <a:ext cx="28346" cy="64739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1" name="Text 35"/>
          <p:cNvSpPr txBox="1"/>
          <p:nvPr/>
        </p:nvSpPr>
        <p:spPr>
          <a:xfrm>
            <a:off x="6911950" y="1663294"/>
            <a:ext cx="5074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WHAT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6911950" y="1853489"/>
            <a:ext cx="11247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具体要做什么任务？</a:t>
            </a:r>
            <a:endParaRPr lang="en-US" sz="900" dirty="0"/>
          </a:p>
        </p:txBody>
      </p:sp>
      <p:sp>
        <p:nvSpPr>
          <p:cNvPr id="43" name="Text 37"/>
          <p:cNvSpPr txBox="1"/>
          <p:nvPr/>
        </p:nvSpPr>
        <p:spPr>
          <a:xfrm>
            <a:off x="6911950" y="1996135"/>
            <a:ext cx="11914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function definition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9159545" y="1568196"/>
            <a:ext cx="2305202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9159545" y="1568196"/>
            <a:ext cx="28346" cy="64739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6" name="Text 40"/>
          <p:cNvSpPr txBox="1"/>
          <p:nvPr/>
        </p:nvSpPr>
        <p:spPr>
          <a:xfrm>
            <a:off x="9302191" y="1663294"/>
            <a:ext cx="4215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WHY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9302191" y="1853489"/>
            <a:ext cx="10104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业务背景是什么？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9302191" y="1996135"/>
            <a:ext cx="9052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Context for intent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6769303" y="2307031"/>
            <a:ext cx="2305202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6769303" y="2307031"/>
            <a:ext cx="28346" cy="64739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1" name="Text 45"/>
          <p:cNvSpPr txBox="1"/>
          <p:nvPr/>
        </p:nvSpPr>
        <p:spPr>
          <a:xfrm>
            <a:off x="6911950" y="2402129"/>
            <a:ext cx="4306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WHO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6911950" y="2592324"/>
            <a:ext cx="11530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面向什么用户/读者？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6911950" y="2735885"/>
            <a:ext cx="10003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Style &amp; Depth level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9159545" y="2307031"/>
            <a:ext cx="2305202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5" name="Shape 49"/>
          <p:cNvSpPr/>
          <p:nvPr/>
        </p:nvSpPr>
        <p:spPr>
          <a:xfrm>
            <a:off x="9159545" y="2307031"/>
            <a:ext cx="28346" cy="64739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6" name="Text 50"/>
          <p:cNvSpPr txBox="1"/>
          <p:nvPr/>
        </p:nvSpPr>
        <p:spPr>
          <a:xfrm>
            <a:off x="9302191" y="2402129"/>
            <a:ext cx="5166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WHEN</a:t>
            </a:r>
            <a:endParaRPr lang="en-US" sz="1000" dirty="0"/>
          </a:p>
        </p:txBody>
      </p:sp>
      <p:sp>
        <p:nvSpPr>
          <p:cNvPr id="57" name="Text 51"/>
          <p:cNvSpPr txBox="1"/>
          <p:nvPr/>
        </p:nvSpPr>
        <p:spPr>
          <a:xfrm>
            <a:off x="9302191" y="2592324"/>
            <a:ext cx="10104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批处理还是实时？</a:t>
            </a:r>
            <a:endParaRPr lang="en-US" sz="900" dirty="0"/>
          </a:p>
        </p:txBody>
      </p:sp>
      <p:sp>
        <p:nvSpPr>
          <p:cNvPr id="58" name="Text 52"/>
          <p:cNvSpPr txBox="1"/>
          <p:nvPr/>
        </p:nvSpPr>
        <p:spPr>
          <a:xfrm>
            <a:off x="9302191" y="2735885"/>
            <a:ext cx="10387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Performance &amp; Arch</a:t>
            </a:r>
            <a:endParaRPr lang="en-US" sz="900" dirty="0"/>
          </a:p>
        </p:txBody>
      </p:sp>
      <p:sp>
        <p:nvSpPr>
          <p:cNvPr id="59" name="Shape 53"/>
          <p:cNvSpPr/>
          <p:nvPr/>
        </p:nvSpPr>
        <p:spPr>
          <a:xfrm>
            <a:off x="6769303" y="3045866"/>
            <a:ext cx="2305202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0" name="Shape 54"/>
          <p:cNvSpPr/>
          <p:nvPr/>
        </p:nvSpPr>
        <p:spPr>
          <a:xfrm>
            <a:off x="6769303" y="3045866"/>
            <a:ext cx="28346" cy="64739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1" name="Text 55"/>
          <p:cNvSpPr txBox="1"/>
          <p:nvPr/>
        </p:nvSpPr>
        <p:spPr>
          <a:xfrm>
            <a:off x="6911950" y="3140964"/>
            <a:ext cx="6025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WHERE</a:t>
            </a:r>
            <a:endParaRPr lang="en-US" sz="1000" dirty="0"/>
          </a:p>
        </p:txBody>
      </p:sp>
      <p:sp>
        <p:nvSpPr>
          <p:cNvPr id="62" name="Text 56"/>
          <p:cNvSpPr txBox="1"/>
          <p:nvPr/>
        </p:nvSpPr>
        <p:spPr>
          <a:xfrm>
            <a:off x="6911950" y="3332074"/>
            <a:ext cx="11247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数据源与输出位置？</a:t>
            </a:r>
            <a:endParaRPr lang="en-US" sz="900" dirty="0"/>
          </a:p>
        </p:txBody>
      </p:sp>
      <p:sp>
        <p:nvSpPr>
          <p:cNvPr id="63" name="Text 57"/>
          <p:cNvSpPr txBox="1"/>
          <p:nvPr/>
        </p:nvSpPr>
        <p:spPr>
          <a:xfrm>
            <a:off x="6911950" y="3474720"/>
            <a:ext cx="9436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I/O Path definition</a:t>
            </a:r>
            <a:endParaRPr lang="en-US" sz="900" dirty="0"/>
          </a:p>
        </p:txBody>
      </p:sp>
      <p:sp>
        <p:nvSpPr>
          <p:cNvPr id="64" name="Shape 58"/>
          <p:cNvSpPr/>
          <p:nvPr/>
        </p:nvSpPr>
        <p:spPr>
          <a:xfrm>
            <a:off x="9159545" y="3045866"/>
            <a:ext cx="2305202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5" name="Shape 59"/>
          <p:cNvSpPr/>
          <p:nvPr/>
        </p:nvSpPr>
        <p:spPr>
          <a:xfrm>
            <a:off x="9159545" y="3045866"/>
            <a:ext cx="28346" cy="647395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66" name="Text 60"/>
          <p:cNvSpPr txBox="1"/>
          <p:nvPr/>
        </p:nvSpPr>
        <p:spPr>
          <a:xfrm>
            <a:off x="9302191" y="3140964"/>
            <a:ext cx="4306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HOW</a:t>
            </a:r>
            <a:endParaRPr lang="en-US" sz="1000" dirty="0"/>
          </a:p>
        </p:txBody>
      </p:sp>
      <p:sp>
        <p:nvSpPr>
          <p:cNvPr id="67" name="Text 61"/>
          <p:cNvSpPr txBox="1"/>
          <p:nvPr/>
        </p:nvSpPr>
        <p:spPr>
          <a:xfrm>
            <a:off x="9302191" y="3332074"/>
            <a:ext cx="12390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技术约束与质量要求？</a:t>
            </a:r>
            <a:endParaRPr lang="en-US" sz="900" dirty="0"/>
          </a:p>
        </p:txBody>
      </p:sp>
      <p:sp>
        <p:nvSpPr>
          <p:cNvPr id="68" name="Text 62"/>
          <p:cNvSpPr txBox="1"/>
          <p:nvPr/>
        </p:nvSpPr>
        <p:spPr>
          <a:xfrm>
            <a:off x="9302191" y="3474720"/>
            <a:ext cx="10479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Libs/Specs/Precision</a:t>
            </a:r>
            <a:endParaRPr lang="en-US" sz="900" dirty="0"/>
          </a:p>
        </p:txBody>
      </p:sp>
      <p:pic>
        <p:nvPicPr>
          <p:cNvPr id="69" name="Image 4" descr="preencoded.png"/>
          <p:cNvPicPr>
            <a:picLocks noChangeAspect="1"/>
          </p:cNvPicPr>
          <p:nvPr/>
        </p:nvPicPr>
        <p:blipFill>
          <a:blip r:embed="rId5"/>
          <a:srcRect l="-1773" r="-1773"/>
          <a:stretch>
            <a:fillRect/>
          </a:stretch>
        </p:blipFill>
        <p:spPr>
          <a:xfrm>
            <a:off x="6769303" y="3967582"/>
            <a:ext cx="133502" cy="171907"/>
          </a:xfrm>
          <a:prstGeom prst="rect">
            <a:avLst/>
          </a:prstGeom>
        </p:spPr>
      </p:pic>
      <p:sp>
        <p:nvSpPr>
          <p:cNvPr id="70" name="Text 63"/>
          <p:cNvSpPr txBox="1"/>
          <p:nvPr/>
        </p:nvSpPr>
        <p:spPr>
          <a:xfrm>
            <a:off x="6978701" y="3921862"/>
            <a:ext cx="1541678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科研场景通用模板</a:t>
            </a:r>
            <a:endParaRPr lang="en-US" sz="1300" dirty="0"/>
          </a:p>
        </p:txBody>
      </p:sp>
      <p:sp>
        <p:nvSpPr>
          <p:cNvPr id="71" name="Shape 64"/>
          <p:cNvSpPr/>
          <p:nvPr/>
        </p:nvSpPr>
        <p:spPr>
          <a:xfrm>
            <a:off x="6769303" y="4299509"/>
            <a:ext cx="4695444" cy="2133295"/>
          </a:xfrm>
          <a:prstGeom prst="roundRect">
            <a:avLst>
              <a:gd name="adj" fmla="val 1531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2" name="Text 65"/>
          <p:cNvSpPr txBox="1"/>
          <p:nvPr/>
        </p:nvSpPr>
        <p:spPr>
          <a:xfrm>
            <a:off x="7114032" y="4728362"/>
            <a:ext cx="24917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任务描述 (Task)：[Verb] + [Object] + [Purpose]</a:t>
            </a:r>
            <a:endParaRPr lang="en-US" sz="900" dirty="0"/>
          </a:p>
        </p:txBody>
      </p:sp>
      <p:sp>
        <p:nvSpPr>
          <p:cNvPr id="73" name="Text 66"/>
          <p:cNvSpPr txBox="1"/>
          <p:nvPr/>
        </p:nvSpPr>
        <p:spPr>
          <a:xfrm>
            <a:off x="7114032" y="4952390"/>
            <a:ext cx="32260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数据背景 (Context)：Source / Scale / Format (CSV/GeoJSON)</a:t>
            </a:r>
            <a:endParaRPr lang="en-US" sz="900" dirty="0"/>
          </a:p>
        </p:txBody>
      </p:sp>
      <p:sp>
        <p:nvSpPr>
          <p:cNvPr id="74" name="Text 67"/>
          <p:cNvSpPr txBox="1"/>
          <p:nvPr/>
        </p:nvSpPr>
        <p:spPr>
          <a:xfrm>
            <a:off x="7114032" y="5176418"/>
            <a:ext cx="26252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处理步骤 (Steps)：Step 1... Step 2... (Logic Chain)</a:t>
            </a:r>
            <a:endParaRPr lang="en-US" sz="900" dirty="0"/>
          </a:p>
        </p:txBody>
      </p:sp>
      <p:sp>
        <p:nvSpPr>
          <p:cNvPr id="75" name="Text 68"/>
          <p:cNvSpPr txBox="1"/>
          <p:nvPr/>
        </p:nvSpPr>
        <p:spPr>
          <a:xfrm>
            <a:off x="7114032" y="5400446"/>
            <a:ext cx="315925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输出要求 (Output)：Format / Precision / Performance metrics</a:t>
            </a:r>
            <a:endParaRPr lang="en-US" sz="900" dirty="0"/>
          </a:p>
        </p:txBody>
      </p:sp>
      <p:sp>
        <p:nvSpPr>
          <p:cNvPr id="76" name="Text 69"/>
          <p:cNvSpPr txBox="1"/>
          <p:nvPr/>
        </p:nvSpPr>
        <p:spPr>
          <a:xfrm>
            <a:off x="7114032" y="5624474"/>
            <a:ext cx="339699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技术约束 (Constraints)：Required Libs / Forbidden / Coding Style</a:t>
            </a:r>
            <a:endParaRPr lang="en-US" sz="900" dirty="0"/>
          </a:p>
        </p:txBody>
      </p:sp>
      <p:sp>
        <p:nvSpPr>
          <p:cNvPr id="77" name="Text 70"/>
          <p:cNvSpPr txBox="1"/>
          <p:nvPr/>
        </p:nvSpPr>
        <p:spPr>
          <a:xfrm>
            <a:off x="7114032" y="5848502"/>
            <a:ext cx="293065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测试验证 (Test)：Provide Mini Test Case for verification</a:t>
            </a:r>
            <a:endParaRPr lang="en-US" sz="900" dirty="0"/>
          </a:p>
        </p:txBody>
      </p:sp>
      <p:sp>
        <p:nvSpPr>
          <p:cNvPr id="78" name="Shape 7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9" name="Shape 72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80" name="Text 73"/>
          <p:cNvSpPr txBox="1"/>
          <p:nvPr/>
        </p:nvSpPr>
        <p:spPr>
          <a:xfrm>
            <a:off x="609905" y="6558077"/>
            <a:ext cx="16148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驱动科研编程实战指南</a:t>
            </a:r>
            <a:endParaRPr lang="en-US" sz="1000" dirty="0"/>
          </a:p>
        </p:txBody>
      </p:sp>
      <p:sp>
        <p:nvSpPr>
          <p:cNvPr id="81" name="Text 74"/>
          <p:cNvSpPr txBox="1"/>
          <p:nvPr/>
        </p:nvSpPr>
        <p:spPr>
          <a:xfrm>
            <a:off x="11422685" y="6558077"/>
            <a:ext cx="26243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3520440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规范驱动开发（SDD）总览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219956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534510" y="267005"/>
            <a:ext cx="25630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核心原则、基本流程与三层实践路径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11277295" cy="800100"/>
          </a:xfrm>
          <a:prstGeom prst="roundRect">
            <a:avLst>
              <a:gd name="adj" fmla="val 16327"/>
            </a:avLst>
          </a:prstGeom>
          <a:solidFill>
            <a:srgbClr val="F1F5F9"/>
          </a:solidFill>
        </p:spPr>
      </p:sp>
      <p:sp>
        <p:nvSpPr>
          <p:cNvPr id="9" name="Shape 7"/>
          <p:cNvSpPr/>
          <p:nvPr/>
        </p:nvSpPr>
        <p:spPr>
          <a:xfrm>
            <a:off x="457200" y="990295"/>
            <a:ext cx="57607" cy="800100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t="-1310" b="-1310"/>
          <a:stretch>
            <a:fillRect/>
          </a:stretch>
        </p:blipFill>
        <p:spPr>
          <a:xfrm>
            <a:off x="743407" y="1183234"/>
            <a:ext cx="209398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28700" y="1171346"/>
            <a:ext cx="80284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核心原则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43407" y="1452067"/>
            <a:ext cx="460491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 (规范) 是项目的"源头真理"，Code (代码) 只是规范的"实现产物"。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13394" y="1207922"/>
            <a:ext cx="3095244" cy="362102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537753" y="1313078"/>
            <a:ext cx="63367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修改需求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9146743" y="1332281"/>
            <a:ext cx="105156" cy="1143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327794" y="1274674"/>
            <a:ext cx="724205" cy="228600"/>
          </a:xfrm>
          <a:prstGeom prst="roundRect">
            <a:avLst>
              <a:gd name="adj" fmla="val 66667"/>
            </a:avLst>
          </a:prstGeom>
          <a:solidFill>
            <a:srgbClr val="EFF6FF"/>
          </a:solidFill>
        </p:spPr>
      </p:sp>
      <p:sp>
        <p:nvSpPr>
          <p:cNvPr id="17" name="Text 13"/>
          <p:cNvSpPr txBox="1"/>
          <p:nvPr/>
        </p:nvSpPr>
        <p:spPr>
          <a:xfrm>
            <a:off x="9404604" y="1313078"/>
            <a:ext cx="67208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先改 Spec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10123322" y="1332281"/>
            <a:ext cx="105156" cy="1143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304374" y="1313078"/>
            <a:ext cx="118597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再让 AI 更新 Code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1940357"/>
            <a:ext cx="3657600" cy="4067251"/>
          </a:xfrm>
          <a:prstGeom prst="roundRect">
            <a:avLst>
              <a:gd name="adj" fmla="val 78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9049" y="210220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D1FAE5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rcRect l="-1648" r="-1648"/>
          <a:stretch>
            <a:fillRect/>
          </a:stretch>
        </p:blipFill>
        <p:spPr>
          <a:xfrm>
            <a:off x="724205" y="2197303"/>
            <a:ext cx="171907" cy="190195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418027" y="2102206"/>
            <a:ext cx="543154" cy="219456"/>
          </a:xfrm>
          <a:prstGeom prst="roundRect">
            <a:avLst>
              <a:gd name="adj" fmla="val 416667"/>
            </a:avLst>
          </a:prstGeom>
          <a:solidFill>
            <a:srgbClr val="059669"/>
          </a:solidFill>
        </p:spPr>
      </p:sp>
      <p:sp>
        <p:nvSpPr>
          <p:cNvPr id="24" name="Text 18"/>
          <p:cNvSpPr txBox="1"/>
          <p:nvPr/>
        </p:nvSpPr>
        <p:spPr>
          <a:xfrm>
            <a:off x="3509467" y="2144268"/>
            <a:ext cx="4389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Level 1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619049" y="2568550"/>
            <a:ext cx="16084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F4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Spec-First规范优先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19049" y="2817266"/>
            <a:ext cx="3412541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一次性任务的理想起点。先写清楚要求，再让 AI 生成，生成后规范可归档。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19049" y="5248656"/>
            <a:ext cx="3333902" cy="9144"/>
          </a:xfrm>
          <a:prstGeom prst="rect">
            <a:avLst/>
          </a:prstGeom>
          <a:solidFill>
            <a:srgbClr val="000000">
              <a:alpha val="5000"/>
            </a:srgbClr>
          </a:solidFill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rcRect l="-2571" r="-2571"/>
          <a:stretch>
            <a:fillRect/>
          </a:stretch>
        </p:blipFill>
        <p:spPr>
          <a:xfrm>
            <a:off x="619049" y="5405933"/>
            <a:ext cx="105156" cy="1143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4205" y="5391302"/>
            <a:ext cx="12344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适用：&lt;200 行小脚本</a:t>
            </a:r>
            <a:endParaRPr lang="en-US" sz="9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rcRect l="-2571" r="-2571"/>
          <a:stretch>
            <a:fillRect/>
          </a:stretch>
        </p:blipFill>
        <p:spPr>
          <a:xfrm>
            <a:off x="619049" y="5642762"/>
            <a:ext cx="105156" cy="1143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4205" y="5627218"/>
            <a:ext cx="13871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比 Vibe Coding 质量更高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4267505" y="1940357"/>
            <a:ext cx="3657600" cy="4067251"/>
          </a:xfrm>
          <a:prstGeom prst="roundRect">
            <a:avLst>
              <a:gd name="adj" fmla="val 78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4429354" y="210220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DBEAFE"/>
          </a:solidFill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rcRect l="-1282" r="-1282"/>
          <a:stretch>
            <a:fillRect/>
          </a:stretch>
        </p:blipFill>
        <p:spPr>
          <a:xfrm>
            <a:off x="4509821" y="2197303"/>
            <a:ext cx="219456" cy="190195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227418" y="2102206"/>
            <a:ext cx="543154" cy="219456"/>
          </a:xfrm>
          <a:prstGeom prst="roundRect">
            <a:avLst>
              <a:gd name="adj" fmla="val 416667"/>
            </a:avLst>
          </a:prstGeom>
          <a:solidFill>
            <a:srgbClr val="2563EB"/>
          </a:solidFill>
        </p:spPr>
      </p:sp>
      <p:sp>
        <p:nvSpPr>
          <p:cNvPr id="36" name="Text 27"/>
          <p:cNvSpPr txBox="1"/>
          <p:nvPr/>
        </p:nvSpPr>
        <p:spPr>
          <a:xfrm>
            <a:off x="7318858" y="2144268"/>
            <a:ext cx="4389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Level 2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4429354" y="2568550"/>
            <a:ext cx="197967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Spec-Anchored规范锚定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4429354" y="2817266"/>
            <a:ext cx="3212287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工程化标准。规范与代码同步更新，作为长期维护的锚点，需 Git 管理。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429354" y="5248656"/>
            <a:ext cx="3333902" cy="9144"/>
          </a:xfrm>
          <a:prstGeom prst="rect">
            <a:avLst/>
          </a:prstGeom>
          <a:solidFill>
            <a:srgbClr val="000000">
              <a:alpha val="5000"/>
            </a:srgbClr>
          </a:solidFill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6"/>
          <a:srcRect l="-2571" r="-2571"/>
          <a:stretch>
            <a:fillRect/>
          </a:stretch>
        </p:blipFill>
        <p:spPr>
          <a:xfrm>
            <a:off x="4429354" y="5405933"/>
            <a:ext cx="105156" cy="1143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533595" y="5391302"/>
            <a:ext cx="133045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适用：500-2000 行项目</a:t>
            </a:r>
            <a:endParaRPr lang="en-US" sz="9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6"/>
          <a:srcRect l="-2571" r="-2571"/>
          <a:stretch>
            <a:fillRect/>
          </a:stretch>
        </p:blipFill>
        <p:spPr>
          <a:xfrm>
            <a:off x="4429354" y="5642762"/>
            <a:ext cx="105156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4533595" y="5627218"/>
            <a:ext cx="14346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团队协作与长期维护必备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8076895" y="1940357"/>
            <a:ext cx="3657600" cy="4067251"/>
          </a:xfrm>
          <a:prstGeom prst="roundRect">
            <a:avLst>
              <a:gd name="adj" fmla="val 781"/>
            </a:avLst>
          </a:prstGeom>
          <a:solidFill>
            <a:srgbClr val="FDF2F8"/>
          </a:solidFill>
          <a:ln w="12700">
            <a:solidFill>
              <a:srgbClr val="FBCFE8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5" name="Shape 34"/>
          <p:cNvSpPr/>
          <p:nvPr/>
        </p:nvSpPr>
        <p:spPr>
          <a:xfrm>
            <a:off x="8238744" y="210220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CE7F3"/>
          </a:solidFill>
        </p:spPr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7"/>
          <a:srcRect l="-1648" r="-1648"/>
          <a:stretch>
            <a:fillRect/>
          </a:stretch>
        </p:blipFill>
        <p:spPr>
          <a:xfrm>
            <a:off x="8343900" y="2197303"/>
            <a:ext cx="171907" cy="190195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11037722" y="2102206"/>
            <a:ext cx="543154" cy="219456"/>
          </a:xfrm>
          <a:prstGeom prst="roundRect">
            <a:avLst>
              <a:gd name="adj" fmla="val 416667"/>
            </a:avLst>
          </a:prstGeom>
          <a:solidFill>
            <a:srgbClr val="DB2777"/>
          </a:solidFill>
        </p:spPr>
      </p:sp>
      <p:sp>
        <p:nvSpPr>
          <p:cNvPr id="48" name="Text 36"/>
          <p:cNvSpPr txBox="1"/>
          <p:nvPr/>
        </p:nvSpPr>
        <p:spPr>
          <a:xfrm>
            <a:off x="11129162" y="2144268"/>
            <a:ext cx="4389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Level 3</a:t>
            </a:r>
            <a:endParaRPr lang="en-US" sz="900" dirty="0"/>
          </a:p>
        </p:txBody>
      </p:sp>
      <p:sp>
        <p:nvSpPr>
          <p:cNvPr id="49" name="Text 37"/>
          <p:cNvSpPr txBox="1"/>
          <p:nvPr/>
        </p:nvSpPr>
        <p:spPr>
          <a:xfrm>
            <a:off x="8238744" y="2568550"/>
            <a:ext cx="215158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174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Spec-as-Source规范即源码</a:t>
            </a:r>
            <a:endParaRPr lang="en-US" sz="1300" dirty="0"/>
          </a:p>
        </p:txBody>
      </p:sp>
      <p:sp>
        <p:nvSpPr>
          <p:cNvPr id="50" name="Text 38"/>
          <p:cNvSpPr txBox="1"/>
          <p:nvPr/>
        </p:nvSpPr>
        <p:spPr>
          <a:xfrm>
            <a:off x="8238744" y="2817266"/>
            <a:ext cx="3335731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极致自动化。只编辑规范，代码完全自动生成且不可手动修改，保证绝对一致。</a:t>
            </a:r>
            <a:endParaRPr lang="en-US" sz="1000" dirty="0"/>
          </a:p>
        </p:txBody>
      </p:sp>
      <p:sp>
        <p:nvSpPr>
          <p:cNvPr id="51" name="Shape 39"/>
          <p:cNvSpPr/>
          <p:nvPr/>
        </p:nvSpPr>
        <p:spPr>
          <a:xfrm>
            <a:off x="8238744" y="5248656"/>
            <a:ext cx="3333902" cy="9144"/>
          </a:xfrm>
          <a:prstGeom prst="rect">
            <a:avLst/>
          </a:prstGeom>
          <a:solidFill>
            <a:srgbClr val="000000">
              <a:alpha val="5000"/>
            </a:srgbClr>
          </a:solidFill>
        </p:spPr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8"/>
          <a:srcRect l="-2571" r="-2571"/>
          <a:stretch>
            <a:fillRect/>
          </a:stretch>
        </p:blipFill>
        <p:spPr>
          <a:xfrm>
            <a:off x="8238744" y="5405933"/>
            <a:ext cx="105156" cy="114300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8343900" y="5391302"/>
            <a:ext cx="13487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适用：结构化/重复逻辑</a:t>
            </a:r>
            <a:endParaRPr lang="en-US" sz="9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8"/>
          <a:srcRect l="-2571" r="-2571"/>
          <a:stretch>
            <a:fillRect/>
          </a:stretch>
        </p:blipFill>
        <p:spPr>
          <a:xfrm>
            <a:off x="8238744" y="5642762"/>
            <a:ext cx="105156" cy="114300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8343900" y="5627218"/>
            <a:ext cx="10250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100% 一致性保障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457200" y="6196889"/>
            <a:ext cx="11277295" cy="437998"/>
          </a:xfrm>
          <a:prstGeom prst="roundRect">
            <a:avLst>
              <a:gd name="adj" fmla="val 36307"/>
            </a:avLst>
          </a:prstGeom>
          <a:solidFill>
            <a:srgbClr val="F8FAFC"/>
          </a:solidFill>
        </p:spPr>
      </p:sp>
      <p:sp>
        <p:nvSpPr>
          <p:cNvPr id="57" name="Shape 43"/>
          <p:cNvSpPr/>
          <p:nvPr/>
        </p:nvSpPr>
        <p:spPr>
          <a:xfrm>
            <a:off x="457200" y="6196889"/>
            <a:ext cx="112772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44"/>
          <p:cNvSpPr txBox="1"/>
          <p:nvPr/>
        </p:nvSpPr>
        <p:spPr>
          <a:xfrm>
            <a:off x="685800" y="6330391"/>
            <a:ext cx="571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核心收益</a:t>
            </a:r>
            <a:endParaRPr lang="en-US" sz="900" dirty="0"/>
          </a:p>
        </p:txBody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9"/>
          <a:srcRect t="-2644" b="-2644"/>
          <a:stretch>
            <a:fillRect/>
          </a:stretch>
        </p:blipFill>
        <p:spPr>
          <a:xfrm>
            <a:off x="1394460" y="6351422"/>
            <a:ext cx="142646" cy="133502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1537106" y="6339535"/>
            <a:ext cx="6217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少走弯路</a:t>
            </a:r>
            <a:endParaRPr lang="en-US" sz="1000" dirty="0"/>
          </a:p>
        </p:txBody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2284171" y="6351422"/>
            <a:ext cx="133502" cy="133502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2417674" y="6339535"/>
            <a:ext cx="6217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可复现性</a:t>
            </a:r>
            <a:endParaRPr lang="en-US" sz="1000" dirty="0"/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1"/>
          <a:srcRect t="-1554" b="-1554"/>
          <a:stretch>
            <a:fillRect/>
          </a:stretch>
        </p:blipFill>
        <p:spPr>
          <a:xfrm>
            <a:off x="3163824" y="6351422"/>
            <a:ext cx="161849" cy="133502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3325673" y="6339535"/>
            <a:ext cx="7452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协作无障碍</a:t>
            </a:r>
            <a:endParaRPr lang="en-US" sz="1000" dirty="0"/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4201668" y="6351422"/>
            <a:ext cx="133502" cy="133502"/>
          </a:xfrm>
          <a:prstGeom prst="rect">
            <a:avLst/>
          </a:prstGeom>
        </p:spPr>
      </p:pic>
      <p:sp>
        <p:nvSpPr>
          <p:cNvPr id="66" name="Text 48"/>
          <p:cNvSpPr txBox="1"/>
          <p:nvPr/>
        </p:nvSpPr>
        <p:spPr>
          <a:xfrm>
            <a:off x="4335170" y="6339535"/>
            <a:ext cx="7452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长期可维护</a:t>
            </a:r>
            <a:endParaRPr lang="en-US" sz="1000" dirty="0"/>
          </a:p>
        </p:txBody>
      </p:sp>
      <p:sp>
        <p:nvSpPr>
          <p:cNvPr id="67" name="Shape 4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8" name="Shape 50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69" name="Text 51"/>
          <p:cNvSpPr txBox="1"/>
          <p:nvPr/>
        </p:nvSpPr>
        <p:spPr>
          <a:xfrm>
            <a:off x="609905" y="6558077"/>
            <a:ext cx="16148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驱动科研编程实战指南</a:t>
            </a:r>
            <a:endParaRPr lang="en-US" sz="1000" dirty="0"/>
          </a:p>
        </p:txBody>
      </p:sp>
      <p:sp>
        <p:nvSpPr>
          <p:cNvPr id="70" name="Text 52"/>
          <p:cNvSpPr txBox="1"/>
          <p:nvPr/>
        </p:nvSpPr>
        <p:spPr>
          <a:xfrm>
            <a:off x="11422685" y="6558077"/>
            <a:ext cx="26243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3768242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Level 1: Spec-First (规范优先)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471416" y="267005"/>
            <a:ext cx="9144" cy="228600"/>
          </a:xfrm>
          <a:prstGeom prst="rect">
            <a:avLst/>
          </a:prstGeom>
          <a:solidFill>
            <a:srgbClr val="6EE7B7"/>
          </a:solidFill>
        </p:spPr>
      </p:sp>
      <p:sp>
        <p:nvSpPr>
          <p:cNvPr id="7" name="Text 5"/>
          <p:cNvSpPr txBox="1"/>
          <p:nvPr/>
        </p:nvSpPr>
        <p:spPr>
          <a:xfrm>
            <a:off x="4785970" y="295351"/>
            <a:ext cx="2953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FAE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Fast, Efficient, Traceable Entry-Level Practice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4229100" cy="2190902"/>
          </a:xfrm>
          <a:prstGeom prst="roundRect">
            <a:avLst>
              <a:gd name="adj" fmla="val 181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19049" y="1190549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7649" y="1152144"/>
            <a:ext cx="14200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Standard Workflow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295498"/>
            <a:ext cx="4229100" cy="1314907"/>
          </a:xfrm>
          <a:prstGeom prst="roundRect">
            <a:avLst>
              <a:gd name="adj" fmla="val 50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9049" y="3495751"/>
            <a:ext cx="152705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47649" y="3457346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Applicable Scenarios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049" y="3807562"/>
            <a:ext cx="1686154" cy="276149"/>
          </a:xfrm>
          <a:prstGeom prst="roundRect">
            <a:avLst>
              <a:gd name="adj" fmla="val 45672"/>
            </a:avLst>
          </a:prstGeom>
          <a:solidFill>
            <a:srgbClr val="ECFDF5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-1358" r="-1358"/>
          <a:stretch>
            <a:fillRect/>
          </a:stretch>
        </p:blipFill>
        <p:spPr>
          <a:xfrm>
            <a:off x="710489" y="3882542"/>
            <a:ext cx="95098" cy="1234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82396" y="3853282"/>
            <a:ext cx="142555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Small Scripts (&lt;200 lines)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390242" y="3807562"/>
            <a:ext cx="1628546" cy="276149"/>
          </a:xfrm>
          <a:prstGeom prst="roundRect">
            <a:avLst>
              <a:gd name="adj" fmla="val 45672"/>
            </a:avLst>
          </a:prstGeom>
          <a:solidFill>
            <a:srgbClr val="ECFDF5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 t="-1359" b="-1359"/>
          <a:stretch>
            <a:fillRect/>
          </a:stretch>
        </p:blipFill>
        <p:spPr>
          <a:xfrm>
            <a:off x="2481682" y="3882542"/>
            <a:ext cx="105156" cy="1234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662733" y="3853282"/>
            <a:ext cx="135879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One-off Data Processing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619049" y="4173322"/>
            <a:ext cx="1790395" cy="276149"/>
          </a:xfrm>
          <a:prstGeom prst="roundRect">
            <a:avLst>
              <a:gd name="adj" fmla="val 45672"/>
            </a:avLst>
          </a:prstGeom>
          <a:solidFill>
            <a:srgbClr val="ECFDF5"/>
          </a:solidFill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t="-1359" b="-1359"/>
          <a:stretch>
            <a:fillRect/>
          </a:stretch>
        </p:blipFill>
        <p:spPr>
          <a:xfrm>
            <a:off x="710489" y="4248302"/>
            <a:ext cx="105156" cy="1234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1540" y="4219042"/>
            <a:ext cx="152064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Quick Prototype Validation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2500884" y="4173322"/>
            <a:ext cx="1800454" cy="276149"/>
          </a:xfrm>
          <a:prstGeom prst="roundRect">
            <a:avLst>
              <a:gd name="adj" fmla="val 45672"/>
            </a:avLst>
          </a:prstGeom>
          <a:solidFill>
            <a:srgbClr val="ECFDF5"/>
          </a:solidFill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 t="-524" b="-524"/>
          <a:stretch>
            <a:fillRect/>
          </a:stretch>
        </p:blipFill>
        <p:spPr>
          <a:xfrm>
            <a:off x="2592324" y="4248302"/>
            <a:ext cx="152705" cy="12344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2820924" y="4219042"/>
            <a:ext cx="148224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Learning New Tech Stacks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457200" y="4731106"/>
            <a:ext cx="2057400" cy="790956"/>
          </a:xfrm>
          <a:prstGeom prst="roundRect">
            <a:avLst>
              <a:gd name="adj" fmla="val 11143"/>
            </a:avLst>
          </a:prstGeom>
          <a:solidFill>
            <a:srgbClr val="F0FDF4"/>
          </a:solidFill>
        </p:spPr>
      </p:sp>
      <p:sp>
        <p:nvSpPr>
          <p:cNvPr id="27" name="Shape 19"/>
          <p:cNvSpPr/>
          <p:nvPr/>
        </p:nvSpPr>
        <p:spPr>
          <a:xfrm>
            <a:off x="457200" y="4731106"/>
            <a:ext cx="28346" cy="790956"/>
          </a:xfrm>
          <a:prstGeom prst="rect">
            <a:avLst/>
          </a:prstGeom>
          <a:solidFill>
            <a:srgbClr val="22C55E"/>
          </a:solidFill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08076" y="4860036"/>
            <a:ext cx="133502" cy="13350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17474" y="4862779"/>
            <a:ext cx="3547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Pros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608076" y="5069434"/>
            <a:ext cx="16212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Higher quality than pure chat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608076" y="5237683"/>
            <a:ext cx="14785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Documented and traceable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2627986" y="4731106"/>
            <a:ext cx="2057400" cy="790956"/>
          </a:xfrm>
          <a:prstGeom prst="roundRect">
            <a:avLst>
              <a:gd name="adj" fmla="val 11143"/>
            </a:avLst>
          </a:prstGeom>
          <a:solidFill>
            <a:srgbClr val="FFF1F2"/>
          </a:solidFill>
        </p:spPr>
      </p:sp>
      <p:sp>
        <p:nvSpPr>
          <p:cNvPr id="33" name="Shape 24"/>
          <p:cNvSpPr/>
          <p:nvPr/>
        </p:nvSpPr>
        <p:spPr>
          <a:xfrm>
            <a:off x="2627986" y="4731106"/>
            <a:ext cx="28346" cy="790956"/>
          </a:xfrm>
          <a:prstGeom prst="rect">
            <a:avLst/>
          </a:prstGeom>
          <a:solidFill>
            <a:srgbClr val="F43F5E"/>
          </a:solidFill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2778862" y="4860036"/>
            <a:ext cx="133502" cy="13350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2988259" y="4862779"/>
            <a:ext cx="3831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Cons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2778862" y="5069434"/>
            <a:ext cx="14785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 can become outdated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2778862" y="5237683"/>
            <a:ext cx="14694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Not for complex iterations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4982566" y="990295"/>
            <a:ext cx="6752844" cy="4705502"/>
          </a:xfrm>
          <a:prstGeom prst="roundRect">
            <a:avLst>
              <a:gd name="adj" fmla="val 393"/>
            </a:avLst>
          </a:prstGeom>
          <a:solidFill>
            <a:srgbClr val="1E293B"/>
          </a:solidFill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4982566" y="990295"/>
            <a:ext cx="6752844" cy="390449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0" name="Shape 30"/>
          <p:cNvSpPr/>
          <p:nvPr/>
        </p:nvSpPr>
        <p:spPr>
          <a:xfrm>
            <a:off x="4982566" y="1371600"/>
            <a:ext cx="6752844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41" name="Text 31"/>
          <p:cNvSpPr txBox="1"/>
          <p:nvPr/>
        </p:nvSpPr>
        <p:spPr>
          <a:xfrm>
            <a:off x="5134356" y="1100938"/>
            <a:ext cx="22503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📄 spec_poi_density.md (Example Spec)</a:t>
            </a:r>
            <a:endParaRPr lang="en-US" sz="1000" dirty="0"/>
          </a:p>
        </p:txBody>
      </p:sp>
      <p:sp>
        <p:nvSpPr>
          <p:cNvPr id="42" name="Text 32"/>
          <p:cNvSpPr txBox="1"/>
          <p:nvPr/>
        </p:nvSpPr>
        <p:spPr>
          <a:xfrm>
            <a:off x="11080699" y="1112825"/>
            <a:ext cx="5907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Markdown</a:t>
            </a:r>
            <a:endParaRPr lang="en-US" sz="900" dirty="0"/>
          </a:p>
        </p:txBody>
      </p:sp>
      <p:sp>
        <p:nvSpPr>
          <p:cNvPr id="43" name="Text 33"/>
          <p:cNvSpPr txBox="1"/>
          <p:nvPr/>
        </p:nvSpPr>
        <p:spPr>
          <a:xfrm>
            <a:off x="5134356" y="1548994"/>
            <a:ext cx="20345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Feature: POI Kernel Density Analysis</a:t>
            </a:r>
            <a:endParaRPr lang="en-US" sz="900" dirty="0"/>
          </a:p>
        </p:txBody>
      </p:sp>
      <p:sp>
        <p:nvSpPr>
          <p:cNvPr id="44" name="Text 34"/>
          <p:cNvSpPr txBox="1"/>
          <p:nvPr/>
        </p:nvSpPr>
        <p:spPr>
          <a:xfrm>
            <a:off x="5134356" y="1807769"/>
            <a:ext cx="61978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## 1. Requirements Overview Calculate kernel density of urban POIs, generate heatmap for spatial distribution visualization.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5134356" y="2104949"/>
            <a:ext cx="61877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## 2. Input Data - pois.geojson: GeoDataFrame, Point Geometry, EPSG:4326 - boundary.shp: Study Area Boundary Polygon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5134356" y="2402129"/>
            <a:ext cx="63495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## 3. Output Deliverables - density.tif: GeoTIFF Density Raster (Float32) - heatmap.png: Visual Heatmap (300dpi, with legend)</a:t>
            </a:r>
            <a:endParaRPr lang="en-US" sz="900" dirty="0"/>
          </a:p>
        </p:txBody>
      </p:sp>
      <p:sp>
        <p:nvSpPr>
          <p:cNvPr id="47" name="Text 37"/>
          <p:cNvSpPr txBox="1"/>
          <p:nvPr/>
        </p:nvSpPr>
        <p:spPr>
          <a:xfrm>
            <a:off x="5134356" y="2699309"/>
            <a:ext cx="6483096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## 4. Algorithms &amp; Parameters - Method: Gaussian Kernel Density Estimation - Bandwidth: Use Scott's rule adaptive calculation - Resolution: 100 meters</a:t>
            </a:r>
            <a:endParaRPr lang="en-US" sz="900" dirty="0"/>
          </a:p>
        </p:txBody>
      </p:sp>
      <p:sp>
        <p:nvSpPr>
          <p:cNvPr id="48" name="Text 38"/>
          <p:cNvSpPr txBox="1"/>
          <p:nvPr/>
        </p:nvSpPr>
        <p:spPr>
          <a:xfrm>
            <a:off x="5134356" y="3179369"/>
            <a:ext cx="6092647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## 5. Code Requirements - Function Signature: calculate_kde(gdf, bandwidth=None) -&gt; raster - Must include Google-style docstrings - Unit test coverage &gt; 80%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4982566" y="5848502"/>
            <a:ext cx="6752844" cy="780898"/>
          </a:xfrm>
          <a:prstGeom prst="roundRect">
            <a:avLst>
              <a:gd name="adj" fmla="val 11424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9"/>
          <a:srcRect l="-1773" r="-1773"/>
          <a:stretch>
            <a:fillRect/>
          </a:stretch>
        </p:blipFill>
        <p:spPr>
          <a:xfrm>
            <a:off x="5106010" y="6010351"/>
            <a:ext cx="133502" cy="171907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5353812" y="5991149"/>
            <a:ext cx="56692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2400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Key Tip</a:t>
            </a:r>
            <a:endParaRPr lang="en-US" sz="1000" dirty="0"/>
          </a:p>
        </p:txBody>
      </p:sp>
      <p:sp>
        <p:nvSpPr>
          <p:cNvPr id="52" name="Text 41"/>
          <p:cNvSpPr txBox="1"/>
          <p:nvPr/>
        </p:nvSpPr>
        <p:spPr>
          <a:xfrm>
            <a:off x="5353812" y="6210605"/>
            <a:ext cx="6106363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4530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The clearer the Spec (especially input/output formats and core algorithm parameters), the higher the usability of AI-generated code, reducing Debug time.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Shape 4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55" name="Text 44"/>
          <p:cNvSpPr txBox="1"/>
          <p:nvPr/>
        </p:nvSpPr>
        <p:spPr>
          <a:xfrm>
            <a:off x="609905" y="6558077"/>
            <a:ext cx="231068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AI-Driven Research Programming Guide</a:t>
            </a:r>
            <a:endParaRPr lang="en-US" sz="1000" dirty="0"/>
          </a:p>
        </p:txBody>
      </p:sp>
      <p:sp>
        <p:nvSpPr>
          <p:cNvPr id="56" name="Text 45"/>
          <p:cNvSpPr txBox="1"/>
          <p:nvPr/>
        </p:nvSpPr>
        <p:spPr>
          <a:xfrm>
            <a:off x="11422685" y="6558077"/>
            <a:ext cx="26243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57" name="Shape 46"/>
          <p:cNvSpPr/>
          <p:nvPr/>
        </p:nvSpPr>
        <p:spPr>
          <a:xfrm>
            <a:off x="619049" y="1503274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8" name="Text 47"/>
          <p:cNvSpPr txBox="1"/>
          <p:nvPr/>
        </p:nvSpPr>
        <p:spPr>
          <a:xfrm>
            <a:off x="703174" y="1526134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803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900" dirty="0"/>
          </a:p>
        </p:txBody>
      </p:sp>
      <p:sp>
        <p:nvSpPr>
          <p:cNvPr id="59" name="Text 48"/>
          <p:cNvSpPr txBox="1"/>
          <p:nvPr/>
        </p:nvSpPr>
        <p:spPr>
          <a:xfrm>
            <a:off x="969264" y="1539850"/>
            <a:ext cx="16687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Define Requirements &amp; Goals</a:t>
            </a:r>
            <a:endParaRPr lang="en-US" sz="1000" dirty="0"/>
          </a:p>
        </p:txBody>
      </p:sp>
      <p:sp>
        <p:nvSpPr>
          <p:cNvPr id="60" name="Shape 49"/>
          <p:cNvSpPr/>
          <p:nvPr/>
        </p:nvSpPr>
        <p:spPr>
          <a:xfrm>
            <a:off x="619049" y="1823314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703174" y="1846174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803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969264" y="1859890"/>
            <a:ext cx="13167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Write Spec Document</a:t>
            </a:r>
            <a:endParaRPr lang="en-US" sz="1000" dirty="0"/>
          </a:p>
        </p:txBody>
      </p:sp>
      <p:sp>
        <p:nvSpPr>
          <p:cNvPr id="63" name="Text 52"/>
          <p:cNvSpPr txBox="1"/>
          <p:nvPr/>
        </p:nvSpPr>
        <p:spPr>
          <a:xfrm>
            <a:off x="2182673" y="1859890"/>
            <a:ext cx="75529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(Markdown)</a:t>
            </a:r>
            <a:endParaRPr lang="en-US" sz="1000" dirty="0"/>
          </a:p>
        </p:txBody>
      </p:sp>
      <p:sp>
        <p:nvSpPr>
          <p:cNvPr id="64" name="Shape 53"/>
          <p:cNvSpPr/>
          <p:nvPr/>
        </p:nvSpPr>
        <p:spPr>
          <a:xfrm>
            <a:off x="619049" y="2143354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5" name="Text 54"/>
          <p:cNvSpPr txBox="1"/>
          <p:nvPr/>
        </p:nvSpPr>
        <p:spPr>
          <a:xfrm>
            <a:off x="703174" y="2165299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803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</a:t>
            </a:r>
            <a:endParaRPr lang="en-US" sz="900" dirty="0"/>
          </a:p>
        </p:txBody>
      </p:sp>
      <p:sp>
        <p:nvSpPr>
          <p:cNvPr id="66" name="Text 55"/>
          <p:cNvSpPr txBox="1"/>
          <p:nvPr/>
        </p:nvSpPr>
        <p:spPr>
          <a:xfrm>
            <a:off x="969264" y="2179930"/>
            <a:ext cx="18882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Generates Code Based on Spec</a:t>
            </a:r>
            <a:endParaRPr lang="en-US" sz="1000" dirty="0"/>
          </a:p>
        </p:txBody>
      </p:sp>
      <p:sp>
        <p:nvSpPr>
          <p:cNvPr id="67" name="Shape 56"/>
          <p:cNvSpPr/>
          <p:nvPr/>
        </p:nvSpPr>
        <p:spPr>
          <a:xfrm>
            <a:off x="619049" y="2463394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8" name="Text 57"/>
          <p:cNvSpPr txBox="1"/>
          <p:nvPr/>
        </p:nvSpPr>
        <p:spPr>
          <a:xfrm>
            <a:off x="703174" y="2485339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803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</a:t>
            </a:r>
            <a:endParaRPr lang="en-US" sz="900" dirty="0"/>
          </a:p>
        </p:txBody>
      </p:sp>
      <p:sp>
        <p:nvSpPr>
          <p:cNvPr id="69" name="Text 58"/>
          <p:cNvSpPr txBox="1"/>
          <p:nvPr/>
        </p:nvSpPr>
        <p:spPr>
          <a:xfrm>
            <a:off x="969264" y="2499970"/>
            <a:ext cx="18690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Manual Review &amp; Simple Testing</a:t>
            </a:r>
            <a:endParaRPr lang="en-US" sz="1000" dirty="0"/>
          </a:p>
        </p:txBody>
      </p:sp>
      <p:sp>
        <p:nvSpPr>
          <p:cNvPr id="70" name="Shape 59"/>
          <p:cNvSpPr/>
          <p:nvPr/>
        </p:nvSpPr>
        <p:spPr>
          <a:xfrm>
            <a:off x="619049" y="2782519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1" name="Text 60"/>
          <p:cNvSpPr txBox="1"/>
          <p:nvPr/>
        </p:nvSpPr>
        <p:spPr>
          <a:xfrm>
            <a:off x="703174" y="2805379"/>
            <a:ext cx="15819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803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5</a:t>
            </a:r>
            <a:endParaRPr lang="en-US" sz="900" dirty="0"/>
          </a:p>
        </p:txBody>
      </p:sp>
      <p:sp>
        <p:nvSpPr>
          <p:cNvPr id="72" name="Text 61"/>
          <p:cNvSpPr txBox="1"/>
          <p:nvPr/>
        </p:nvSpPr>
        <p:spPr>
          <a:xfrm>
            <a:off x="969264" y="2819095"/>
            <a:ext cx="16404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Task Complete, Archive Spec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4787798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Level 2: Spec-Anchored（规范锚定）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91886" y="267005"/>
            <a:ext cx="9144" cy="22860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7" name="Text 5"/>
          <p:cNvSpPr txBox="1"/>
          <p:nvPr/>
        </p:nvSpPr>
        <p:spPr>
          <a:xfrm>
            <a:off x="5806440" y="295351"/>
            <a:ext cx="19531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长期维护项目的工程化标准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3095" y="990295"/>
            <a:ext cx="11125505" cy="1438351"/>
          </a:xfrm>
          <a:prstGeom prst="roundRect">
            <a:avLst>
              <a:gd name="adj" fmla="val 5052"/>
            </a:avLst>
          </a:prstGeom>
          <a:solidFill>
            <a:srgbClr val="EFF6FF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3095" y="990295"/>
            <a:ext cx="57607" cy="1438351"/>
          </a:xfrm>
          <a:prstGeom prst="rect">
            <a:avLst/>
          </a:prstGeom>
          <a:solidFill>
            <a:srgbClr val="2563EB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19302" y="1181405"/>
            <a:ext cx="152705" cy="1527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47902" y="1143000"/>
            <a:ext cx="21058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锚定流程：Spec作为长期锚点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66544" y="1704442"/>
            <a:ext cx="1943100" cy="19202"/>
          </a:xfrm>
          <a:prstGeom prst="rect">
            <a:avLst/>
          </a:prstGeom>
          <a:solidFill>
            <a:srgbClr val="BFDBFE"/>
          </a:solidFill>
        </p:spPr>
      </p:sp>
      <p:sp>
        <p:nvSpPr>
          <p:cNvPr id="13" name="Shape 10"/>
          <p:cNvSpPr/>
          <p:nvPr/>
        </p:nvSpPr>
        <p:spPr>
          <a:xfrm>
            <a:off x="5152644" y="1704442"/>
            <a:ext cx="1943100" cy="19202"/>
          </a:xfrm>
          <a:prstGeom prst="rect">
            <a:avLst/>
          </a:prstGeom>
          <a:solidFill>
            <a:srgbClr val="BFDBFE"/>
          </a:solidFill>
        </p:spPr>
      </p:sp>
      <p:sp>
        <p:nvSpPr>
          <p:cNvPr id="14" name="Shape 11"/>
          <p:cNvSpPr/>
          <p:nvPr/>
        </p:nvSpPr>
        <p:spPr>
          <a:xfrm>
            <a:off x="8238744" y="1704442"/>
            <a:ext cx="1943100" cy="19202"/>
          </a:xfrm>
          <a:prstGeom prst="rect">
            <a:avLst/>
          </a:prstGeom>
          <a:solidFill>
            <a:srgbClr val="BFDBFE"/>
          </a:solidFill>
        </p:spPr>
      </p:sp>
      <p:sp>
        <p:nvSpPr>
          <p:cNvPr id="15" name="Shape 12"/>
          <p:cNvSpPr/>
          <p:nvPr/>
        </p:nvSpPr>
        <p:spPr>
          <a:xfrm>
            <a:off x="533095" y="2649017"/>
            <a:ext cx="5447995" cy="4153205"/>
          </a:xfrm>
          <a:prstGeom prst="roundRect">
            <a:avLst>
              <a:gd name="adj" fmla="val 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26034" y="3279953"/>
            <a:ext cx="5067605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7" name="Shape 14"/>
          <p:cNvSpPr/>
          <p:nvPr/>
        </p:nvSpPr>
        <p:spPr>
          <a:xfrm>
            <a:off x="726034" y="2841041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EFF6FF"/>
          </a:solidFill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1073" y="2926994"/>
            <a:ext cx="171907" cy="171907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190549" y="2916022"/>
            <a:ext cx="164043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适用场景与核心实践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6034" y="3468319"/>
            <a:ext cx="133502" cy="1335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50062" y="3456432"/>
            <a:ext cx="152796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中型项目 (500-2000行)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950062" y="3688690"/>
            <a:ext cx="28218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代码量超出记忆范围，需要文档作为外部记忆。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 l="-1507" r="-1507"/>
          <a:stretch>
            <a:fillRect/>
          </a:stretch>
        </p:blipFill>
        <p:spPr>
          <a:xfrm>
            <a:off x="726034" y="4003243"/>
            <a:ext cx="171907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88466" y="3992270"/>
            <a:ext cx="98572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团队协作项目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988466" y="4224528"/>
            <a:ext cx="34216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多人开发时，Spec是唯一的共识来源，避免"Vibe"不一致。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26034" y="4539082"/>
            <a:ext cx="133502" cy="1335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50062" y="4528109"/>
            <a:ext cx="98572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长期维护项目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950062" y="4760366"/>
            <a:ext cx="30120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3个月后重看代码，Spec比注释更易理解业务逻辑。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26034" y="5700370"/>
            <a:ext cx="5067605" cy="905256"/>
          </a:xfrm>
          <a:prstGeom prst="roundRect">
            <a:avLst>
              <a:gd name="adj" fmla="val 8506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56793" y="5851246"/>
            <a:ext cx="9171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三大核心实践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56793" y="6117336"/>
            <a:ext cx="1057046" cy="295351"/>
          </a:xfrm>
          <a:prstGeom prst="roundRect">
            <a:avLst>
              <a:gd name="adj" fmla="val 399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58291" y="6202375"/>
            <a:ext cx="123444" cy="12344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081735" y="6173114"/>
            <a:ext cx="82570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双向同步更新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1975104" y="6117336"/>
            <a:ext cx="1190549" cy="295351"/>
          </a:xfrm>
          <a:prstGeom prst="roundRect">
            <a:avLst>
              <a:gd name="adj" fmla="val 399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rcRect t="-1359" b="-1359"/>
          <a:stretch>
            <a:fillRect/>
          </a:stretch>
        </p:blipFill>
        <p:spPr>
          <a:xfrm>
            <a:off x="2075688" y="6202375"/>
            <a:ext cx="105156" cy="12344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2180844" y="6173114"/>
            <a:ext cx="97749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Spec纳入Git管理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3222346" y="6117336"/>
            <a:ext cx="1295705" cy="295351"/>
          </a:xfrm>
          <a:prstGeom prst="roundRect">
            <a:avLst>
              <a:gd name="adj" fmla="val 399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323844" y="6202375"/>
            <a:ext cx="123444" cy="1234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3447288" y="6173114"/>
            <a:ext cx="106344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评审查Spec一致性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6210605" y="2649017"/>
            <a:ext cx="5447995" cy="4153205"/>
          </a:xfrm>
          <a:prstGeom prst="roundRect">
            <a:avLst>
              <a:gd name="adj" fmla="val 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6402629" y="3279953"/>
            <a:ext cx="5067605" cy="9144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2" name="Shape 32"/>
          <p:cNvSpPr/>
          <p:nvPr/>
        </p:nvSpPr>
        <p:spPr>
          <a:xfrm>
            <a:off x="6402629" y="2841041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E2E8F0"/>
          </a:solidFill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9"/>
          <a:srcRect t="-842" b="-842"/>
          <a:stretch>
            <a:fillRect/>
          </a:stretch>
        </p:blipFill>
        <p:spPr>
          <a:xfrm>
            <a:off x="6478524" y="2926994"/>
            <a:ext cx="190195" cy="171907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867144" y="2916022"/>
            <a:ext cx="18790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Memory Bank 体系架构</a:t>
            </a:r>
            <a:endParaRPr lang="en-US" sz="1300" dirty="0"/>
          </a:p>
        </p:txBody>
      </p:sp>
      <p:sp>
        <p:nvSpPr>
          <p:cNvPr id="45" name="Text 34"/>
          <p:cNvSpPr txBox="1"/>
          <p:nvPr/>
        </p:nvSpPr>
        <p:spPr>
          <a:xfrm>
            <a:off x="6402629" y="3456432"/>
            <a:ext cx="27578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通过结构化文档体系，为AI建立"长期记忆"。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6402629" y="3749954"/>
            <a:ext cx="5067605" cy="2857500"/>
          </a:xfrm>
          <a:prstGeom prst="roundRect">
            <a:avLst>
              <a:gd name="adj" fmla="val 853"/>
            </a:avLst>
          </a:prstGeom>
          <a:solidFill>
            <a:srgbClr val="1E293B"/>
          </a:solidFill>
        </p:spPr>
      </p:sp>
      <p:sp>
        <p:nvSpPr>
          <p:cNvPr id="47" name="Shape 36"/>
          <p:cNvSpPr/>
          <p:nvPr/>
        </p:nvSpPr>
        <p:spPr>
          <a:xfrm>
            <a:off x="10399471" y="3871570"/>
            <a:ext cx="952805" cy="237744"/>
          </a:xfrm>
          <a:prstGeom prst="roundRect">
            <a:avLst>
              <a:gd name="adj" fmla="val 61538"/>
            </a:avLst>
          </a:prstGeom>
          <a:solidFill>
            <a:srgbClr val="059669"/>
          </a:solidFill>
        </p:spPr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0"/>
          <a:srcRect t="-80" b="-80"/>
          <a:stretch>
            <a:fillRect/>
          </a:stretch>
        </p:blipFill>
        <p:spPr>
          <a:xfrm>
            <a:off x="10490911" y="3931006"/>
            <a:ext cx="142646" cy="114300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0710367" y="3902659"/>
            <a:ext cx="62910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Context</a:t>
            </a:r>
            <a:endParaRPr lang="en-US" sz="900" dirty="0"/>
          </a:p>
        </p:txBody>
      </p:sp>
      <p:sp>
        <p:nvSpPr>
          <p:cNvPr id="50" name="Text 38"/>
          <p:cNvSpPr txBox="1"/>
          <p:nvPr/>
        </p:nvSpPr>
        <p:spPr>
          <a:xfrm>
            <a:off x="6585509" y="3952037"/>
            <a:ext cx="72603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6585509" y="4159606"/>
            <a:ext cx="33558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</a:t>
            </a:r>
            <a:endParaRPr lang="en-US" sz="1000" dirty="0"/>
          </a:p>
        </p:txBody>
      </p:sp>
      <p:sp>
        <p:nvSpPr>
          <p:cNvPr id="52" name="Text 40"/>
          <p:cNvSpPr txBox="1"/>
          <p:nvPr/>
        </p:nvSpPr>
        <p:spPr>
          <a:xfrm>
            <a:off x="6819595" y="4159606"/>
            <a:ext cx="104058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.ai-context/</a:t>
            </a:r>
            <a:endParaRPr lang="en-US" sz="1000" dirty="0"/>
          </a:p>
        </p:txBody>
      </p:sp>
      <p:sp>
        <p:nvSpPr>
          <p:cNvPr id="53" name="Text 41"/>
          <p:cNvSpPr txBox="1"/>
          <p:nvPr/>
        </p:nvSpPr>
        <p:spPr>
          <a:xfrm>
            <a:off x="7876642" y="4177894"/>
            <a:ext cx="9400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AI 上下文核心</a:t>
            </a:r>
            <a:endParaRPr lang="en-US" sz="900" dirty="0"/>
          </a:p>
        </p:txBody>
      </p:sp>
      <p:sp>
        <p:nvSpPr>
          <p:cNvPr id="54" name="Text 42"/>
          <p:cNvSpPr txBox="1"/>
          <p:nvPr/>
        </p:nvSpPr>
        <p:spPr>
          <a:xfrm>
            <a:off x="6585509" y="4366260"/>
            <a:ext cx="4882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</a:t>
            </a:r>
            <a:endParaRPr lang="en-US" sz="1000" dirty="0"/>
          </a:p>
        </p:txBody>
      </p:sp>
      <p:sp>
        <p:nvSpPr>
          <p:cNvPr id="55" name="Text 43"/>
          <p:cNvSpPr txBox="1"/>
          <p:nvPr/>
        </p:nvSpPr>
        <p:spPr>
          <a:xfrm>
            <a:off x="6975043" y="4366260"/>
            <a:ext cx="126918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constitution.md</a:t>
            </a:r>
            <a:endParaRPr lang="en-US" sz="1000" dirty="0"/>
          </a:p>
        </p:txBody>
      </p:sp>
      <p:sp>
        <p:nvSpPr>
          <p:cNvPr id="56" name="Text 44"/>
          <p:cNvSpPr txBox="1"/>
          <p:nvPr/>
        </p:nvSpPr>
        <p:spPr>
          <a:xfrm>
            <a:off x="8266176" y="4385462"/>
            <a:ext cx="13679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项目宪法(最高优先级)</a:t>
            </a:r>
            <a:endParaRPr lang="en-US" sz="900" dirty="0"/>
          </a:p>
        </p:txBody>
      </p:sp>
      <p:sp>
        <p:nvSpPr>
          <p:cNvPr id="57" name="Text 45"/>
          <p:cNvSpPr txBox="1"/>
          <p:nvPr/>
        </p:nvSpPr>
        <p:spPr>
          <a:xfrm>
            <a:off x="6585509" y="4573829"/>
            <a:ext cx="4882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</a:t>
            </a:r>
            <a:endParaRPr lang="en-US" sz="1000" dirty="0"/>
          </a:p>
        </p:txBody>
      </p:sp>
      <p:sp>
        <p:nvSpPr>
          <p:cNvPr id="58" name="Text 46"/>
          <p:cNvSpPr txBox="1"/>
          <p:nvPr/>
        </p:nvSpPr>
        <p:spPr>
          <a:xfrm>
            <a:off x="6975043" y="4573829"/>
            <a:ext cx="126918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architecture.md</a:t>
            </a:r>
            <a:endParaRPr lang="en-US" sz="1000" dirty="0"/>
          </a:p>
        </p:txBody>
      </p:sp>
      <p:sp>
        <p:nvSpPr>
          <p:cNvPr id="59" name="Text 47"/>
          <p:cNvSpPr txBox="1"/>
          <p:nvPr/>
        </p:nvSpPr>
        <p:spPr>
          <a:xfrm>
            <a:off x="8266176" y="4593031"/>
            <a:ext cx="67299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架构设计</a:t>
            </a:r>
            <a:endParaRPr lang="en-US" sz="900" dirty="0"/>
          </a:p>
        </p:txBody>
      </p:sp>
      <p:sp>
        <p:nvSpPr>
          <p:cNvPr id="60" name="Text 48"/>
          <p:cNvSpPr txBox="1"/>
          <p:nvPr/>
        </p:nvSpPr>
        <p:spPr>
          <a:xfrm>
            <a:off x="6585509" y="4781398"/>
            <a:ext cx="4882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</a:t>
            </a:r>
            <a:endParaRPr lang="en-US" sz="1000" dirty="0"/>
          </a:p>
        </p:txBody>
      </p:sp>
      <p:sp>
        <p:nvSpPr>
          <p:cNvPr id="61" name="Text 49"/>
          <p:cNvSpPr txBox="1"/>
          <p:nvPr/>
        </p:nvSpPr>
        <p:spPr>
          <a:xfrm>
            <a:off x="6975043" y="4781398"/>
            <a:ext cx="158374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coding-standards.md</a:t>
            </a:r>
            <a:endParaRPr lang="en-US" sz="1000" dirty="0"/>
          </a:p>
        </p:txBody>
      </p:sp>
      <p:sp>
        <p:nvSpPr>
          <p:cNvPr id="62" name="Text 50"/>
          <p:cNvSpPr txBox="1"/>
          <p:nvPr/>
        </p:nvSpPr>
        <p:spPr>
          <a:xfrm>
            <a:off x="8577986" y="4800600"/>
            <a:ext cx="67299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编码规范</a:t>
            </a:r>
            <a:endParaRPr lang="en-US" sz="900" dirty="0"/>
          </a:p>
        </p:txBody>
      </p:sp>
      <p:sp>
        <p:nvSpPr>
          <p:cNvPr id="63" name="Text 51"/>
          <p:cNvSpPr txBox="1"/>
          <p:nvPr/>
        </p:nvSpPr>
        <p:spPr>
          <a:xfrm>
            <a:off x="6585509" y="4988052"/>
            <a:ext cx="1828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</p:txBody>
      </p:sp>
      <p:sp>
        <p:nvSpPr>
          <p:cNvPr id="64" name="Text 52"/>
          <p:cNvSpPr txBox="1"/>
          <p:nvPr/>
        </p:nvSpPr>
        <p:spPr>
          <a:xfrm>
            <a:off x="6585509" y="5195621"/>
            <a:ext cx="33558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</a:t>
            </a:r>
            <a:endParaRPr lang="en-US" sz="1000" dirty="0"/>
          </a:p>
        </p:txBody>
      </p:sp>
      <p:sp>
        <p:nvSpPr>
          <p:cNvPr id="65" name="Text 53"/>
          <p:cNvSpPr txBox="1"/>
          <p:nvPr/>
        </p:nvSpPr>
        <p:spPr>
          <a:xfrm>
            <a:off x="6819595" y="5195621"/>
            <a:ext cx="57424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</a:t>
            </a:r>
            <a:endParaRPr lang="en-US" sz="1000" dirty="0"/>
          </a:p>
        </p:txBody>
      </p:sp>
      <p:sp>
        <p:nvSpPr>
          <p:cNvPr id="66" name="Text 54"/>
          <p:cNvSpPr txBox="1"/>
          <p:nvPr/>
        </p:nvSpPr>
        <p:spPr>
          <a:xfrm>
            <a:off x="7409383" y="5214823"/>
            <a:ext cx="67299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功能规范</a:t>
            </a:r>
            <a:endParaRPr lang="en-US" sz="900" dirty="0"/>
          </a:p>
        </p:txBody>
      </p:sp>
      <p:sp>
        <p:nvSpPr>
          <p:cNvPr id="67" name="Text 55"/>
          <p:cNvSpPr txBox="1"/>
          <p:nvPr/>
        </p:nvSpPr>
        <p:spPr>
          <a:xfrm>
            <a:off x="6585509" y="5403190"/>
            <a:ext cx="4882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</a:t>
            </a:r>
            <a:endParaRPr lang="en-US" sz="1000" dirty="0"/>
          </a:p>
        </p:txBody>
      </p:sp>
      <p:sp>
        <p:nvSpPr>
          <p:cNvPr id="68" name="Text 56"/>
          <p:cNvSpPr txBox="1"/>
          <p:nvPr/>
        </p:nvSpPr>
        <p:spPr>
          <a:xfrm>
            <a:off x="6975043" y="5403190"/>
            <a:ext cx="104058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feature-001/</a:t>
            </a:r>
            <a:endParaRPr lang="en-US" sz="1000" dirty="0"/>
          </a:p>
        </p:txBody>
      </p:sp>
      <p:sp>
        <p:nvSpPr>
          <p:cNvPr id="69" name="Text 57"/>
          <p:cNvSpPr txBox="1"/>
          <p:nvPr/>
        </p:nvSpPr>
        <p:spPr>
          <a:xfrm>
            <a:off x="6585509" y="5610758"/>
            <a:ext cx="65013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│ ├──</a:t>
            </a:r>
            <a:endParaRPr lang="en-US" sz="1000" dirty="0"/>
          </a:p>
        </p:txBody>
      </p:sp>
      <p:sp>
        <p:nvSpPr>
          <p:cNvPr id="70" name="Text 58"/>
          <p:cNvSpPr txBox="1"/>
          <p:nvPr/>
        </p:nvSpPr>
        <p:spPr>
          <a:xfrm>
            <a:off x="7131406" y="5610758"/>
            <a:ext cx="126918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requirements.md</a:t>
            </a:r>
            <a:endParaRPr lang="en-US" sz="1000" dirty="0"/>
          </a:p>
        </p:txBody>
      </p:sp>
      <p:sp>
        <p:nvSpPr>
          <p:cNvPr id="71" name="Text 59"/>
          <p:cNvSpPr txBox="1"/>
          <p:nvPr/>
        </p:nvSpPr>
        <p:spPr>
          <a:xfrm>
            <a:off x="6585509" y="5817413"/>
            <a:ext cx="65013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│ └──</a:t>
            </a:r>
            <a:endParaRPr lang="en-US" sz="1000" dirty="0"/>
          </a:p>
        </p:txBody>
      </p:sp>
      <p:sp>
        <p:nvSpPr>
          <p:cNvPr id="72" name="Text 60"/>
          <p:cNvSpPr txBox="1"/>
          <p:nvPr/>
        </p:nvSpPr>
        <p:spPr>
          <a:xfrm>
            <a:off x="7131406" y="5817413"/>
            <a:ext cx="72603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tests.md</a:t>
            </a:r>
            <a:endParaRPr lang="en-US" sz="1000" dirty="0"/>
          </a:p>
        </p:txBody>
      </p:sp>
      <p:sp>
        <p:nvSpPr>
          <p:cNvPr id="73" name="Text 61"/>
          <p:cNvSpPr txBox="1"/>
          <p:nvPr/>
        </p:nvSpPr>
        <p:spPr>
          <a:xfrm>
            <a:off x="6585509" y="6024982"/>
            <a:ext cx="48829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</a:t>
            </a:r>
            <a:endParaRPr lang="en-US" sz="1000" dirty="0"/>
          </a:p>
        </p:txBody>
      </p:sp>
      <p:sp>
        <p:nvSpPr>
          <p:cNvPr id="74" name="Text 62"/>
          <p:cNvSpPr txBox="1"/>
          <p:nvPr/>
        </p:nvSpPr>
        <p:spPr>
          <a:xfrm>
            <a:off x="6975043" y="6024982"/>
            <a:ext cx="104058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feature-002/</a:t>
            </a:r>
            <a:endParaRPr lang="en-US" sz="1000" dirty="0"/>
          </a:p>
        </p:txBody>
      </p:sp>
      <p:sp>
        <p:nvSpPr>
          <p:cNvPr id="75" name="Text 63"/>
          <p:cNvSpPr txBox="1"/>
          <p:nvPr/>
        </p:nvSpPr>
        <p:spPr>
          <a:xfrm>
            <a:off x="6585509" y="6232550"/>
            <a:ext cx="33558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</a:t>
            </a:r>
            <a:endParaRPr lang="en-US" sz="1000" dirty="0"/>
          </a:p>
        </p:txBody>
      </p:sp>
      <p:sp>
        <p:nvSpPr>
          <p:cNvPr id="76" name="Text 64"/>
          <p:cNvSpPr txBox="1"/>
          <p:nvPr/>
        </p:nvSpPr>
        <p:spPr>
          <a:xfrm>
            <a:off x="6819595" y="6232550"/>
            <a:ext cx="41148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000" dirty="0"/>
          </a:p>
        </p:txBody>
      </p:sp>
      <p:sp>
        <p:nvSpPr>
          <p:cNvPr id="77" name="Text 65"/>
          <p:cNvSpPr txBox="1"/>
          <p:nvPr/>
        </p:nvSpPr>
        <p:spPr>
          <a:xfrm>
            <a:off x="7253021" y="6251753"/>
            <a:ext cx="138714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源代码 (基于Spec实现)</a:t>
            </a:r>
            <a:endParaRPr lang="en-US" sz="900" dirty="0"/>
          </a:p>
        </p:txBody>
      </p:sp>
      <p:sp>
        <p:nvSpPr>
          <p:cNvPr id="78" name="Shape 66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9" name="Shape 67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68"/>
          <p:cNvSpPr txBox="1"/>
          <p:nvPr/>
        </p:nvSpPr>
        <p:spPr>
          <a:xfrm>
            <a:off x="609905" y="6493154"/>
            <a:ext cx="162763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AI驱动科研编程实战指南</a:t>
            </a:r>
            <a:endParaRPr lang="en-US" sz="1000" dirty="0"/>
          </a:p>
        </p:txBody>
      </p:sp>
      <p:sp>
        <p:nvSpPr>
          <p:cNvPr id="81" name="Text 69"/>
          <p:cNvSpPr txBox="1"/>
          <p:nvPr/>
        </p:nvSpPr>
        <p:spPr>
          <a:xfrm>
            <a:off x="11418113" y="6493154"/>
            <a:ext cx="27432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82" name="Shape 70"/>
          <p:cNvSpPr/>
          <p:nvPr/>
        </p:nvSpPr>
        <p:spPr>
          <a:xfrm>
            <a:off x="1295705" y="1493215"/>
            <a:ext cx="400507" cy="40050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38100" dist="25400" dir="5400000" algn="bl" rotWithShape="0">
              <a:srgbClr val="2563EB">
                <a:alpha val="10000"/>
              </a:srgbClr>
            </a:outerShdw>
          </a:effectLst>
        </p:spPr>
      </p:sp>
      <p:pic>
        <p:nvPicPr>
          <p:cNvPr id="83" name="Image 10" descr="preencoded.png"/>
          <p:cNvPicPr>
            <a:picLocks noChangeAspect="1"/>
          </p:cNvPicPr>
          <p:nvPr/>
        </p:nvPicPr>
        <p:blipFill>
          <a:blip r:embed="rId11"/>
          <a:srcRect t="-2222" b="-2222"/>
          <a:stretch>
            <a:fillRect/>
          </a:stretch>
        </p:blipFill>
        <p:spPr>
          <a:xfrm>
            <a:off x="1433779" y="1607515"/>
            <a:ext cx="123444" cy="171907"/>
          </a:xfrm>
          <a:prstGeom prst="rect">
            <a:avLst/>
          </a:prstGeom>
        </p:spPr>
      </p:pic>
      <p:sp>
        <p:nvSpPr>
          <p:cNvPr id="84" name="Text 71"/>
          <p:cNvSpPr txBox="1"/>
          <p:nvPr/>
        </p:nvSpPr>
        <p:spPr>
          <a:xfrm>
            <a:off x="1236269" y="1954073"/>
            <a:ext cx="6217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需求变更</a:t>
            </a:r>
            <a:endParaRPr lang="en-US" sz="1000" dirty="0"/>
          </a:p>
        </p:txBody>
      </p:sp>
      <p:sp>
        <p:nvSpPr>
          <p:cNvPr id="85" name="Text 72"/>
          <p:cNvSpPr txBox="1"/>
          <p:nvPr/>
        </p:nvSpPr>
        <p:spPr>
          <a:xfrm>
            <a:off x="1125626" y="2139696"/>
            <a:ext cx="82296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发现新需求/Bug</a:t>
            </a:r>
            <a:endParaRPr lang="en-US" sz="800" dirty="0"/>
          </a:p>
        </p:txBody>
      </p:sp>
      <p:sp>
        <p:nvSpPr>
          <p:cNvPr id="86" name="Shape 73"/>
          <p:cNvSpPr/>
          <p:nvPr/>
        </p:nvSpPr>
        <p:spPr>
          <a:xfrm>
            <a:off x="4381805" y="1493215"/>
            <a:ext cx="400507" cy="400507"/>
          </a:xfrm>
          <a:prstGeom prst="ellipse">
            <a:avLst/>
          </a:prstGeom>
          <a:solidFill>
            <a:srgbClr val="EFF6FF"/>
          </a:solidFill>
          <a:ln w="38100">
            <a:solidFill>
              <a:srgbClr val="2563EB"/>
            </a:solidFill>
            <a:prstDash val="solid"/>
          </a:ln>
          <a:effectLst>
            <a:outerShdw blurRad="38100" dist="25400" dir="5400000" algn="bl" rotWithShape="0">
              <a:srgbClr val="2563EB">
                <a:alpha val="10000"/>
              </a:srgbClr>
            </a:outerShdw>
          </a:effectLst>
        </p:spPr>
      </p:sp>
      <p:pic>
        <p:nvPicPr>
          <p:cNvPr id="87" name="Image 11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4496105" y="1607515"/>
            <a:ext cx="171907" cy="171907"/>
          </a:xfrm>
          <a:prstGeom prst="rect">
            <a:avLst/>
          </a:prstGeom>
        </p:spPr>
      </p:pic>
      <p:sp>
        <p:nvSpPr>
          <p:cNvPr id="88" name="Text 74"/>
          <p:cNvSpPr txBox="1"/>
          <p:nvPr/>
        </p:nvSpPr>
        <p:spPr>
          <a:xfrm>
            <a:off x="4322369" y="1954073"/>
            <a:ext cx="6217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更新Spec</a:t>
            </a:r>
            <a:endParaRPr lang="en-US" sz="1000" dirty="0"/>
          </a:p>
        </p:txBody>
      </p:sp>
      <p:sp>
        <p:nvSpPr>
          <p:cNvPr id="89" name="Text 75"/>
          <p:cNvSpPr txBox="1"/>
          <p:nvPr/>
        </p:nvSpPr>
        <p:spPr>
          <a:xfrm>
            <a:off x="4155034" y="2139696"/>
            <a:ext cx="938174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修改文档而非代码</a:t>
            </a:r>
            <a:endParaRPr lang="en-US" sz="800" dirty="0"/>
          </a:p>
        </p:txBody>
      </p:sp>
      <p:sp>
        <p:nvSpPr>
          <p:cNvPr id="90" name="Shape 76"/>
          <p:cNvSpPr/>
          <p:nvPr/>
        </p:nvSpPr>
        <p:spPr>
          <a:xfrm>
            <a:off x="7467905" y="1493215"/>
            <a:ext cx="400507" cy="40050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38100" dist="25400" dir="5400000" algn="bl" rotWithShape="0">
              <a:srgbClr val="2563EB">
                <a:alpha val="10000"/>
              </a:srgbClr>
            </a:outerShdw>
          </a:effectLst>
        </p:spPr>
      </p:sp>
      <p:pic>
        <p:nvPicPr>
          <p:cNvPr id="91" name="Image 12" descr="preencoded.png"/>
          <p:cNvPicPr>
            <a:picLocks noChangeAspect="1"/>
          </p:cNvPicPr>
          <p:nvPr/>
        </p:nvPicPr>
        <p:blipFill>
          <a:blip r:embed="rId13"/>
          <a:srcRect t="-1310" b="-1310"/>
          <a:stretch>
            <a:fillRect/>
          </a:stretch>
        </p:blipFill>
        <p:spPr>
          <a:xfrm>
            <a:off x="7563002" y="1607515"/>
            <a:ext cx="209398" cy="171907"/>
          </a:xfrm>
          <a:prstGeom prst="rect">
            <a:avLst/>
          </a:prstGeom>
        </p:spPr>
      </p:pic>
      <p:sp>
        <p:nvSpPr>
          <p:cNvPr id="92" name="Text 77"/>
          <p:cNvSpPr txBox="1"/>
          <p:nvPr/>
        </p:nvSpPr>
        <p:spPr>
          <a:xfrm>
            <a:off x="7336231" y="1954073"/>
            <a:ext cx="7644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AI更新代码</a:t>
            </a:r>
            <a:endParaRPr lang="en-US" sz="1000" dirty="0"/>
          </a:p>
        </p:txBody>
      </p:sp>
      <p:sp>
        <p:nvSpPr>
          <p:cNvPr id="93" name="Text 78"/>
          <p:cNvSpPr txBox="1"/>
          <p:nvPr/>
        </p:nvSpPr>
        <p:spPr>
          <a:xfrm>
            <a:off x="7297826" y="2139696"/>
            <a:ext cx="82296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基于新Spec生成</a:t>
            </a:r>
            <a:endParaRPr lang="en-US" sz="800" dirty="0"/>
          </a:p>
        </p:txBody>
      </p:sp>
      <p:sp>
        <p:nvSpPr>
          <p:cNvPr id="94" name="Shape 79"/>
          <p:cNvSpPr/>
          <p:nvPr/>
        </p:nvSpPr>
        <p:spPr>
          <a:xfrm>
            <a:off x="10554005" y="1493215"/>
            <a:ext cx="400507" cy="40050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38100" dist="25400" dir="5400000" algn="bl" rotWithShape="0">
              <a:srgbClr val="2563EB">
                <a:alpha val="10000"/>
              </a:srgbClr>
            </a:outerShdw>
          </a:effectLst>
        </p:spPr>
      </p:sp>
      <p:pic>
        <p:nvPicPr>
          <p:cNvPr id="95" name="Image 13" descr="preencoded.png"/>
          <p:cNvPicPr>
            <a:picLocks noChangeAspect="1"/>
          </p:cNvPicPr>
          <p:nvPr/>
        </p:nvPicPr>
        <p:blipFill>
          <a:blip r:embed="rId14"/>
          <a:srcRect t="-2725" b="-2725"/>
          <a:stretch>
            <a:fillRect/>
          </a:stretch>
        </p:blipFill>
        <p:spPr>
          <a:xfrm>
            <a:off x="10682021" y="1607515"/>
            <a:ext cx="142646" cy="171907"/>
          </a:xfrm>
          <a:prstGeom prst="rect">
            <a:avLst/>
          </a:prstGeom>
        </p:spPr>
      </p:pic>
      <p:sp>
        <p:nvSpPr>
          <p:cNvPr id="96" name="Text 80"/>
          <p:cNvSpPr txBox="1"/>
          <p:nvPr/>
        </p:nvSpPr>
        <p:spPr>
          <a:xfrm>
            <a:off x="10429646" y="1954073"/>
            <a:ext cx="7452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一致性审查</a:t>
            </a:r>
            <a:endParaRPr lang="en-US" sz="1000" dirty="0"/>
          </a:p>
        </p:txBody>
      </p:sp>
      <p:sp>
        <p:nvSpPr>
          <p:cNvPr id="97" name="Text 81"/>
          <p:cNvSpPr txBox="1"/>
          <p:nvPr/>
        </p:nvSpPr>
        <p:spPr>
          <a:xfrm>
            <a:off x="10330891" y="2139696"/>
            <a:ext cx="92811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确保代码符合Spec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831843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4911242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Level 3: Spec-as-Source（规范即源码）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17159" y="267005"/>
            <a:ext cx="9144" cy="228600"/>
          </a:xfrm>
          <a:prstGeom prst="rect">
            <a:avLst/>
          </a:prstGeom>
          <a:solidFill>
            <a:srgbClr val="BE185D"/>
          </a:solidFill>
        </p:spPr>
      </p:sp>
      <p:sp>
        <p:nvSpPr>
          <p:cNvPr id="7" name="Text 5"/>
          <p:cNvSpPr txBox="1"/>
          <p:nvPr/>
        </p:nvSpPr>
        <p:spPr>
          <a:xfrm>
            <a:off x="5931713" y="295351"/>
            <a:ext cx="24103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BCFE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极致自动化：只改规范，不碰代码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11277295" cy="819302"/>
          </a:xfrm>
          <a:prstGeom prst="roundRect">
            <a:avLst>
              <a:gd name="adj" fmla="val 15573"/>
            </a:avLst>
          </a:prstGeom>
          <a:solidFill>
            <a:srgbClr val="FDF2F8"/>
          </a:solidFill>
        </p:spPr>
      </p:sp>
      <p:sp>
        <p:nvSpPr>
          <p:cNvPr id="9" name="Shape 7"/>
          <p:cNvSpPr/>
          <p:nvPr/>
        </p:nvSpPr>
        <p:spPr>
          <a:xfrm>
            <a:off x="457200" y="990295"/>
            <a:ext cx="57607" cy="819302"/>
          </a:xfrm>
          <a:prstGeom prst="rect">
            <a:avLst/>
          </a:prstGeom>
          <a:solidFill>
            <a:srgbClr val="831843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3407" y="1183234"/>
            <a:ext cx="171907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90295" y="1143000"/>
            <a:ext cx="802843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3184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核心流程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43407" y="1452067"/>
            <a:ext cx="590062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将Spec视为源代码，生成的代码视为编译产物（Build Artifact），禁止人工修改生成的代码。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14793" y="1192378"/>
            <a:ext cx="3800246" cy="409651"/>
          </a:xfrm>
          <a:prstGeom prst="roundRect">
            <a:avLst>
              <a:gd name="adj" fmla="val 41528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836408" y="1253642"/>
            <a:ext cx="866851" cy="286207"/>
          </a:xfrm>
          <a:prstGeom prst="roundRect">
            <a:avLst>
              <a:gd name="adj" fmla="val 42599"/>
            </a:avLst>
          </a:prstGeom>
          <a:solidFill>
            <a:srgbClr val="FCE7F3"/>
          </a:solidFill>
        </p:spPr>
      </p:sp>
      <p:sp>
        <p:nvSpPr>
          <p:cNvPr id="15" name="Text 12"/>
          <p:cNvSpPr txBox="1"/>
          <p:nvPr/>
        </p:nvSpPr>
        <p:spPr>
          <a:xfrm>
            <a:off x="7927848" y="1318565"/>
            <a:ext cx="7836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85D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只编辑 Spec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8791042" y="1334110"/>
            <a:ext cx="105156" cy="1234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986723" y="1253642"/>
            <a:ext cx="886054" cy="286207"/>
          </a:xfrm>
          <a:prstGeom prst="roundRect">
            <a:avLst>
              <a:gd name="adj" fmla="val 42599"/>
            </a:avLst>
          </a:prstGeom>
          <a:solidFill>
            <a:srgbClr val="F1F5F9"/>
          </a:solidFill>
        </p:spPr>
      </p:sp>
      <p:sp>
        <p:nvSpPr>
          <p:cNvPr id="18" name="Text 14"/>
          <p:cNvSpPr txBox="1"/>
          <p:nvPr/>
        </p:nvSpPr>
        <p:spPr>
          <a:xfrm>
            <a:off x="9078163" y="1318565"/>
            <a:ext cx="7927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自动生成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2"/>
          <a:srcRect t="-1359" b="-1359"/>
          <a:stretch>
            <a:fillRect/>
          </a:stretch>
        </p:blipFill>
        <p:spPr>
          <a:xfrm>
            <a:off x="9955073" y="1334110"/>
            <a:ext cx="105156" cy="12344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0151669" y="1253642"/>
            <a:ext cx="1238098" cy="286207"/>
          </a:xfrm>
          <a:prstGeom prst="roundRect">
            <a:avLst>
              <a:gd name="adj" fmla="val 42599"/>
            </a:avLst>
          </a:prstGeom>
          <a:solidFill>
            <a:srgbClr val="F1F5F9"/>
          </a:solidFill>
        </p:spPr>
      </p:sp>
      <p:sp>
        <p:nvSpPr>
          <p:cNvPr id="21" name="Text 16"/>
          <p:cNvSpPr txBox="1"/>
          <p:nvPr/>
        </p:nvSpPr>
        <p:spPr>
          <a:xfrm>
            <a:off x="10243109" y="1318565"/>
            <a:ext cx="11548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代码标记为"只读"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1992478"/>
            <a:ext cx="4419295" cy="2247595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9049" y="2458822"/>
            <a:ext cx="4095598" cy="19202"/>
          </a:xfrm>
          <a:prstGeom prst="rect">
            <a:avLst/>
          </a:prstGeom>
          <a:solidFill>
            <a:srgbClr val="FCE7F3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9049" y="2193646"/>
            <a:ext cx="161849" cy="16184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80898" y="2154326"/>
            <a:ext cx="76809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适用场景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9049" y="2588666"/>
            <a:ext cx="123444" cy="1234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43407" y="2607869"/>
            <a:ext cx="37225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高度结构化代码：数据模型定义、API接口定义、CRUD操作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9049" y="2857500"/>
            <a:ext cx="123444" cy="1234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43407" y="2875788"/>
            <a:ext cx="30467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重复性逻辑：配置管理、样板代码（Boilerplate）</a:t>
            </a:r>
            <a:endParaRPr lang="en-US" sz="10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9049" y="3125419"/>
            <a:ext cx="123444" cy="12344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43407" y="3144622"/>
            <a:ext cx="27130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一致性要求极高：多端数据同步、协议解析</a:t>
            </a:r>
            <a:endParaRPr lang="en-US" sz="10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5">
            <a:alphaModFix amt="70000"/>
          </a:blip>
          <a:srcRect/>
          <a:stretch>
            <a:fillRect/>
          </a:stretch>
        </p:blipFill>
        <p:spPr>
          <a:xfrm>
            <a:off x="619049" y="3423514"/>
            <a:ext cx="123444" cy="123444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43407" y="3442716"/>
            <a:ext cx="284652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>
                    <a:alpha val="70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不适用：复杂的自定义业务逻辑、探索性算法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457200" y="4387291"/>
            <a:ext cx="4419295" cy="2247595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19049" y="4853635"/>
            <a:ext cx="4095598" cy="19202"/>
          </a:xfrm>
          <a:prstGeom prst="rect">
            <a:avLst/>
          </a:prstGeom>
          <a:solidFill>
            <a:srgbClr val="FCE7F3"/>
          </a:solidFill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19049" y="4588459"/>
            <a:ext cx="161849" cy="161849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80898" y="4549140"/>
            <a:ext cx="920801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工具与评估</a:t>
            </a:r>
            <a:endParaRPr lang="en-US" sz="12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19049" y="4983480"/>
            <a:ext cx="123444" cy="123444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743407" y="5002682"/>
            <a:ext cx="371337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工具支持：Kiro（内置模式）、自定义脚本（监听文件变化）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619049" y="5312664"/>
            <a:ext cx="1067105" cy="267005"/>
          </a:xfrm>
          <a:prstGeom prst="roundRect">
            <a:avLst>
              <a:gd name="adj" fmla="val 73385"/>
            </a:avLst>
          </a:prstGeom>
          <a:solidFill>
            <a:srgbClr val="DBEAFE"/>
          </a:solidFill>
        </p:spPr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8"/>
          <a:srcRect t="-1359" b="-1359"/>
          <a:stretch>
            <a:fillRect/>
          </a:stretch>
        </p:blipFill>
        <p:spPr>
          <a:xfrm>
            <a:off x="710489" y="5380330"/>
            <a:ext cx="105156" cy="123444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891540" y="5351069"/>
            <a:ext cx="79644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100% 一致性</a:t>
            </a:r>
            <a:endParaRPr lang="en-US" sz="900" dirty="0"/>
          </a:p>
        </p:txBody>
      </p:sp>
      <p:sp>
        <p:nvSpPr>
          <p:cNvPr id="43" name="Shape 30"/>
          <p:cNvSpPr/>
          <p:nvPr/>
        </p:nvSpPr>
        <p:spPr>
          <a:xfrm>
            <a:off x="1805940" y="5312664"/>
            <a:ext cx="875995" cy="267005"/>
          </a:xfrm>
          <a:prstGeom prst="roundRect">
            <a:avLst>
              <a:gd name="adj" fmla="val 73385"/>
            </a:avLst>
          </a:prstGeom>
          <a:solidFill>
            <a:srgbClr val="DBEAFE"/>
          </a:solidFill>
        </p:spPr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897380" y="5380330"/>
            <a:ext cx="123444" cy="123444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2096719" y="5351069"/>
            <a:ext cx="58704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修改极简</a:t>
            </a:r>
            <a:endParaRPr lang="en-US" sz="900" dirty="0"/>
          </a:p>
        </p:txBody>
      </p:sp>
      <p:sp>
        <p:nvSpPr>
          <p:cNvPr id="46" name="Shape 32"/>
          <p:cNvSpPr/>
          <p:nvPr/>
        </p:nvSpPr>
        <p:spPr>
          <a:xfrm>
            <a:off x="619049" y="5632704"/>
            <a:ext cx="1114654" cy="267005"/>
          </a:xfrm>
          <a:prstGeom prst="roundRect">
            <a:avLst>
              <a:gd name="adj" fmla="val 73385"/>
            </a:avLst>
          </a:prstGeom>
          <a:solidFill>
            <a:srgbClr val="FFF1F2"/>
          </a:solidFill>
        </p:spPr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10489" y="5700370"/>
            <a:ext cx="123444" cy="123444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910742" y="5670194"/>
            <a:ext cx="82570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F123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需工具链支持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5105095" y="1992478"/>
            <a:ext cx="6629400" cy="4638751"/>
          </a:xfrm>
          <a:prstGeom prst="roundRect">
            <a:avLst>
              <a:gd name="adj" fmla="val 486"/>
            </a:avLst>
          </a:prstGeom>
          <a:solidFill>
            <a:srgbClr val="1E293B"/>
          </a:solidFill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35"/>
          <p:cNvSpPr/>
          <p:nvPr/>
        </p:nvSpPr>
        <p:spPr>
          <a:xfrm>
            <a:off x="5105095" y="1992478"/>
            <a:ext cx="6629400" cy="65745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51" name="Shape 36"/>
          <p:cNvSpPr/>
          <p:nvPr/>
        </p:nvSpPr>
        <p:spPr>
          <a:xfrm>
            <a:off x="5105095" y="2640787"/>
            <a:ext cx="6629400" cy="9144"/>
          </a:xfrm>
          <a:prstGeom prst="rect">
            <a:avLst/>
          </a:prstGeom>
          <a:solidFill>
            <a:srgbClr val="374151"/>
          </a:solidFill>
        </p:spPr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1"/>
          <a:srcRect l="-133" r="-133"/>
          <a:stretch>
            <a:fillRect/>
          </a:stretch>
        </p:blipFill>
        <p:spPr>
          <a:xfrm>
            <a:off x="5219395" y="2130552"/>
            <a:ext cx="85954" cy="114300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5381244" y="2135124"/>
            <a:ext cx="16669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data_models.yaml (Spec)</a:t>
            </a:r>
            <a:endParaRPr lang="en-US" sz="900" dirty="0"/>
          </a:p>
        </p:txBody>
      </p:sp>
      <p:sp>
        <p:nvSpPr>
          <p:cNvPr id="54" name="Shape 38"/>
          <p:cNvSpPr/>
          <p:nvPr/>
        </p:nvSpPr>
        <p:spPr>
          <a:xfrm>
            <a:off x="11087100" y="2106778"/>
            <a:ext cx="533095" cy="190195"/>
          </a:xfrm>
          <a:prstGeom prst="roundRect">
            <a:avLst>
              <a:gd name="adj" fmla="val 96154"/>
            </a:avLst>
          </a:prstGeom>
          <a:solidFill>
            <a:srgbClr val="DB2777"/>
          </a:solidFill>
        </p:spPr>
      </p:sp>
      <p:sp>
        <p:nvSpPr>
          <p:cNvPr id="55" name="Text 39"/>
          <p:cNvSpPr txBox="1"/>
          <p:nvPr/>
        </p:nvSpPr>
        <p:spPr>
          <a:xfrm>
            <a:off x="11162995" y="2135124"/>
            <a:ext cx="4672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Editable</a:t>
            </a:r>
            <a:endParaRPr lang="en-US" sz="900" dirty="0"/>
          </a:p>
        </p:txBody>
      </p:sp>
      <p:sp>
        <p:nvSpPr>
          <p:cNvPr id="56" name="Text 40"/>
          <p:cNvSpPr txBox="1"/>
          <p:nvPr/>
        </p:nvSpPr>
        <p:spPr>
          <a:xfrm>
            <a:off x="5219395" y="2354580"/>
            <a:ext cx="72969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fields: - id: UUID, primary_key - email: String, unique, required methods: - validate_email(): bool</a:t>
            </a:r>
            <a:endParaRPr lang="en-US" sz="900" dirty="0"/>
          </a:p>
        </p:txBody>
      </p:sp>
      <p:sp>
        <p:nvSpPr>
          <p:cNvPr id="57" name="Shape 41"/>
          <p:cNvSpPr/>
          <p:nvPr/>
        </p:nvSpPr>
        <p:spPr>
          <a:xfrm>
            <a:off x="5105095" y="2645359"/>
            <a:ext cx="6629400" cy="75895"/>
          </a:xfrm>
          <a:prstGeom prst="rect">
            <a:avLst/>
          </a:prstGeom>
          <a:solidFill>
            <a:srgbClr val="111827"/>
          </a:solidFill>
        </p:spPr>
      </p:sp>
      <p:sp>
        <p:nvSpPr>
          <p:cNvPr id="58" name="Shape 42"/>
          <p:cNvSpPr/>
          <p:nvPr/>
        </p:nvSpPr>
        <p:spPr>
          <a:xfrm>
            <a:off x="5257800" y="3151022"/>
            <a:ext cx="6324905" cy="9144"/>
          </a:xfrm>
          <a:prstGeom prst="rect">
            <a:avLst/>
          </a:prstGeom>
          <a:solidFill>
            <a:srgbClr val="374151"/>
          </a:solidFill>
        </p:spPr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>
            <a:fillRect/>
          </a:stretch>
        </p:blipFill>
        <p:spPr>
          <a:xfrm>
            <a:off x="5257800" y="2899562"/>
            <a:ext cx="105156" cy="114300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5438851" y="2904134"/>
            <a:ext cx="15343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 (Generated)</a:t>
            </a:r>
            <a:endParaRPr lang="en-US" sz="900" dirty="0"/>
          </a:p>
        </p:txBody>
      </p:sp>
      <p:sp>
        <p:nvSpPr>
          <p:cNvPr id="61" name="Shape 44"/>
          <p:cNvSpPr/>
          <p:nvPr/>
        </p:nvSpPr>
        <p:spPr>
          <a:xfrm>
            <a:off x="10650931" y="2873959"/>
            <a:ext cx="933602" cy="200254"/>
          </a:xfrm>
          <a:prstGeom prst="roundRect">
            <a:avLst>
              <a:gd name="adj" fmla="val 86975"/>
            </a:avLst>
          </a:prstGeom>
          <a:solidFill>
            <a:srgbClr val="BE185D"/>
          </a:solidFill>
        </p:spPr>
      </p:sp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>
            <a:fillRect/>
          </a:stretch>
        </p:blipFill>
        <p:spPr>
          <a:xfrm>
            <a:off x="10726826" y="2918765"/>
            <a:ext cx="85954" cy="95098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10850270" y="2905963"/>
            <a:ext cx="73426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EDIT</a:t>
            </a:r>
            <a:endParaRPr lang="en-US" sz="800" dirty="0"/>
          </a:p>
        </p:txBody>
      </p:sp>
      <p:sp>
        <p:nvSpPr>
          <p:cNvPr id="64" name="Text 46"/>
          <p:cNvSpPr txBox="1"/>
          <p:nvPr/>
        </p:nvSpPr>
        <p:spPr>
          <a:xfrm>
            <a:off x="5374843" y="3248863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65" name="Text 47"/>
          <p:cNvSpPr txBox="1"/>
          <p:nvPr/>
        </p:nvSpPr>
        <p:spPr>
          <a:xfrm>
            <a:off x="5570525" y="3248863"/>
            <a:ext cx="288310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AUTO-GENERATED FROM data_models.yaml</a:t>
            </a:r>
            <a:endParaRPr lang="en-US" sz="900" dirty="0"/>
          </a:p>
        </p:txBody>
      </p:sp>
      <p:sp>
        <p:nvSpPr>
          <p:cNvPr id="66" name="Text 48"/>
          <p:cNvSpPr txBox="1"/>
          <p:nvPr/>
        </p:nvSpPr>
        <p:spPr>
          <a:xfrm>
            <a:off x="5374843" y="3431743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67" name="Text 49"/>
          <p:cNvSpPr txBox="1"/>
          <p:nvPr/>
        </p:nvSpPr>
        <p:spPr>
          <a:xfrm>
            <a:off x="5570525" y="3431743"/>
            <a:ext cx="24441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 NOT EDIT THIS FILE MANUALLY</a:t>
            </a:r>
            <a:endParaRPr lang="en-US" sz="900" dirty="0"/>
          </a:p>
        </p:txBody>
      </p:sp>
      <p:sp>
        <p:nvSpPr>
          <p:cNvPr id="68" name="Text 50"/>
          <p:cNvSpPr txBox="1"/>
          <p:nvPr/>
        </p:nvSpPr>
        <p:spPr>
          <a:xfrm>
            <a:off x="5374843" y="3614623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69" name="Text 51"/>
          <p:cNvSpPr txBox="1"/>
          <p:nvPr/>
        </p:nvSpPr>
        <p:spPr>
          <a:xfrm>
            <a:off x="5374843" y="3797503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70" name="Text 52"/>
          <p:cNvSpPr txBox="1"/>
          <p:nvPr/>
        </p:nvSpPr>
        <p:spPr>
          <a:xfrm>
            <a:off x="5570525" y="3797503"/>
            <a:ext cx="3867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900" dirty="0"/>
          </a:p>
        </p:txBody>
      </p:sp>
      <p:sp>
        <p:nvSpPr>
          <p:cNvPr id="71" name="Text 53"/>
          <p:cNvSpPr txBox="1"/>
          <p:nvPr/>
        </p:nvSpPr>
        <p:spPr>
          <a:xfrm>
            <a:off x="5864047" y="3797503"/>
            <a:ext cx="90159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dataclasses</a:t>
            </a:r>
            <a:endParaRPr lang="en-US" sz="900" dirty="0"/>
          </a:p>
        </p:txBody>
      </p:sp>
      <p:sp>
        <p:nvSpPr>
          <p:cNvPr id="72" name="Text 54"/>
          <p:cNvSpPr txBox="1"/>
          <p:nvPr/>
        </p:nvSpPr>
        <p:spPr>
          <a:xfrm>
            <a:off x="6671462" y="3797503"/>
            <a:ext cx="53949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900" dirty="0"/>
          </a:p>
        </p:txBody>
      </p:sp>
      <p:sp>
        <p:nvSpPr>
          <p:cNvPr id="73" name="Text 55"/>
          <p:cNvSpPr txBox="1"/>
          <p:nvPr/>
        </p:nvSpPr>
        <p:spPr>
          <a:xfrm>
            <a:off x="7111289" y="3797503"/>
            <a:ext cx="75895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dataclass</a:t>
            </a:r>
            <a:endParaRPr lang="en-US" sz="900" dirty="0"/>
          </a:p>
        </p:txBody>
      </p:sp>
      <p:sp>
        <p:nvSpPr>
          <p:cNvPr id="74" name="Text 56"/>
          <p:cNvSpPr txBox="1"/>
          <p:nvPr/>
        </p:nvSpPr>
        <p:spPr>
          <a:xfrm>
            <a:off x="5374843" y="3980383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75" name="Text 57"/>
          <p:cNvSpPr txBox="1"/>
          <p:nvPr/>
        </p:nvSpPr>
        <p:spPr>
          <a:xfrm>
            <a:off x="5570525" y="3980383"/>
            <a:ext cx="3867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900" dirty="0"/>
          </a:p>
        </p:txBody>
      </p:sp>
      <p:sp>
        <p:nvSpPr>
          <p:cNvPr id="76" name="Text 58"/>
          <p:cNvSpPr txBox="1"/>
          <p:nvPr/>
        </p:nvSpPr>
        <p:spPr>
          <a:xfrm>
            <a:off x="5864047" y="3980383"/>
            <a:ext cx="3867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77" name="Text 59"/>
          <p:cNvSpPr txBox="1"/>
          <p:nvPr/>
        </p:nvSpPr>
        <p:spPr>
          <a:xfrm>
            <a:off x="6157570" y="3980383"/>
            <a:ext cx="53949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900" dirty="0"/>
          </a:p>
        </p:txBody>
      </p:sp>
      <p:sp>
        <p:nvSpPr>
          <p:cNvPr id="78" name="Text 60"/>
          <p:cNvSpPr txBox="1"/>
          <p:nvPr/>
        </p:nvSpPr>
        <p:spPr>
          <a:xfrm>
            <a:off x="6597396" y="3980383"/>
            <a:ext cx="3867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79" name="Text 61"/>
          <p:cNvSpPr txBox="1"/>
          <p:nvPr/>
        </p:nvSpPr>
        <p:spPr>
          <a:xfrm>
            <a:off x="5374843" y="4163263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80" name="Text 62"/>
          <p:cNvSpPr txBox="1"/>
          <p:nvPr/>
        </p:nvSpPr>
        <p:spPr>
          <a:xfrm>
            <a:off x="5374843" y="4346143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81" name="Text 63"/>
          <p:cNvSpPr txBox="1"/>
          <p:nvPr/>
        </p:nvSpPr>
        <p:spPr>
          <a:xfrm>
            <a:off x="5570525" y="4346143"/>
            <a:ext cx="83484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900" dirty="0"/>
          </a:p>
        </p:txBody>
      </p:sp>
      <p:sp>
        <p:nvSpPr>
          <p:cNvPr id="82" name="Text 64"/>
          <p:cNvSpPr txBox="1"/>
          <p:nvPr/>
        </p:nvSpPr>
        <p:spPr>
          <a:xfrm>
            <a:off x="5374843" y="4529023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83" name="Text 65"/>
          <p:cNvSpPr txBox="1"/>
          <p:nvPr/>
        </p:nvSpPr>
        <p:spPr>
          <a:xfrm>
            <a:off x="5570525" y="4529023"/>
            <a:ext cx="4636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900" dirty="0"/>
          </a:p>
        </p:txBody>
      </p:sp>
      <p:sp>
        <p:nvSpPr>
          <p:cNvPr id="84" name="Text 66"/>
          <p:cNvSpPr txBox="1"/>
          <p:nvPr/>
        </p:nvSpPr>
        <p:spPr>
          <a:xfrm>
            <a:off x="5937199" y="4529023"/>
            <a:ext cx="38679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900" dirty="0"/>
          </a:p>
        </p:txBody>
      </p:sp>
      <p:sp>
        <p:nvSpPr>
          <p:cNvPr id="85" name="Text 67"/>
          <p:cNvSpPr txBox="1"/>
          <p:nvPr/>
        </p:nvSpPr>
        <p:spPr>
          <a:xfrm>
            <a:off x="6230722" y="4529023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</p:txBody>
      </p:sp>
      <p:sp>
        <p:nvSpPr>
          <p:cNvPr id="86" name="Text 68"/>
          <p:cNvSpPr txBox="1"/>
          <p:nvPr/>
        </p:nvSpPr>
        <p:spPr>
          <a:xfrm>
            <a:off x="5374843" y="4711903"/>
            <a:ext cx="1682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87" name="Text 69"/>
          <p:cNvSpPr txBox="1"/>
          <p:nvPr/>
        </p:nvSpPr>
        <p:spPr>
          <a:xfrm>
            <a:off x="5570525" y="4711903"/>
            <a:ext cx="68214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UUID</a:t>
            </a:r>
            <a:endParaRPr lang="en-US" sz="900" dirty="0"/>
          </a:p>
        </p:txBody>
      </p:sp>
      <p:sp>
        <p:nvSpPr>
          <p:cNvPr id="88" name="Text 70"/>
          <p:cNvSpPr txBox="1"/>
          <p:nvPr/>
        </p:nvSpPr>
        <p:spPr>
          <a:xfrm>
            <a:off x="5301691" y="4894783"/>
            <a:ext cx="24414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89" name="Text 71"/>
          <p:cNvSpPr txBox="1"/>
          <p:nvPr/>
        </p:nvSpPr>
        <p:spPr>
          <a:xfrm>
            <a:off x="5570525" y="4894783"/>
            <a:ext cx="83484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str</a:t>
            </a:r>
            <a:endParaRPr lang="en-US" sz="900" dirty="0"/>
          </a:p>
        </p:txBody>
      </p:sp>
      <p:sp>
        <p:nvSpPr>
          <p:cNvPr id="90" name="Text 72"/>
          <p:cNvSpPr txBox="1"/>
          <p:nvPr/>
        </p:nvSpPr>
        <p:spPr>
          <a:xfrm>
            <a:off x="5301691" y="5077663"/>
            <a:ext cx="24414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91" name="Text 73"/>
          <p:cNvSpPr txBox="1"/>
          <p:nvPr/>
        </p:nvSpPr>
        <p:spPr>
          <a:xfrm>
            <a:off x="5301691" y="5260543"/>
            <a:ext cx="24414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92" name="Text 74"/>
          <p:cNvSpPr txBox="1"/>
          <p:nvPr/>
        </p:nvSpPr>
        <p:spPr>
          <a:xfrm>
            <a:off x="5570525" y="5260543"/>
            <a:ext cx="3209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900" dirty="0"/>
          </a:p>
        </p:txBody>
      </p:sp>
      <p:sp>
        <p:nvSpPr>
          <p:cNvPr id="93" name="Text 75"/>
          <p:cNvSpPr txBox="1"/>
          <p:nvPr/>
        </p:nvSpPr>
        <p:spPr>
          <a:xfrm>
            <a:off x="5790895" y="5260543"/>
            <a:ext cx="112014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validate_email</a:t>
            </a:r>
            <a:endParaRPr lang="en-US" sz="900" dirty="0"/>
          </a:p>
        </p:txBody>
      </p:sp>
      <p:sp>
        <p:nvSpPr>
          <p:cNvPr id="94" name="Text 76"/>
          <p:cNvSpPr txBox="1"/>
          <p:nvPr/>
        </p:nvSpPr>
        <p:spPr>
          <a:xfrm>
            <a:off x="6817766" y="5260543"/>
            <a:ext cx="119695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 -&gt; bool:</a:t>
            </a:r>
            <a:endParaRPr lang="en-US" sz="900" dirty="0"/>
          </a:p>
        </p:txBody>
      </p:sp>
      <p:sp>
        <p:nvSpPr>
          <p:cNvPr id="95" name="Text 77"/>
          <p:cNvSpPr txBox="1"/>
          <p:nvPr/>
        </p:nvSpPr>
        <p:spPr>
          <a:xfrm>
            <a:off x="5301691" y="5443423"/>
            <a:ext cx="24414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96" name="Text 78"/>
          <p:cNvSpPr txBox="1"/>
          <p:nvPr/>
        </p:nvSpPr>
        <p:spPr>
          <a:xfrm>
            <a:off x="5570525" y="5443423"/>
            <a:ext cx="127284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"""验证邮箱格式"""</a:t>
            </a:r>
            <a:endParaRPr lang="en-US" sz="900" dirty="0"/>
          </a:p>
        </p:txBody>
      </p:sp>
      <p:sp>
        <p:nvSpPr>
          <p:cNvPr id="97" name="Text 79"/>
          <p:cNvSpPr txBox="1"/>
          <p:nvPr/>
        </p:nvSpPr>
        <p:spPr>
          <a:xfrm>
            <a:off x="5301691" y="5626303"/>
            <a:ext cx="24414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98" name="Text 80"/>
          <p:cNvSpPr txBox="1"/>
          <p:nvPr/>
        </p:nvSpPr>
        <p:spPr>
          <a:xfrm>
            <a:off x="5570525" y="5626303"/>
            <a:ext cx="146304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AI生成的验证逻辑...</a:t>
            </a:r>
            <a:endParaRPr lang="en-US" sz="900" dirty="0"/>
          </a:p>
        </p:txBody>
      </p:sp>
      <p:sp>
        <p:nvSpPr>
          <p:cNvPr id="99" name="Shape 8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0" name="Shape 82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01" name="Text 83"/>
          <p:cNvSpPr txBox="1"/>
          <p:nvPr/>
        </p:nvSpPr>
        <p:spPr>
          <a:xfrm>
            <a:off x="609905" y="6558077"/>
            <a:ext cx="157642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AI驱动科研编程实战指南</a:t>
            </a:r>
            <a:endParaRPr lang="en-US" sz="1000" dirty="0"/>
          </a:p>
        </p:txBody>
      </p:sp>
      <p:sp>
        <p:nvSpPr>
          <p:cNvPr id="102" name="Text 84"/>
          <p:cNvSpPr txBox="1"/>
          <p:nvPr/>
        </p:nvSpPr>
        <p:spPr>
          <a:xfrm>
            <a:off x="11422685" y="6558077"/>
            <a:ext cx="26243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103" name="Shape 85"/>
          <p:cNvSpPr/>
          <p:nvPr/>
        </p:nvSpPr>
        <p:spPr>
          <a:xfrm>
            <a:off x="8287207" y="2543861"/>
            <a:ext cx="267005" cy="267005"/>
          </a:xfrm>
          <a:prstGeom prst="ellipse">
            <a:avLst/>
          </a:prstGeom>
          <a:solidFill>
            <a:srgbClr val="FFFFFF"/>
          </a:solidFill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04" name="Image 16" descr="preencoded.png"/>
          <p:cNvPicPr>
            <a:picLocks noChangeAspect="1"/>
          </p:cNvPicPr>
          <p:nvPr/>
        </p:nvPicPr>
        <p:blipFill>
          <a:blip r:embed="rId14"/>
          <a:srcRect l="-2512" r="-2512"/>
          <a:stretch>
            <a:fillRect/>
          </a:stretch>
        </p:blipFill>
        <p:spPr>
          <a:xfrm>
            <a:off x="8367674" y="2610612"/>
            <a:ext cx="105156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457200" y="223114"/>
            <a:ext cx="3558845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Memory Bank体系与术语表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10657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421124" y="295351"/>
            <a:ext cx="28675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消除歧义、保障一致性的项目知识库结构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3866998" cy="5181905"/>
          </a:xfrm>
          <a:prstGeom prst="roundRect">
            <a:avLst>
              <a:gd name="adj" fmla="val 69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9" y="1484986"/>
            <a:ext cx="3543300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t="-842" b="-842"/>
          <a:stretch>
            <a:fillRect/>
          </a:stretch>
        </p:blipFill>
        <p:spPr>
          <a:xfrm>
            <a:off x="619049" y="1192378"/>
            <a:ext cx="190195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09244" y="1181405"/>
            <a:ext cx="11356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项目目录结构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 l="-21233" r="-21233"/>
          <a:stretch>
            <a:fillRect/>
          </a:stretch>
        </p:blipFill>
        <p:spPr>
          <a:xfrm>
            <a:off x="619049" y="1650492"/>
            <a:ext cx="190195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86054" y="1642262"/>
            <a:ext cx="7260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project/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13318" r="-13318"/>
          <a:stretch>
            <a:fillRect/>
          </a:stretch>
        </p:blipFill>
        <p:spPr>
          <a:xfrm>
            <a:off x="771754" y="1877263"/>
            <a:ext cx="190195" cy="1335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37844" y="1868119"/>
            <a:ext cx="10314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.ai-context/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2047342" y="1870862"/>
            <a:ext cx="8577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AI上下文核心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l="-44978" r="-44978"/>
          <a:stretch>
            <a:fillRect/>
          </a:stretch>
        </p:blipFill>
        <p:spPr>
          <a:xfrm>
            <a:off x="923544" y="2103120"/>
            <a:ext cx="190195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90549" y="2094890"/>
            <a:ext cx="12691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constitution.md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432304" y="2097634"/>
            <a:ext cx="638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项目宪法</a:t>
            </a:r>
            <a:endParaRPr lang="en-US" sz="9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rcRect l="-44978" r="-44978"/>
          <a:stretch>
            <a:fillRect/>
          </a:stretch>
        </p:blipFill>
        <p:spPr>
          <a:xfrm>
            <a:off x="923544" y="2329891"/>
            <a:ext cx="190195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90549" y="2321662"/>
            <a:ext cx="12691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architecture.md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2432304" y="2324405"/>
            <a:ext cx="638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架构设计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rcRect l="-44978" r="-44978"/>
          <a:stretch>
            <a:fillRect/>
          </a:stretch>
        </p:blipFill>
        <p:spPr>
          <a:xfrm>
            <a:off x="923544" y="2555748"/>
            <a:ext cx="190195" cy="13350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90549" y="2547518"/>
            <a:ext cx="9546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glossary.md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2121408" y="2550262"/>
            <a:ext cx="5239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术语表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rcRect l="-44978" r="-44978"/>
          <a:stretch>
            <a:fillRect/>
          </a:stretch>
        </p:blipFill>
        <p:spPr>
          <a:xfrm>
            <a:off x="923544" y="2782519"/>
            <a:ext cx="190195" cy="13350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190549" y="2774290"/>
            <a:ext cx="15736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coding-standards.md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5"/>
          <a:srcRect l="-21233" r="-21233"/>
          <a:stretch>
            <a:fillRect/>
          </a:stretch>
        </p:blipFill>
        <p:spPr>
          <a:xfrm>
            <a:off x="771754" y="3065983"/>
            <a:ext cx="190195" cy="13350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037844" y="3057754"/>
            <a:ext cx="5641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specs/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1580998" y="3060497"/>
            <a:ext cx="638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功能规范</a:t>
            </a:r>
            <a:endParaRPr lang="en-US" sz="9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2"/>
          <a:srcRect l="-21233" r="-21233"/>
          <a:stretch>
            <a:fillRect/>
          </a:stretch>
        </p:blipFill>
        <p:spPr>
          <a:xfrm>
            <a:off x="923544" y="3291840"/>
            <a:ext cx="190195" cy="133502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190549" y="3283610"/>
            <a:ext cx="10314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feature-001/</a:t>
            </a:r>
            <a:endParaRPr lang="en-US" sz="10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6"/>
          <a:srcRect l="-44978" r="-44978"/>
          <a:stretch>
            <a:fillRect/>
          </a:stretch>
        </p:blipFill>
        <p:spPr>
          <a:xfrm>
            <a:off x="1076249" y="3518611"/>
            <a:ext cx="190195" cy="133502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343254" y="3510382"/>
            <a:ext cx="12691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requirements.md</a:t>
            </a:r>
            <a:endParaRPr lang="en-US" sz="10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6"/>
          <a:srcRect l="-44978" r="-44978"/>
          <a:stretch>
            <a:fillRect/>
          </a:stretch>
        </p:blipFill>
        <p:spPr>
          <a:xfrm>
            <a:off x="1076249" y="3745382"/>
            <a:ext cx="190195" cy="133502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1343254" y="3736238"/>
            <a:ext cx="8028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design.md</a:t>
            </a:r>
            <a:endParaRPr lang="en-US" sz="10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6"/>
          <a:srcRect l="-44978" r="-44978"/>
          <a:stretch>
            <a:fillRect/>
          </a:stretch>
        </p:blipFill>
        <p:spPr>
          <a:xfrm>
            <a:off x="1076249" y="3971239"/>
            <a:ext cx="190195" cy="133502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1343254" y="3963010"/>
            <a:ext cx="7260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tests.md</a:t>
            </a:r>
            <a:endParaRPr lang="en-US" sz="1000" dirty="0"/>
          </a:p>
        </p:txBody>
      </p:sp>
      <p:sp>
        <p:nvSpPr>
          <p:cNvPr id="39" name="Shape 25"/>
          <p:cNvSpPr/>
          <p:nvPr/>
        </p:nvSpPr>
        <p:spPr>
          <a:xfrm>
            <a:off x="619049" y="5772607"/>
            <a:ext cx="3543300" cy="9144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19049" y="5872277"/>
            <a:ext cx="114300" cy="11430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771754" y="5867705"/>
            <a:ext cx="24103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将此目录添加到 .gitignore 但包含在AI上下文中</a:t>
            </a:r>
            <a:endParaRPr lang="en-US" sz="900" dirty="0"/>
          </a:p>
        </p:txBody>
      </p:sp>
      <p:sp>
        <p:nvSpPr>
          <p:cNvPr id="42" name="Shape 27"/>
          <p:cNvSpPr/>
          <p:nvPr/>
        </p:nvSpPr>
        <p:spPr>
          <a:xfrm>
            <a:off x="4552798" y="990295"/>
            <a:ext cx="7181698" cy="2514600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3" name="Shape 28"/>
          <p:cNvSpPr/>
          <p:nvPr/>
        </p:nvSpPr>
        <p:spPr>
          <a:xfrm>
            <a:off x="4714646" y="1484986"/>
            <a:ext cx="2143354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8"/>
          <a:srcRect t="-842" b="-842"/>
          <a:stretch>
            <a:fillRect/>
          </a:stretch>
        </p:blipFill>
        <p:spPr>
          <a:xfrm>
            <a:off x="4714646" y="1192378"/>
            <a:ext cx="190195" cy="171907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4905756" y="1181405"/>
            <a:ext cx="20784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constitution.md (项目宪法)</a:t>
            </a:r>
            <a:endParaRPr lang="en-US" sz="1300" dirty="0"/>
          </a:p>
        </p:txBody>
      </p:sp>
      <p:sp>
        <p:nvSpPr>
          <p:cNvPr id="46" name="Shape 30"/>
          <p:cNvSpPr/>
          <p:nvPr/>
        </p:nvSpPr>
        <p:spPr>
          <a:xfrm>
            <a:off x="10857586" y="1272845"/>
            <a:ext cx="724205" cy="228600"/>
          </a:xfrm>
          <a:prstGeom prst="roundRect">
            <a:avLst>
              <a:gd name="adj" fmla="val 400000"/>
            </a:avLst>
          </a:prstGeom>
          <a:solidFill>
            <a:srgbClr val="FEE2E2"/>
          </a:solidFill>
        </p:spPr>
      </p:sp>
      <p:sp>
        <p:nvSpPr>
          <p:cNvPr id="47" name="Text 31"/>
          <p:cNvSpPr txBox="1"/>
          <p:nvPr/>
        </p:nvSpPr>
        <p:spPr>
          <a:xfrm>
            <a:off x="10948111" y="1322222"/>
            <a:ext cx="61356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91C1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最高优先级</a:t>
            </a:r>
            <a:endParaRPr lang="en-US" sz="800" dirty="0"/>
          </a:p>
        </p:txBody>
      </p:sp>
      <p:sp>
        <p:nvSpPr>
          <p:cNvPr id="48" name="Shape 32"/>
          <p:cNvSpPr/>
          <p:nvPr/>
        </p:nvSpPr>
        <p:spPr>
          <a:xfrm>
            <a:off x="4714646" y="1728216"/>
            <a:ext cx="6858000" cy="1619402"/>
          </a:xfrm>
          <a:prstGeom prst="roundRect">
            <a:avLst>
              <a:gd name="adj" fmla="val 2657"/>
            </a:avLst>
          </a:prstGeom>
          <a:solidFill>
            <a:srgbClr val="1E293B"/>
          </a:solidFill>
        </p:spPr>
      </p:sp>
      <p:sp>
        <p:nvSpPr>
          <p:cNvPr id="49" name="Text 33"/>
          <p:cNvSpPr txBox="1"/>
          <p:nvPr/>
        </p:nvSpPr>
        <p:spPr>
          <a:xfrm>
            <a:off x="4837176" y="1858975"/>
            <a:ext cx="33147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项目宪法：城市POI分析系统 ## 核心原则（不可违背） 1.</a:t>
            </a:r>
            <a:endParaRPr lang="en-US" sz="900" dirty="0"/>
          </a:p>
        </p:txBody>
      </p:sp>
      <p:sp>
        <p:nvSpPr>
          <p:cNvPr id="50" name="Text 34"/>
          <p:cNvSpPr txBox="1"/>
          <p:nvPr/>
        </p:nvSpPr>
        <p:spPr>
          <a:xfrm>
            <a:off x="8060436" y="1858975"/>
            <a:ext cx="5532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数据优先</a:t>
            </a:r>
            <a:endParaRPr lang="en-US" sz="900" dirty="0"/>
          </a:p>
        </p:txBody>
      </p:sp>
      <p:sp>
        <p:nvSpPr>
          <p:cNvPr id="51" name="Text 35"/>
          <p:cNvSpPr txBox="1"/>
          <p:nvPr/>
        </p:nvSpPr>
        <p:spPr>
          <a:xfrm>
            <a:off x="8517636" y="1858975"/>
            <a:ext cx="21241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：基于真实数据，严禁捏造虚假坐标 2.</a:t>
            </a:r>
            <a:endParaRPr lang="en-US" sz="900" dirty="0"/>
          </a:p>
        </p:txBody>
      </p:sp>
      <p:sp>
        <p:nvSpPr>
          <p:cNvPr id="52" name="Text 36"/>
          <p:cNvSpPr txBox="1"/>
          <p:nvPr/>
        </p:nvSpPr>
        <p:spPr>
          <a:xfrm>
            <a:off x="10552176" y="1858975"/>
            <a:ext cx="5532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可复现性</a:t>
            </a:r>
            <a:endParaRPr lang="en-US" sz="900" dirty="0"/>
          </a:p>
        </p:txBody>
      </p:sp>
      <p:sp>
        <p:nvSpPr>
          <p:cNvPr id="53" name="Text 37"/>
          <p:cNvSpPr txBox="1"/>
          <p:nvPr/>
        </p:nvSpPr>
        <p:spPr>
          <a:xfrm>
            <a:off x="4837176" y="1858975"/>
            <a:ext cx="6611112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：每个处理步骤必须提供复现脚本 3.</a:t>
            </a:r>
            <a:endParaRPr lang="en-US" sz="900" dirty="0"/>
          </a:p>
        </p:txBody>
      </p:sp>
      <p:sp>
        <p:nvSpPr>
          <p:cNvPr id="54" name="Text 38"/>
          <p:cNvSpPr txBox="1"/>
          <p:nvPr/>
        </p:nvSpPr>
        <p:spPr>
          <a:xfrm>
            <a:off x="6414516" y="2018995"/>
            <a:ext cx="5532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代码质量</a:t>
            </a:r>
            <a:endParaRPr lang="en-US" sz="900" dirty="0"/>
          </a:p>
        </p:txBody>
      </p:sp>
      <p:sp>
        <p:nvSpPr>
          <p:cNvPr id="55" name="Text 39"/>
          <p:cNvSpPr txBox="1"/>
          <p:nvPr/>
        </p:nvSpPr>
        <p:spPr>
          <a:xfrm>
            <a:off x="4837176" y="2018995"/>
            <a:ext cx="6611112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：正确性 &gt; 速度，宁可报错也不要静默失败 ## 技术栈（不可随意更改） - Python 3.9+ - 核心库：geopandas, rasterio, matplotlib ## 禁止事项 - ❌</a:t>
            </a:r>
            <a:endParaRPr lang="en-US" sz="900" dirty="0"/>
          </a:p>
        </p:txBody>
      </p:sp>
      <p:sp>
        <p:nvSpPr>
          <p:cNvPr id="56" name="Text 40"/>
          <p:cNvSpPr txBox="1"/>
          <p:nvPr/>
        </p:nvSpPr>
        <p:spPr>
          <a:xfrm>
            <a:off x="8980322" y="2179015"/>
            <a:ext cx="10104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禁止使用全局变量</a:t>
            </a:r>
            <a:endParaRPr lang="en-US" sz="900" dirty="0"/>
          </a:p>
        </p:txBody>
      </p:sp>
      <p:sp>
        <p:nvSpPr>
          <p:cNvPr id="57" name="Text 41"/>
          <p:cNvSpPr txBox="1"/>
          <p:nvPr/>
        </p:nvSpPr>
        <p:spPr>
          <a:xfrm>
            <a:off x="9894722" y="2179015"/>
            <a:ext cx="3721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❌</a:t>
            </a:r>
            <a:endParaRPr lang="en-US" sz="900" dirty="0"/>
          </a:p>
        </p:txBody>
      </p:sp>
      <p:sp>
        <p:nvSpPr>
          <p:cNvPr id="58" name="Text 42"/>
          <p:cNvSpPr txBox="1"/>
          <p:nvPr/>
        </p:nvSpPr>
        <p:spPr>
          <a:xfrm>
            <a:off x="4837176" y="2179015"/>
            <a:ext cx="6553505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禁止 from module import *</a:t>
            </a:r>
            <a:endParaRPr lang="en-US" sz="900" dirty="0"/>
          </a:p>
        </p:txBody>
      </p:sp>
      <p:sp>
        <p:nvSpPr>
          <p:cNvPr id="59" name="Text 43"/>
          <p:cNvSpPr txBox="1"/>
          <p:nvPr/>
        </p:nvSpPr>
        <p:spPr>
          <a:xfrm>
            <a:off x="5385816" y="2339035"/>
            <a:ext cx="37216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❌</a:t>
            </a:r>
            <a:endParaRPr lang="en-US" sz="900" dirty="0"/>
          </a:p>
        </p:txBody>
      </p:sp>
      <p:sp>
        <p:nvSpPr>
          <p:cNvPr id="60" name="Text 44"/>
          <p:cNvSpPr txBox="1"/>
          <p:nvPr/>
        </p:nvSpPr>
        <p:spPr>
          <a:xfrm>
            <a:off x="5665622" y="2339035"/>
            <a:ext cx="15819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禁止在代码中硬编码绝对路径</a:t>
            </a:r>
            <a:endParaRPr lang="en-US" sz="900" dirty="0"/>
          </a:p>
        </p:txBody>
      </p:sp>
      <p:sp>
        <p:nvSpPr>
          <p:cNvPr id="61" name="Shape 45"/>
          <p:cNvSpPr/>
          <p:nvPr/>
        </p:nvSpPr>
        <p:spPr>
          <a:xfrm>
            <a:off x="4552798" y="3657600"/>
            <a:ext cx="7181698" cy="2514600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2" name="Shape 46"/>
          <p:cNvSpPr/>
          <p:nvPr/>
        </p:nvSpPr>
        <p:spPr>
          <a:xfrm>
            <a:off x="4714646" y="4152290"/>
            <a:ext cx="1657807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9"/>
          <a:srcRect t="-2725" b="-2725"/>
          <a:stretch>
            <a:fillRect/>
          </a:stretch>
        </p:blipFill>
        <p:spPr>
          <a:xfrm>
            <a:off x="4714646" y="3859682"/>
            <a:ext cx="142646" cy="171907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4858207" y="3847795"/>
            <a:ext cx="164043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glossary.md (术语表)</a:t>
            </a:r>
            <a:endParaRPr lang="en-US" sz="1300" dirty="0"/>
          </a:p>
        </p:txBody>
      </p:sp>
      <p:sp>
        <p:nvSpPr>
          <p:cNvPr id="65" name="Shape 48"/>
          <p:cNvSpPr/>
          <p:nvPr/>
        </p:nvSpPr>
        <p:spPr>
          <a:xfrm>
            <a:off x="10963656" y="3939235"/>
            <a:ext cx="609905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</p:spPr>
      </p:sp>
      <p:sp>
        <p:nvSpPr>
          <p:cNvPr id="66" name="Text 49"/>
          <p:cNvSpPr txBox="1"/>
          <p:nvPr/>
        </p:nvSpPr>
        <p:spPr>
          <a:xfrm>
            <a:off x="11055096" y="3988613"/>
            <a:ext cx="50932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消除歧义</a:t>
            </a:r>
            <a:endParaRPr lang="en-US" sz="800" dirty="0"/>
          </a:p>
        </p:txBody>
      </p:sp>
      <p:sp>
        <p:nvSpPr>
          <p:cNvPr id="67" name="Shape 50"/>
          <p:cNvSpPr/>
          <p:nvPr/>
        </p:nvSpPr>
        <p:spPr>
          <a:xfrm>
            <a:off x="4714646" y="4394606"/>
            <a:ext cx="6858000" cy="1619402"/>
          </a:xfrm>
          <a:prstGeom prst="roundRect">
            <a:avLst>
              <a:gd name="adj" fmla="val 2657"/>
            </a:avLst>
          </a:prstGeom>
          <a:solidFill>
            <a:srgbClr val="1E293B"/>
          </a:solidFill>
        </p:spPr>
      </p:sp>
      <p:sp>
        <p:nvSpPr>
          <p:cNvPr id="68" name="Text 51"/>
          <p:cNvSpPr txBox="1"/>
          <p:nvPr/>
        </p:nvSpPr>
        <p:spPr>
          <a:xfrm>
            <a:off x="4837176" y="4526280"/>
            <a:ext cx="52578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术语表 ## 建筑密度（Building Density） **定义**：单位面积内的建筑物数量 **公式**：</a:t>
            </a:r>
            <a:endParaRPr lang="en-US" sz="900" dirty="0"/>
          </a:p>
        </p:txBody>
      </p:sp>
      <p:sp>
        <p:nvSpPr>
          <p:cNvPr id="69" name="Text 52"/>
          <p:cNvSpPr txBox="1"/>
          <p:nvPr/>
        </p:nvSpPr>
        <p:spPr>
          <a:xfrm>
            <a:off x="4837176" y="4526280"/>
            <a:ext cx="5943600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density = count(buildings) / area(km²)</a:t>
            </a:r>
            <a:endParaRPr lang="en-US" sz="900" dirty="0"/>
          </a:p>
        </p:txBody>
      </p:sp>
      <p:sp>
        <p:nvSpPr>
          <p:cNvPr id="70" name="Text 53"/>
          <p:cNvSpPr txBox="1"/>
          <p:nvPr/>
        </p:nvSpPr>
        <p:spPr>
          <a:xfrm>
            <a:off x="4837176" y="4686300"/>
            <a:ext cx="6629400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**单位**：个/km² **注意**：≠ 建筑覆盖率（后者是面积比，Area Ratio） ## 核密度估计（KDE） **定义**：基于核函数的空间密度估计 **实现**：scipy.stats.gaussian_kde **参数**：</a:t>
            </a:r>
            <a:endParaRPr lang="en-US" sz="900" dirty="0"/>
          </a:p>
        </p:txBody>
      </p:sp>
      <p:sp>
        <p:nvSpPr>
          <p:cNvPr id="71" name="Text 54"/>
          <p:cNvSpPr txBox="1"/>
          <p:nvPr/>
        </p:nvSpPr>
        <p:spPr>
          <a:xfrm>
            <a:off x="4837176" y="4846320"/>
            <a:ext cx="6563563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bandwidth（带宽）</a:t>
            </a:r>
            <a:endParaRPr lang="en-US" sz="900" dirty="0"/>
          </a:p>
        </p:txBody>
      </p:sp>
      <p:sp>
        <p:nvSpPr>
          <p:cNvPr id="72" name="Text 55"/>
          <p:cNvSpPr txBox="1"/>
          <p:nvPr/>
        </p:nvSpPr>
        <p:spPr>
          <a:xfrm>
            <a:off x="5236769" y="5006340"/>
            <a:ext cx="19623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，默认使用 Scott's rule 自适应</a:t>
            </a:r>
            <a:endParaRPr lang="en-US" sz="900" dirty="0"/>
          </a:p>
        </p:txBody>
      </p:sp>
      <p:sp>
        <p:nvSpPr>
          <p:cNvPr id="73" name="Shape 5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Shape 57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5" name="Text 58"/>
          <p:cNvSpPr txBox="1"/>
          <p:nvPr/>
        </p:nvSpPr>
        <p:spPr>
          <a:xfrm>
            <a:off x="457200" y="6562649"/>
            <a:ext cx="157642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AI驱动科研编程实战指南</a:t>
            </a:r>
            <a:endParaRPr lang="en-US" sz="1000" dirty="0"/>
          </a:p>
        </p:txBody>
      </p:sp>
      <p:sp>
        <p:nvSpPr>
          <p:cNvPr id="76" name="Text 59"/>
          <p:cNvSpPr txBox="1"/>
          <p:nvPr/>
        </p:nvSpPr>
        <p:spPr>
          <a:xfrm>
            <a:off x="11574475" y="6553505"/>
            <a:ext cx="26243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2420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457200" y="200254"/>
            <a:ext cx="405445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对比实验：同一任务的两种路径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602175" y="24414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916729" y="272491"/>
            <a:ext cx="26865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Vibe Coding vs Spec-First 实战数据对比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44575"/>
            <a:ext cx="11277295" cy="533095"/>
          </a:xfrm>
          <a:prstGeom prst="roundRect">
            <a:avLst>
              <a:gd name="adj" fmla="val 245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068934"/>
            <a:ext cx="780898" cy="286207"/>
          </a:xfrm>
          <a:prstGeom prst="roundRect">
            <a:avLst>
              <a:gd name="adj" fmla="val 42599"/>
            </a:avLst>
          </a:prstGeom>
          <a:solidFill>
            <a:srgbClr val="CBD5E1"/>
          </a:solidFill>
        </p:spPr>
      </p:sp>
      <p:sp>
        <p:nvSpPr>
          <p:cNvPr id="10" name="Text 8"/>
          <p:cNvSpPr txBox="1"/>
          <p:nvPr/>
        </p:nvSpPr>
        <p:spPr>
          <a:xfrm>
            <a:off x="809244" y="1125626"/>
            <a:ext cx="6556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任务目标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77594" y="1138428"/>
            <a:ext cx="142646" cy="14264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920240" y="1120140"/>
            <a:ext cx="259506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计算城市路网 15分钟可达范围 (等时圈)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 t="-556" b="-556"/>
          <a:stretch>
            <a:fillRect/>
          </a:stretch>
        </p:blipFill>
        <p:spPr>
          <a:xfrm>
            <a:off x="4708246" y="1138428"/>
            <a:ext cx="123444" cy="14264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831690" y="1120140"/>
            <a:ext cx="186171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输入：路网 SHP + 起点坐标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-428" r="-428"/>
          <a:stretch>
            <a:fillRect/>
          </a:stretch>
        </p:blipFill>
        <p:spPr>
          <a:xfrm>
            <a:off x="6889090" y="1138428"/>
            <a:ext cx="161849" cy="14264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50938" y="1120140"/>
            <a:ext cx="204277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输出：GeoDataFrame (Polygon)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1626718"/>
            <a:ext cx="5524805" cy="4401007"/>
          </a:xfrm>
          <a:prstGeom prst="roundRect">
            <a:avLst>
              <a:gd name="adj" fmla="val 540"/>
            </a:avLst>
          </a:prstGeom>
          <a:solidFill>
            <a:srgbClr val="FFFFFF"/>
          </a:solidFill>
          <a:ln w="50800">
            <a:solidFill>
              <a:srgbClr val="F9731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6344" y="1665122"/>
            <a:ext cx="5505602" cy="705002"/>
          </a:xfrm>
          <a:prstGeom prst="rect">
            <a:avLst/>
          </a:prstGeom>
          <a:solidFill>
            <a:srgbClr val="FFF7ED"/>
          </a:solidFill>
        </p:spPr>
      </p:sp>
      <p:sp>
        <p:nvSpPr>
          <p:cNvPr id="19" name="Shape 14"/>
          <p:cNvSpPr/>
          <p:nvPr/>
        </p:nvSpPr>
        <p:spPr>
          <a:xfrm>
            <a:off x="466344" y="2360981"/>
            <a:ext cx="5505602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5"/>
          <p:cNvSpPr txBox="1"/>
          <p:nvPr/>
        </p:nvSpPr>
        <p:spPr>
          <a:xfrm>
            <a:off x="657454" y="1807769"/>
            <a:ext cx="176022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2410C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方式 A：Vibe Coding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57454" y="2061058"/>
            <a:ext cx="13743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2410C">
                    <a:alpha val="80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"边聊边改，直觉驱动"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-80" r="-80"/>
          <a:stretch>
            <a:fillRect/>
          </a:stretch>
        </p:blipFill>
        <p:spPr>
          <a:xfrm>
            <a:off x="5495544" y="1893722"/>
            <a:ext cx="286207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61949" y="2551176"/>
            <a:ext cx="19741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生成代码v1 (AI用了直线距离 ❌)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961949" y="2855671"/>
            <a:ext cx="24121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Debug: 改用路网距离 (未用NetworkX ❌)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961949" y="3161081"/>
            <a:ext cx="21552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Debug: 引入NetworkX (忽略限速 ❌)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961949" y="3465576"/>
            <a:ext cx="21259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Debug: 加入限速属性 (运行极慢 ⚠️)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61949" y="3770071"/>
            <a:ext cx="12307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经过 7 轮对话迭代...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19049" y="4112971"/>
            <a:ext cx="5201107" cy="1152144"/>
          </a:xfrm>
          <a:prstGeom prst="roundRect">
            <a:avLst>
              <a:gd name="adj" fmla="val 5247"/>
            </a:avLst>
          </a:prstGeom>
          <a:solidFill>
            <a:srgbClr val="F8FAFC"/>
          </a:solidFill>
        </p:spPr>
      </p:sp>
      <p:sp>
        <p:nvSpPr>
          <p:cNvPr id="29" name="Text 23"/>
          <p:cNvSpPr txBox="1"/>
          <p:nvPr/>
        </p:nvSpPr>
        <p:spPr>
          <a:xfrm>
            <a:off x="1721815" y="4208069"/>
            <a:ext cx="36393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F4444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60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965960" y="4274820"/>
            <a:ext cx="3099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F4444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min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780337" y="4488790"/>
            <a:ext cx="423367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总耗时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4353458" y="4208069"/>
            <a:ext cx="25969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F4444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4495190" y="4274820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F4444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次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4182466" y="4488790"/>
            <a:ext cx="69951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DEBUG次数</a:t>
            </a:r>
            <a:endParaRPr lang="en-US" sz="800" dirty="0"/>
          </a:p>
        </p:txBody>
      </p:sp>
      <p:sp>
        <p:nvSpPr>
          <p:cNvPr id="35" name="Text 29"/>
          <p:cNvSpPr txBox="1"/>
          <p:nvPr/>
        </p:nvSpPr>
        <p:spPr>
          <a:xfrm>
            <a:off x="1819656" y="4724705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F4444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❌</a:t>
            </a:r>
            <a:endParaRPr lang="en-US" sz="1600" dirty="0"/>
          </a:p>
        </p:txBody>
      </p:sp>
      <p:sp>
        <p:nvSpPr>
          <p:cNvPr id="36" name="Text 30"/>
          <p:cNvSpPr txBox="1"/>
          <p:nvPr/>
        </p:nvSpPr>
        <p:spPr>
          <a:xfrm>
            <a:off x="1667866" y="4990795"/>
            <a:ext cx="6428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文档完整性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4302252" y="4724705"/>
            <a:ext cx="36393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60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4546397" y="4791456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分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4267505" y="5004511"/>
            <a:ext cx="5285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代码质量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619049" y="5488229"/>
            <a:ext cx="5201107" cy="371246"/>
          </a:xfrm>
          <a:prstGeom prst="roundRect">
            <a:avLst>
              <a:gd name="adj" fmla="val 50524"/>
            </a:avLst>
          </a:prstGeom>
          <a:solidFill>
            <a:srgbClr val="F97316"/>
          </a:solidFill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458822" y="5592470"/>
            <a:ext cx="142646" cy="142646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2678278" y="5583326"/>
            <a:ext cx="141366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勉强可用，难以维护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6210605" y="1626718"/>
            <a:ext cx="5524805" cy="4401007"/>
          </a:xfrm>
          <a:prstGeom prst="roundRect">
            <a:avLst>
              <a:gd name="adj" fmla="val 540"/>
            </a:avLst>
          </a:prstGeom>
          <a:solidFill>
            <a:srgbClr val="FFFFFF"/>
          </a:solidFill>
          <a:ln w="50800">
            <a:solidFill>
              <a:srgbClr val="059669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6219749" y="1665122"/>
            <a:ext cx="5505602" cy="705002"/>
          </a:xfrm>
          <a:prstGeom prst="rect">
            <a:avLst/>
          </a:prstGeom>
          <a:solidFill>
            <a:srgbClr val="ECFDF5"/>
          </a:solidFill>
        </p:spPr>
      </p:sp>
      <p:sp>
        <p:nvSpPr>
          <p:cNvPr id="45" name="Shape 38"/>
          <p:cNvSpPr/>
          <p:nvPr/>
        </p:nvSpPr>
        <p:spPr>
          <a:xfrm>
            <a:off x="6219749" y="2360981"/>
            <a:ext cx="5505602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39"/>
          <p:cNvSpPr txBox="1"/>
          <p:nvPr/>
        </p:nvSpPr>
        <p:spPr>
          <a:xfrm>
            <a:off x="6409944" y="1807769"/>
            <a:ext cx="158922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方式 B：Spec-First</a:t>
            </a:r>
            <a:endParaRPr lang="en-US" sz="1300" dirty="0"/>
          </a:p>
        </p:txBody>
      </p:sp>
      <p:sp>
        <p:nvSpPr>
          <p:cNvPr id="47" name="Text 40"/>
          <p:cNvSpPr txBox="1"/>
          <p:nvPr/>
        </p:nvSpPr>
        <p:spPr>
          <a:xfrm>
            <a:off x="6409944" y="2061058"/>
            <a:ext cx="13743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47857">
                    <a:alpha val="80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"先写规范，契约驱动"</a:t>
            </a:r>
            <a:endParaRPr lang="en-US" sz="1000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 l="-133" r="-133"/>
          <a:stretch>
            <a:fillRect/>
          </a:stretch>
        </p:blipFill>
        <p:spPr>
          <a:xfrm>
            <a:off x="11363249" y="1893722"/>
            <a:ext cx="171907" cy="22860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6715354" y="2551176"/>
            <a:ext cx="13834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编写 Spec 文档 (5分钟)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6715354" y="2855671"/>
            <a:ext cx="18498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AI一次性生成完整代码 (2分钟)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6715354" y="3161081"/>
            <a:ext cx="19074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运行单元测试：通过 ✅ (1分钟)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6715354" y="3465576"/>
            <a:ext cx="18123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AI补充 README 文档 (2分钟)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6372454" y="4112971"/>
            <a:ext cx="5201107" cy="1152144"/>
          </a:xfrm>
          <a:prstGeom prst="roundRect">
            <a:avLst>
              <a:gd name="adj" fmla="val 5247"/>
            </a:avLst>
          </a:prstGeom>
          <a:solidFill>
            <a:srgbClr val="F8FAFC"/>
          </a:solidFill>
        </p:spPr>
      </p:sp>
      <p:sp>
        <p:nvSpPr>
          <p:cNvPr id="54" name="Text 46"/>
          <p:cNvSpPr txBox="1"/>
          <p:nvPr/>
        </p:nvSpPr>
        <p:spPr>
          <a:xfrm>
            <a:off x="7475220" y="4208069"/>
            <a:ext cx="36393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</a:t>
            </a:r>
            <a:endParaRPr lang="en-US" sz="1600" dirty="0"/>
          </a:p>
        </p:txBody>
      </p:sp>
      <p:sp>
        <p:nvSpPr>
          <p:cNvPr id="55" name="Text 47"/>
          <p:cNvSpPr txBox="1"/>
          <p:nvPr/>
        </p:nvSpPr>
        <p:spPr>
          <a:xfrm>
            <a:off x="7719365" y="4274820"/>
            <a:ext cx="3099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0B98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min</a:t>
            </a:r>
            <a:endParaRPr lang="en-US" sz="1000" dirty="0"/>
          </a:p>
        </p:txBody>
      </p:sp>
      <p:sp>
        <p:nvSpPr>
          <p:cNvPr id="56" name="Text 48"/>
          <p:cNvSpPr txBox="1"/>
          <p:nvPr/>
        </p:nvSpPr>
        <p:spPr>
          <a:xfrm>
            <a:off x="7532827" y="4488790"/>
            <a:ext cx="423367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总耗时</a:t>
            </a:r>
            <a:endParaRPr lang="en-US" sz="800" dirty="0"/>
          </a:p>
        </p:txBody>
      </p:sp>
      <p:sp>
        <p:nvSpPr>
          <p:cNvPr id="57" name="Text 49"/>
          <p:cNvSpPr txBox="1"/>
          <p:nvPr/>
        </p:nvSpPr>
        <p:spPr>
          <a:xfrm>
            <a:off x="10106863" y="4208069"/>
            <a:ext cx="25969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</a:t>
            </a:r>
            <a:endParaRPr lang="en-US" sz="1600" dirty="0"/>
          </a:p>
        </p:txBody>
      </p:sp>
      <p:sp>
        <p:nvSpPr>
          <p:cNvPr id="58" name="Text 50"/>
          <p:cNvSpPr txBox="1"/>
          <p:nvPr/>
        </p:nvSpPr>
        <p:spPr>
          <a:xfrm>
            <a:off x="10247681" y="4274820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0B98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次</a:t>
            </a:r>
            <a:endParaRPr lang="en-US" sz="1000" dirty="0"/>
          </a:p>
        </p:txBody>
      </p:sp>
      <p:sp>
        <p:nvSpPr>
          <p:cNvPr id="59" name="Text 51"/>
          <p:cNvSpPr txBox="1"/>
          <p:nvPr/>
        </p:nvSpPr>
        <p:spPr>
          <a:xfrm>
            <a:off x="9934956" y="4488790"/>
            <a:ext cx="69951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DEBUG次数</a:t>
            </a:r>
            <a:endParaRPr lang="en-US" sz="800" dirty="0"/>
          </a:p>
        </p:txBody>
      </p:sp>
      <p:sp>
        <p:nvSpPr>
          <p:cNvPr id="60" name="Text 52"/>
          <p:cNvSpPr txBox="1"/>
          <p:nvPr/>
        </p:nvSpPr>
        <p:spPr>
          <a:xfrm>
            <a:off x="7572146" y="4724705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✅</a:t>
            </a:r>
            <a:endParaRPr lang="en-US" sz="1600" dirty="0"/>
          </a:p>
        </p:txBody>
      </p:sp>
      <p:sp>
        <p:nvSpPr>
          <p:cNvPr id="61" name="Text 53"/>
          <p:cNvSpPr txBox="1"/>
          <p:nvPr/>
        </p:nvSpPr>
        <p:spPr>
          <a:xfrm>
            <a:off x="7421270" y="4990795"/>
            <a:ext cx="6428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文档完整性</a:t>
            </a:r>
            <a:endParaRPr lang="en-US" sz="800" dirty="0"/>
          </a:p>
        </p:txBody>
      </p:sp>
      <p:sp>
        <p:nvSpPr>
          <p:cNvPr id="62" name="Text 54"/>
          <p:cNvSpPr txBox="1"/>
          <p:nvPr/>
        </p:nvSpPr>
        <p:spPr>
          <a:xfrm>
            <a:off x="10055657" y="4724705"/>
            <a:ext cx="36393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90</a:t>
            </a:r>
            <a:endParaRPr lang="en-US" sz="1600" dirty="0"/>
          </a:p>
        </p:txBody>
      </p:sp>
      <p:sp>
        <p:nvSpPr>
          <p:cNvPr id="63" name="Text 55"/>
          <p:cNvSpPr txBox="1"/>
          <p:nvPr/>
        </p:nvSpPr>
        <p:spPr>
          <a:xfrm>
            <a:off x="10299802" y="4791456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0B98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分</a:t>
            </a:r>
            <a:endParaRPr lang="en-US" sz="1000" dirty="0"/>
          </a:p>
        </p:txBody>
      </p:sp>
      <p:sp>
        <p:nvSpPr>
          <p:cNvPr id="64" name="Text 56"/>
          <p:cNvSpPr txBox="1"/>
          <p:nvPr/>
        </p:nvSpPr>
        <p:spPr>
          <a:xfrm>
            <a:off x="10019995" y="5004511"/>
            <a:ext cx="528523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代码质量</a:t>
            </a:r>
            <a:endParaRPr lang="en-US" sz="800" dirty="0"/>
          </a:p>
        </p:txBody>
      </p:sp>
      <p:sp>
        <p:nvSpPr>
          <p:cNvPr id="65" name="Shape 57"/>
          <p:cNvSpPr/>
          <p:nvPr/>
        </p:nvSpPr>
        <p:spPr>
          <a:xfrm>
            <a:off x="6372454" y="5488229"/>
            <a:ext cx="5201107" cy="371246"/>
          </a:xfrm>
          <a:prstGeom prst="roundRect">
            <a:avLst>
              <a:gd name="adj" fmla="val 50524"/>
            </a:avLst>
          </a:prstGeom>
          <a:solidFill>
            <a:srgbClr val="059669"/>
          </a:solidFill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6" name="Image 6" descr="preencoded.png"/>
          <p:cNvPicPr>
            <a:picLocks noChangeAspect="1"/>
          </p:cNvPicPr>
          <p:nvPr/>
        </p:nvPicPr>
        <p:blipFill>
          <a:blip r:embed="rId7"/>
          <a:srcRect l="-428" r="-428"/>
          <a:stretch>
            <a:fillRect/>
          </a:stretch>
        </p:blipFill>
        <p:spPr>
          <a:xfrm>
            <a:off x="8347558" y="5592470"/>
            <a:ext cx="161849" cy="142646"/>
          </a:xfrm>
          <a:prstGeom prst="rect">
            <a:avLst/>
          </a:prstGeom>
        </p:spPr>
      </p:pic>
      <p:sp>
        <p:nvSpPr>
          <p:cNvPr id="67" name="Text 58"/>
          <p:cNvSpPr txBox="1"/>
          <p:nvPr/>
        </p:nvSpPr>
        <p:spPr>
          <a:xfrm>
            <a:off x="8585302" y="5583326"/>
            <a:ext cx="112837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高质量，可复现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457200" y="6172200"/>
            <a:ext cx="11277295" cy="457200"/>
          </a:xfrm>
          <a:prstGeom prst="roundRect">
            <a:avLst>
              <a:gd name="adj" fmla="val 33333"/>
            </a:avLst>
          </a:prstGeom>
          <a:solidFill>
            <a:srgbClr val="1E293B"/>
          </a:solidFill>
        </p:spPr>
      </p:sp>
      <p:pic>
        <p:nvPicPr>
          <p:cNvPr id="69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85800" y="6305702"/>
            <a:ext cx="142646" cy="190195"/>
          </a:xfrm>
          <a:prstGeom prst="rect">
            <a:avLst/>
          </a:prstGeom>
        </p:spPr>
      </p:pic>
      <p:sp>
        <p:nvSpPr>
          <p:cNvPr id="70" name="Text 60"/>
          <p:cNvSpPr txBox="1"/>
          <p:nvPr/>
        </p:nvSpPr>
        <p:spPr>
          <a:xfrm>
            <a:off x="942746" y="6314846"/>
            <a:ext cx="40773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关键洞察：投入 5分钟 写Spec，能在开发中节省 6倍 时间。</a:t>
            </a:r>
            <a:endParaRPr lang="en-US" sz="1200" dirty="0"/>
          </a:p>
        </p:txBody>
      </p:sp>
      <p:sp>
        <p:nvSpPr>
          <p:cNvPr id="71" name="Text 61"/>
          <p:cNvSpPr txBox="1"/>
          <p:nvPr/>
        </p:nvSpPr>
        <p:spPr>
          <a:xfrm>
            <a:off x="9745675" y="6324905"/>
            <a:ext cx="186263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Efficiency Boost: 600%</a:t>
            </a:r>
            <a:endParaRPr lang="en-US" sz="1000" dirty="0"/>
          </a:p>
        </p:txBody>
      </p:sp>
      <p:sp>
        <p:nvSpPr>
          <p:cNvPr id="72" name="Shape 6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3" name="Shape 6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74" name="Text 64"/>
          <p:cNvSpPr txBox="1"/>
          <p:nvPr/>
        </p:nvSpPr>
        <p:spPr>
          <a:xfrm>
            <a:off x="609905" y="6558077"/>
            <a:ext cx="157642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AI驱动科研编程实战指南</a:t>
            </a:r>
            <a:endParaRPr lang="en-US" sz="1000" dirty="0"/>
          </a:p>
        </p:txBody>
      </p:sp>
      <p:sp>
        <p:nvSpPr>
          <p:cNvPr id="75" name="Text 65"/>
          <p:cNvSpPr txBox="1"/>
          <p:nvPr/>
        </p:nvSpPr>
        <p:spPr>
          <a:xfrm>
            <a:off x="11422685" y="6558077"/>
            <a:ext cx="26243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76" name="Shape 66"/>
          <p:cNvSpPr/>
          <p:nvPr/>
        </p:nvSpPr>
        <p:spPr>
          <a:xfrm>
            <a:off x="619049" y="2512771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77" name="Text 67"/>
          <p:cNvSpPr txBox="1"/>
          <p:nvPr/>
        </p:nvSpPr>
        <p:spPr>
          <a:xfrm>
            <a:off x="708660" y="2553005"/>
            <a:ext cx="1335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800" dirty="0"/>
          </a:p>
        </p:txBody>
      </p:sp>
      <p:sp>
        <p:nvSpPr>
          <p:cNvPr id="78" name="Shape 68"/>
          <p:cNvSpPr/>
          <p:nvPr/>
        </p:nvSpPr>
        <p:spPr>
          <a:xfrm>
            <a:off x="619049" y="2818181"/>
            <a:ext cx="228600" cy="228600"/>
          </a:xfrm>
          <a:prstGeom prst="ellipse">
            <a:avLst/>
          </a:prstGeom>
          <a:solidFill>
            <a:srgbClr val="FEF2F2"/>
          </a:solidFill>
          <a:ln w="25400">
            <a:solidFill>
              <a:srgbClr val="F87171"/>
            </a:solidFill>
            <a:prstDash val="solid"/>
          </a:ln>
        </p:spPr>
      </p:sp>
      <p:pic>
        <p:nvPicPr>
          <p:cNvPr id="79" name="Image 8" descr="preencoded.png"/>
          <p:cNvPicPr>
            <a:picLocks noChangeAspect="1"/>
          </p:cNvPicPr>
          <p:nvPr/>
        </p:nvPicPr>
        <p:blipFill>
          <a:blip r:embed="rId9"/>
          <a:srcRect l="-3205" r="-3205"/>
          <a:stretch>
            <a:fillRect/>
          </a:stretch>
        </p:blipFill>
        <p:spPr>
          <a:xfrm>
            <a:off x="694944" y="2884018"/>
            <a:ext cx="75895" cy="95098"/>
          </a:xfrm>
          <a:prstGeom prst="rect">
            <a:avLst/>
          </a:prstGeom>
        </p:spPr>
      </p:pic>
      <p:sp>
        <p:nvSpPr>
          <p:cNvPr id="80" name="Shape 69"/>
          <p:cNvSpPr/>
          <p:nvPr/>
        </p:nvSpPr>
        <p:spPr>
          <a:xfrm>
            <a:off x="619049" y="3122676"/>
            <a:ext cx="228600" cy="228600"/>
          </a:xfrm>
          <a:prstGeom prst="ellipse">
            <a:avLst/>
          </a:prstGeom>
          <a:solidFill>
            <a:srgbClr val="FEF2F2"/>
          </a:solidFill>
          <a:ln w="25400">
            <a:solidFill>
              <a:srgbClr val="F87171"/>
            </a:solidFill>
            <a:prstDash val="solid"/>
          </a:ln>
        </p:spPr>
      </p:sp>
      <p:pic>
        <p:nvPicPr>
          <p:cNvPr id="81" name="Image 9" descr="preencoded.png"/>
          <p:cNvPicPr>
            <a:picLocks noChangeAspect="1"/>
          </p:cNvPicPr>
          <p:nvPr/>
        </p:nvPicPr>
        <p:blipFill>
          <a:blip r:embed="rId9"/>
          <a:srcRect l="-3205" r="-3205"/>
          <a:stretch>
            <a:fillRect/>
          </a:stretch>
        </p:blipFill>
        <p:spPr>
          <a:xfrm>
            <a:off x="694944" y="3189427"/>
            <a:ext cx="75895" cy="95098"/>
          </a:xfrm>
          <a:prstGeom prst="rect">
            <a:avLst/>
          </a:prstGeom>
        </p:spPr>
      </p:pic>
      <p:sp>
        <p:nvSpPr>
          <p:cNvPr id="82" name="Shape 70"/>
          <p:cNvSpPr/>
          <p:nvPr/>
        </p:nvSpPr>
        <p:spPr>
          <a:xfrm>
            <a:off x="619049" y="3427171"/>
            <a:ext cx="228600" cy="228600"/>
          </a:xfrm>
          <a:prstGeom prst="ellipse">
            <a:avLst/>
          </a:prstGeom>
          <a:solidFill>
            <a:srgbClr val="FEF2F2"/>
          </a:solidFill>
          <a:ln w="25400">
            <a:solidFill>
              <a:srgbClr val="F87171"/>
            </a:solidFill>
            <a:prstDash val="solid"/>
          </a:ln>
        </p:spPr>
      </p:sp>
      <p:pic>
        <p:nvPicPr>
          <p:cNvPr id="83" name="Image 10" descr="preencoded.png"/>
          <p:cNvPicPr>
            <a:picLocks noChangeAspect="1"/>
          </p:cNvPicPr>
          <p:nvPr/>
        </p:nvPicPr>
        <p:blipFill>
          <a:blip r:embed="rId9"/>
          <a:srcRect l="-3205" r="-3205"/>
          <a:stretch>
            <a:fillRect/>
          </a:stretch>
        </p:blipFill>
        <p:spPr>
          <a:xfrm>
            <a:off x="694944" y="3493922"/>
            <a:ext cx="75895" cy="95098"/>
          </a:xfrm>
          <a:prstGeom prst="rect">
            <a:avLst/>
          </a:prstGeom>
        </p:spPr>
      </p:pic>
      <p:sp>
        <p:nvSpPr>
          <p:cNvPr id="84" name="Shape 71"/>
          <p:cNvSpPr/>
          <p:nvPr/>
        </p:nvSpPr>
        <p:spPr>
          <a:xfrm>
            <a:off x="619049" y="3732581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85" name="Text 72"/>
          <p:cNvSpPr txBox="1"/>
          <p:nvPr/>
        </p:nvSpPr>
        <p:spPr>
          <a:xfrm>
            <a:off x="695858" y="3771900"/>
            <a:ext cx="1527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...</a:t>
            </a:r>
            <a:endParaRPr lang="en-US" sz="800" dirty="0"/>
          </a:p>
        </p:txBody>
      </p:sp>
      <p:sp>
        <p:nvSpPr>
          <p:cNvPr id="86" name="Shape 73"/>
          <p:cNvSpPr/>
          <p:nvPr/>
        </p:nvSpPr>
        <p:spPr>
          <a:xfrm>
            <a:off x="6372454" y="2512771"/>
            <a:ext cx="228600" cy="228600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87" name="Image 11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439205" y="2579522"/>
            <a:ext cx="95098" cy="95098"/>
          </a:xfrm>
          <a:prstGeom prst="rect">
            <a:avLst/>
          </a:prstGeom>
        </p:spPr>
      </p:pic>
      <p:sp>
        <p:nvSpPr>
          <p:cNvPr id="88" name="Shape 74"/>
          <p:cNvSpPr/>
          <p:nvPr/>
        </p:nvSpPr>
        <p:spPr>
          <a:xfrm>
            <a:off x="6372454" y="2818181"/>
            <a:ext cx="228600" cy="228600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89" name="Image 12" descr="preencoded.png"/>
          <p:cNvPicPr>
            <a:picLocks noChangeAspect="1"/>
          </p:cNvPicPr>
          <p:nvPr/>
        </p:nvPicPr>
        <p:blipFill>
          <a:blip r:embed="rId11"/>
          <a:srcRect l="-1923" r="-1923"/>
          <a:stretch>
            <a:fillRect/>
          </a:stretch>
        </p:blipFill>
        <p:spPr>
          <a:xfrm>
            <a:off x="6424574" y="2884018"/>
            <a:ext cx="123444" cy="95098"/>
          </a:xfrm>
          <a:prstGeom prst="rect">
            <a:avLst/>
          </a:prstGeom>
        </p:spPr>
      </p:pic>
      <p:sp>
        <p:nvSpPr>
          <p:cNvPr id="90" name="Shape 75"/>
          <p:cNvSpPr/>
          <p:nvPr/>
        </p:nvSpPr>
        <p:spPr>
          <a:xfrm>
            <a:off x="6372454" y="3122676"/>
            <a:ext cx="228600" cy="228600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91" name="Image 13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>
            <a:fillRect/>
          </a:stretch>
        </p:blipFill>
        <p:spPr>
          <a:xfrm>
            <a:off x="6443777" y="3189427"/>
            <a:ext cx="85954" cy="95098"/>
          </a:xfrm>
          <a:prstGeom prst="rect">
            <a:avLst/>
          </a:prstGeom>
        </p:spPr>
      </p:pic>
      <p:sp>
        <p:nvSpPr>
          <p:cNvPr id="92" name="Shape 76"/>
          <p:cNvSpPr/>
          <p:nvPr/>
        </p:nvSpPr>
        <p:spPr>
          <a:xfrm>
            <a:off x="6372454" y="3427171"/>
            <a:ext cx="228600" cy="228600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93" name="Image 14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>
            <a:fillRect/>
          </a:stretch>
        </p:blipFill>
        <p:spPr>
          <a:xfrm>
            <a:off x="6443777" y="3493922"/>
            <a:ext cx="85954" cy="950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223114"/>
            <a:ext cx="199705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4.1 上下文管理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69748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012034" y="267005"/>
            <a:ext cx="17812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分层引用让AI“看全局”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1783080"/>
            <a:ext cx="4238244" cy="1914754"/>
          </a:xfrm>
          <a:prstGeom prst="roundRect">
            <a:avLst>
              <a:gd name="adj" fmla="val 2851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9244" y="1983334"/>
            <a:ext cx="400507" cy="400507"/>
          </a:xfrm>
          <a:prstGeom prst="ellipse">
            <a:avLst/>
          </a:prstGeom>
          <a:solidFill>
            <a:srgbClr val="FEE2E2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23544" y="2097634"/>
            <a:ext cx="171907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09244" y="2495398"/>
            <a:ext cx="2048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91B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核心挑战：上下文溢出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2848356"/>
            <a:ext cx="34536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场景：1000行以上的项目，AI无法一次性读取所有代码。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" y="3114446"/>
            <a:ext cx="3900830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错误做法： 把所有代码一股脑塞给AI。会导致窗口溢出，AI产生“幻觉”或“失忆”。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9905" y="3924605"/>
            <a:ext cx="4238244" cy="1914754"/>
          </a:xfrm>
          <a:prstGeom prst="roundRect">
            <a:avLst>
              <a:gd name="adj" fmla="val 2851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9244" y="4123944"/>
            <a:ext cx="400507" cy="400507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3544" y="4238244"/>
            <a:ext cx="171907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09244" y="4636922"/>
            <a:ext cx="24295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核心原则：最小充分上下文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09244" y="4988966"/>
            <a:ext cx="38405" cy="190195"/>
          </a:xfrm>
          <a:prstGeom prst="rect">
            <a:avLst/>
          </a:prstGeom>
          <a:solidFill>
            <a:srgbClr val="6EE7B7"/>
          </a:solidFill>
        </p:spPr>
      </p:sp>
      <p:sp>
        <p:nvSpPr>
          <p:cNvPr id="19" name="Text 15"/>
          <p:cNvSpPr txBox="1"/>
          <p:nvPr/>
        </p:nvSpPr>
        <p:spPr>
          <a:xfrm>
            <a:off x="961949" y="5008169"/>
            <a:ext cx="165323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"Minimal Sufficient Context"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809244" y="5255971"/>
            <a:ext cx="392917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正确策略： 像做手术一样精准。只提供当前任务必须要用到的文档、接口定义和代码片段。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227625" y="1461211"/>
            <a:ext cx="3829507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分层上下文策略 (Layered Context)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5227625" y="2002536"/>
            <a:ext cx="6362395" cy="761695"/>
          </a:xfrm>
          <a:prstGeom prst="roundRect">
            <a:avLst>
              <a:gd name="adj" fmla="val 12005"/>
            </a:avLst>
          </a:prstGeom>
          <a:solidFill>
            <a:srgbClr val="F1F5F9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227625" y="2002536"/>
            <a:ext cx="57607" cy="761695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24" name="Text 20"/>
          <p:cNvSpPr txBox="1"/>
          <p:nvPr/>
        </p:nvSpPr>
        <p:spPr>
          <a:xfrm>
            <a:off x="6388913" y="2131466"/>
            <a:ext cx="2631643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项目宪法 (Project Constitution)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6388913" y="2421331"/>
            <a:ext cx="40370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始终包含：技术栈、编码规范、禁止事项（如 constitution.md）</a:t>
            </a:r>
            <a:endParaRPr lang="en-US" sz="1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-530" b="-530"/>
          <a:stretch>
            <a:fillRect/>
          </a:stretch>
        </p:blipFill>
        <p:spPr>
          <a:xfrm>
            <a:off x="11144707" y="2236622"/>
            <a:ext cx="247802" cy="286207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5227625" y="2848356"/>
            <a:ext cx="6362395" cy="761695"/>
          </a:xfrm>
          <a:prstGeom prst="roundRect">
            <a:avLst>
              <a:gd name="adj" fmla="val 12005"/>
            </a:avLst>
          </a:prstGeom>
          <a:solidFill>
            <a:srgbClr val="EFF6FF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227625" y="2848356"/>
            <a:ext cx="57607" cy="76169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9" name="Text 24"/>
          <p:cNvSpPr txBox="1"/>
          <p:nvPr/>
        </p:nvSpPr>
        <p:spPr>
          <a:xfrm>
            <a:off x="6388913" y="2977286"/>
            <a:ext cx="1983334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模块架构 (Architecture)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6388913" y="3267151"/>
            <a:ext cx="41797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按需加载：模块职责、接口定义、数据流向（如 architecture.md）</a:t>
            </a:r>
            <a:endParaRPr lang="en-US" sz="10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266" r="-266"/>
          <a:stretch>
            <a:fillRect/>
          </a:stretch>
        </p:blipFill>
        <p:spPr>
          <a:xfrm>
            <a:off x="11067898" y="3082442"/>
            <a:ext cx="323698" cy="286207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227625" y="3694176"/>
            <a:ext cx="6362395" cy="761695"/>
          </a:xfrm>
          <a:prstGeom prst="roundRect">
            <a:avLst>
              <a:gd name="adj" fmla="val 12005"/>
            </a:avLst>
          </a:prstGeom>
          <a:solidFill>
            <a:srgbClr val="F0F9FF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227625" y="3694176"/>
            <a:ext cx="57607" cy="76169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4" name="Text 28"/>
          <p:cNvSpPr txBox="1"/>
          <p:nvPr/>
        </p:nvSpPr>
        <p:spPr>
          <a:xfrm>
            <a:off x="6388913" y="3823106"/>
            <a:ext cx="1907438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369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文件级代码 (File Level)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6388913" y="4112971"/>
            <a:ext cx="28465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精确定位：当前任务直接相关的具体源码文件</a:t>
            </a:r>
            <a:endParaRPr lang="en-US" sz="10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 l="-1118" r="-1118"/>
          <a:stretch>
            <a:fillRect/>
          </a:stretch>
        </p:blipFill>
        <p:spPr>
          <a:xfrm>
            <a:off x="11173054" y="3928262"/>
            <a:ext cx="219456" cy="286207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5227625" y="4539996"/>
            <a:ext cx="6362395" cy="761695"/>
          </a:xfrm>
          <a:prstGeom prst="roundRect">
            <a:avLst>
              <a:gd name="adj" fmla="val 12005"/>
            </a:avLst>
          </a:prstGeom>
          <a:solidFill>
            <a:srgbClr val="F0FDFA"/>
          </a:solidFill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5227625" y="4539996"/>
            <a:ext cx="57607" cy="761695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9" name="Text 32"/>
          <p:cNvSpPr txBox="1"/>
          <p:nvPr/>
        </p:nvSpPr>
        <p:spPr>
          <a:xfrm>
            <a:off x="6388913" y="4668926"/>
            <a:ext cx="1764792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函数/类定义 (Details)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6388913" y="4958791"/>
            <a:ext cx="31226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细节操作：具体需要修改或参考的函数块、类方法</a:t>
            </a:r>
            <a:endParaRPr lang="en-US" sz="10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l="-607" r="-607"/>
          <a:stretch>
            <a:fillRect/>
          </a:stretch>
        </p:blipFill>
        <p:spPr>
          <a:xfrm>
            <a:off x="11030407" y="4774082"/>
            <a:ext cx="362102" cy="286207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5227625" y="5530291"/>
            <a:ext cx="6362395" cy="629107"/>
          </a:xfrm>
          <a:prstGeom prst="roundRect">
            <a:avLst>
              <a:gd name="adj" fmla="val 880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7"/>
          <a:srcRect l="-1773" r="-1773"/>
          <a:stretch>
            <a:fillRect/>
          </a:stretch>
        </p:blipFill>
        <p:spPr>
          <a:xfrm>
            <a:off x="5351069" y="5758891"/>
            <a:ext cx="133502" cy="171907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5598871" y="5653735"/>
            <a:ext cx="587227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实战技巧：在 Cursor 等工具中，通过组合不同层级的引用（如 @constitution + @file），构建精准的上下文环境。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Shape 37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47" name="Text 38"/>
          <p:cNvSpPr txBox="1"/>
          <p:nvPr/>
        </p:nvSpPr>
        <p:spPr>
          <a:xfrm>
            <a:off x="609905" y="6538874"/>
            <a:ext cx="15581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AI驱动科研编程实战指南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11449202" y="6558077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4930445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4.1 Cursor @引用系统：高效实操示例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3819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5952744" y="267005"/>
            <a:ext cx="23052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 AI 拥有精准的上下文感知能力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3095" y="2249424"/>
            <a:ext cx="2992831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高效提示词构建：上下文 + 任务 + 约束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3095" y="2729484"/>
            <a:ext cx="6258154" cy="942746"/>
          </a:xfrm>
          <a:prstGeom prst="roundRect">
            <a:avLst>
              <a:gd name="adj" fmla="val 7838"/>
            </a:avLst>
          </a:prstGeom>
          <a:solidFill>
            <a:srgbClr val="1E293B"/>
          </a:solidFill>
          <a:ln w="12700">
            <a:solidFill>
              <a:srgbClr val="93C5FD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3154" y="2739542"/>
            <a:ext cx="6238951" cy="304495"/>
          </a:xfrm>
          <a:prstGeom prst="rect">
            <a:avLst/>
          </a:prstGeom>
          <a:solidFill>
            <a:srgbClr val="3B82F6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t="-2644" b="-2644"/>
          <a:stretch>
            <a:fillRect/>
          </a:stretch>
        </p:blipFill>
        <p:spPr>
          <a:xfrm>
            <a:off x="657454" y="2827325"/>
            <a:ext cx="142646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75995" y="2792578"/>
            <a:ext cx="19357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构建上下文 (Context Building)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44261" y="2794406"/>
            <a:ext cx="923544" cy="190195"/>
          </a:xfrm>
          <a:prstGeom prst="roundRect">
            <a:avLst>
              <a:gd name="adj" fmla="val 96154"/>
            </a:avLst>
          </a:prstGeom>
          <a:solidFill>
            <a:srgbClr val="FFFFFF">
              <a:alpha val="20000"/>
            </a:srgbClr>
          </a:solidFill>
        </p:spPr>
      </p:sp>
      <p:sp>
        <p:nvSpPr>
          <p:cNvPr id="14" name="Text 11"/>
          <p:cNvSpPr txBox="1"/>
          <p:nvPr/>
        </p:nvSpPr>
        <p:spPr>
          <a:xfrm>
            <a:off x="5821070" y="2822753"/>
            <a:ext cx="8577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The "Memory"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57454" y="3173882"/>
            <a:ext cx="2212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8154" y="3173882"/>
            <a:ext cx="14977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.ai-context/constitution.md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2173529" y="3173882"/>
            <a:ext cx="169804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Level 0: Project Constitution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771900" y="3173882"/>
            <a:ext cx="2212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892601" y="3173882"/>
            <a:ext cx="15169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specs/kde/requirements.md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57454" y="3173882"/>
            <a:ext cx="5736031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Level 1: Feature Requirements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364285" y="3367735"/>
            <a:ext cx="2212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484986" y="3367735"/>
            <a:ext cx="12783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code:calculate_density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2664562" y="3367735"/>
            <a:ext cx="14785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Level 3: Target Function</a:t>
            </a:r>
            <a:endParaRPr lang="en-US" sz="10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rcRect l="-760" r="-760"/>
          <a:stretch>
            <a:fillRect/>
          </a:stretch>
        </p:blipFill>
        <p:spPr>
          <a:xfrm>
            <a:off x="3583534" y="3859682"/>
            <a:ext cx="152705" cy="171907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33095" y="4238244"/>
            <a:ext cx="6258154" cy="1133856"/>
          </a:xfrm>
          <a:prstGeom prst="roundRect">
            <a:avLst>
              <a:gd name="adj" fmla="val 5422"/>
            </a:avLst>
          </a:prstGeom>
          <a:solidFill>
            <a:srgbClr val="1E293B"/>
          </a:solidFill>
          <a:ln w="12700">
            <a:solidFill>
              <a:srgbClr val="6EE7B7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43154" y="4248302"/>
            <a:ext cx="6238951" cy="304495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rcRect t="-2644" b="-2644"/>
          <a:stretch>
            <a:fillRect/>
          </a:stretch>
        </p:blipFill>
        <p:spPr>
          <a:xfrm>
            <a:off x="657454" y="4336999"/>
            <a:ext cx="142646" cy="13350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75995" y="4301338"/>
            <a:ext cx="18790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执行指令 (Execution Prompt)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839358" y="4303166"/>
            <a:ext cx="828446" cy="190195"/>
          </a:xfrm>
          <a:prstGeom prst="roundRect">
            <a:avLst>
              <a:gd name="adj" fmla="val 96154"/>
            </a:avLst>
          </a:prstGeom>
          <a:solidFill>
            <a:srgbClr val="FFFFFF">
              <a:alpha val="20000"/>
            </a:srgbClr>
          </a:solidFill>
        </p:spPr>
      </p:sp>
      <p:sp>
        <p:nvSpPr>
          <p:cNvPr id="30" name="Text 25"/>
          <p:cNvSpPr txBox="1"/>
          <p:nvPr/>
        </p:nvSpPr>
        <p:spPr>
          <a:xfrm>
            <a:off x="5916168" y="4331513"/>
            <a:ext cx="7626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The "Action"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657454" y="4682642"/>
            <a:ext cx="13926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依据上述规范，请优化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952244" y="4682642"/>
            <a:ext cx="10021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calculate_density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851099" y="4682642"/>
            <a:ext cx="74523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函数性能：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3498494" y="4682642"/>
            <a:ext cx="7260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Objectives: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4123944" y="4682642"/>
            <a:ext cx="174559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Optimize processing time for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5767121" y="4682642"/>
            <a:ext cx="70683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100k points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657454" y="4682642"/>
            <a:ext cx="5955487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&lt;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730606" y="4876495"/>
            <a:ext cx="2212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5s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845820" y="4876495"/>
            <a:ext cx="12216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Replace loops with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1967789" y="4876495"/>
            <a:ext cx="124998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scipy.spatial.cKDTree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3112618" y="4876495"/>
            <a:ext cx="6976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Maintain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3709721" y="4876495"/>
            <a:ext cx="42153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4033418" y="4876495"/>
            <a:ext cx="206014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Hints &amp; Google Style Docstring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657454" y="4876495"/>
            <a:ext cx="568848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AI combines: Project Rules + Feature Specs + Code Logic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7090258" y="990295"/>
            <a:ext cx="4572000" cy="5639105"/>
          </a:xfrm>
          <a:prstGeom prst="roundRect">
            <a:avLst>
              <a:gd name="adj" fmla="val 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290511" y="1690726"/>
            <a:ext cx="171907" cy="171907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7538314" y="1651406"/>
            <a:ext cx="1469441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常用引用指令速查</a:t>
            </a:r>
            <a:endParaRPr lang="en-US" sz="1300" dirty="0"/>
          </a:p>
        </p:txBody>
      </p:sp>
      <p:sp>
        <p:nvSpPr>
          <p:cNvPr id="48" name="Shape 42"/>
          <p:cNvSpPr/>
          <p:nvPr/>
        </p:nvSpPr>
        <p:spPr>
          <a:xfrm>
            <a:off x="7290511" y="2017166"/>
            <a:ext cx="4172407" cy="381305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7290511" y="2017166"/>
            <a:ext cx="28346" cy="38130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0" name="Shape 44"/>
          <p:cNvSpPr/>
          <p:nvPr/>
        </p:nvSpPr>
        <p:spPr>
          <a:xfrm>
            <a:off x="7433158" y="2093062"/>
            <a:ext cx="666598" cy="228600"/>
          </a:xfrm>
          <a:prstGeom prst="roundRect">
            <a:avLst>
              <a:gd name="adj" fmla="val 66667"/>
            </a:avLst>
          </a:prstGeom>
          <a:solidFill>
            <a:srgbClr val="EFF6FF"/>
          </a:solidFill>
        </p:spPr>
      </p:sp>
      <p:sp>
        <p:nvSpPr>
          <p:cNvPr id="51" name="Text 45"/>
          <p:cNvSpPr txBox="1"/>
          <p:nvPr/>
        </p:nvSpPr>
        <p:spPr>
          <a:xfrm>
            <a:off x="7628839" y="2135124"/>
            <a:ext cx="3685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@file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8214055" y="2134210"/>
            <a:ext cx="18918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引用完整文件e.g., @data_loader.py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7290511" y="2474366"/>
            <a:ext cx="4172407" cy="448056"/>
          </a:xfrm>
          <a:prstGeom prst="roundRect">
            <a:avLst>
              <a:gd name="adj" fmla="val 26053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7290511" y="2474366"/>
            <a:ext cx="28346" cy="44805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5" name="Shape 49"/>
          <p:cNvSpPr/>
          <p:nvPr/>
        </p:nvSpPr>
        <p:spPr>
          <a:xfrm>
            <a:off x="7433158" y="2582266"/>
            <a:ext cx="666598" cy="228600"/>
          </a:xfrm>
          <a:prstGeom prst="roundRect">
            <a:avLst>
              <a:gd name="adj" fmla="val 66667"/>
            </a:avLst>
          </a:prstGeom>
          <a:solidFill>
            <a:srgbClr val="EFF6FF"/>
          </a:solidFill>
        </p:spPr>
      </p:sp>
      <p:sp>
        <p:nvSpPr>
          <p:cNvPr id="56" name="Text 50"/>
          <p:cNvSpPr txBox="1"/>
          <p:nvPr/>
        </p:nvSpPr>
        <p:spPr>
          <a:xfrm>
            <a:off x="7553858" y="2624328"/>
            <a:ext cx="5202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@folder</a:t>
            </a:r>
            <a:endParaRPr lang="en-US" sz="900" dirty="0"/>
          </a:p>
        </p:txBody>
      </p:sp>
      <p:sp>
        <p:nvSpPr>
          <p:cNvPr id="57" name="Text 51"/>
          <p:cNvSpPr txBox="1"/>
          <p:nvPr/>
        </p:nvSpPr>
        <p:spPr>
          <a:xfrm>
            <a:off x="8214055" y="2550262"/>
            <a:ext cx="2720340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引用文件夹结构（不含全内容）e.g., @src/analysis (Architecture View)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7290511" y="2995574"/>
            <a:ext cx="4172407" cy="381305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9" name="Shape 53"/>
          <p:cNvSpPr/>
          <p:nvPr/>
        </p:nvSpPr>
        <p:spPr>
          <a:xfrm>
            <a:off x="7290511" y="2995574"/>
            <a:ext cx="28346" cy="38130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0" name="Shape 54"/>
          <p:cNvSpPr/>
          <p:nvPr/>
        </p:nvSpPr>
        <p:spPr>
          <a:xfrm>
            <a:off x="7433158" y="3071470"/>
            <a:ext cx="666598" cy="228600"/>
          </a:xfrm>
          <a:prstGeom prst="roundRect">
            <a:avLst>
              <a:gd name="adj" fmla="val 66667"/>
            </a:avLst>
          </a:prstGeom>
          <a:solidFill>
            <a:srgbClr val="EFF6FF"/>
          </a:solidFill>
        </p:spPr>
      </p:sp>
      <p:sp>
        <p:nvSpPr>
          <p:cNvPr id="61" name="Text 55"/>
          <p:cNvSpPr txBox="1"/>
          <p:nvPr/>
        </p:nvSpPr>
        <p:spPr>
          <a:xfrm>
            <a:off x="7591349" y="3113532"/>
            <a:ext cx="44439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@code</a:t>
            </a:r>
            <a:endParaRPr lang="en-US" sz="900" dirty="0"/>
          </a:p>
        </p:txBody>
      </p:sp>
      <p:sp>
        <p:nvSpPr>
          <p:cNvPr id="62" name="Text 56"/>
          <p:cNvSpPr txBox="1"/>
          <p:nvPr/>
        </p:nvSpPr>
        <p:spPr>
          <a:xfrm>
            <a:off x="8214055" y="3112618"/>
            <a:ext cx="293979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引用特定函数或类（精准上下文）e.g., @calculate_kde</a:t>
            </a:r>
            <a:endParaRPr lang="en-US" sz="900" dirty="0"/>
          </a:p>
        </p:txBody>
      </p:sp>
      <p:sp>
        <p:nvSpPr>
          <p:cNvPr id="63" name="Shape 57"/>
          <p:cNvSpPr/>
          <p:nvPr/>
        </p:nvSpPr>
        <p:spPr>
          <a:xfrm>
            <a:off x="7290511" y="3451860"/>
            <a:ext cx="4172407" cy="381305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4" name="Shape 58"/>
          <p:cNvSpPr/>
          <p:nvPr/>
        </p:nvSpPr>
        <p:spPr>
          <a:xfrm>
            <a:off x="7290511" y="3451860"/>
            <a:ext cx="28346" cy="38130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5" name="Shape 59"/>
          <p:cNvSpPr/>
          <p:nvPr/>
        </p:nvSpPr>
        <p:spPr>
          <a:xfrm>
            <a:off x="7433158" y="3528670"/>
            <a:ext cx="666598" cy="228600"/>
          </a:xfrm>
          <a:prstGeom prst="roundRect">
            <a:avLst>
              <a:gd name="adj" fmla="val 66667"/>
            </a:avLst>
          </a:prstGeom>
          <a:solidFill>
            <a:srgbClr val="EFF6FF"/>
          </a:solidFill>
        </p:spPr>
      </p:sp>
      <p:sp>
        <p:nvSpPr>
          <p:cNvPr id="66" name="Text 60"/>
          <p:cNvSpPr txBox="1"/>
          <p:nvPr/>
        </p:nvSpPr>
        <p:spPr>
          <a:xfrm>
            <a:off x="7595006" y="3569818"/>
            <a:ext cx="44439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@docs</a:t>
            </a:r>
            <a:endParaRPr lang="en-US" sz="900" dirty="0"/>
          </a:p>
        </p:txBody>
      </p:sp>
      <p:sp>
        <p:nvSpPr>
          <p:cNvPr id="67" name="Text 61"/>
          <p:cNvSpPr txBox="1"/>
          <p:nvPr/>
        </p:nvSpPr>
        <p:spPr>
          <a:xfrm>
            <a:off x="8214055" y="3569818"/>
            <a:ext cx="28831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引用已索引的文档库e.g., @Pandas (No context switch)</a:t>
            </a:r>
            <a:endParaRPr lang="en-US" sz="900" dirty="0"/>
          </a:p>
        </p:txBody>
      </p:sp>
      <p:sp>
        <p:nvSpPr>
          <p:cNvPr id="68" name="Shape 62"/>
          <p:cNvSpPr/>
          <p:nvPr/>
        </p:nvSpPr>
        <p:spPr>
          <a:xfrm>
            <a:off x="7290511" y="3909060"/>
            <a:ext cx="4172407" cy="381305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9" name="Shape 63"/>
          <p:cNvSpPr/>
          <p:nvPr/>
        </p:nvSpPr>
        <p:spPr>
          <a:xfrm>
            <a:off x="7290511" y="3909060"/>
            <a:ext cx="28346" cy="38130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70" name="Shape 64"/>
          <p:cNvSpPr/>
          <p:nvPr/>
        </p:nvSpPr>
        <p:spPr>
          <a:xfrm>
            <a:off x="7433158" y="3985870"/>
            <a:ext cx="666598" cy="228600"/>
          </a:xfrm>
          <a:prstGeom prst="roundRect">
            <a:avLst>
              <a:gd name="adj" fmla="val 66667"/>
            </a:avLst>
          </a:prstGeom>
          <a:solidFill>
            <a:srgbClr val="EFF6FF"/>
          </a:solidFill>
        </p:spPr>
      </p:sp>
      <p:sp>
        <p:nvSpPr>
          <p:cNvPr id="71" name="Text 65"/>
          <p:cNvSpPr txBox="1"/>
          <p:nvPr/>
        </p:nvSpPr>
        <p:spPr>
          <a:xfrm>
            <a:off x="7605065" y="4027018"/>
            <a:ext cx="41605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</a:t>
            </a:r>
            <a:endParaRPr lang="en-US" sz="900" dirty="0"/>
          </a:p>
        </p:txBody>
      </p:sp>
      <p:sp>
        <p:nvSpPr>
          <p:cNvPr id="72" name="Text 66"/>
          <p:cNvSpPr txBox="1"/>
          <p:nvPr/>
        </p:nvSpPr>
        <p:spPr>
          <a:xfrm>
            <a:off x="8214055" y="4026103"/>
            <a:ext cx="31491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让 AI 联网搜索特定 URLe.g., @https://stackoverflow.com/...</a:t>
            </a:r>
            <a:endParaRPr lang="en-US" sz="900" dirty="0"/>
          </a:p>
        </p:txBody>
      </p:sp>
      <p:sp>
        <p:nvSpPr>
          <p:cNvPr id="73" name="Shape 67"/>
          <p:cNvSpPr/>
          <p:nvPr/>
        </p:nvSpPr>
        <p:spPr>
          <a:xfrm>
            <a:off x="7290511" y="4366260"/>
            <a:ext cx="4172407" cy="448056"/>
          </a:xfrm>
          <a:prstGeom prst="roundRect">
            <a:avLst>
              <a:gd name="adj" fmla="val 26053"/>
            </a:avLst>
          </a:prstGeom>
          <a:solidFill>
            <a:srgbClr val="FFFFFF"/>
          </a:solidFill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4" name="Shape 68"/>
          <p:cNvSpPr/>
          <p:nvPr/>
        </p:nvSpPr>
        <p:spPr>
          <a:xfrm>
            <a:off x="7290511" y="4366260"/>
            <a:ext cx="28346" cy="448056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75" name="Shape 69"/>
          <p:cNvSpPr/>
          <p:nvPr/>
        </p:nvSpPr>
        <p:spPr>
          <a:xfrm>
            <a:off x="7433158" y="4474159"/>
            <a:ext cx="666598" cy="228600"/>
          </a:xfrm>
          <a:prstGeom prst="roundRect">
            <a:avLst>
              <a:gd name="adj" fmla="val 66667"/>
            </a:avLst>
          </a:prstGeom>
          <a:solidFill>
            <a:srgbClr val="F3E8FF"/>
          </a:solidFill>
        </p:spPr>
      </p:sp>
      <p:sp>
        <p:nvSpPr>
          <p:cNvPr id="76" name="Text 70"/>
          <p:cNvSpPr txBox="1"/>
          <p:nvPr/>
        </p:nvSpPr>
        <p:spPr>
          <a:xfrm>
            <a:off x="7642555" y="4516222"/>
            <a:ext cx="34930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@git</a:t>
            </a:r>
            <a:endParaRPr lang="en-US" sz="900" dirty="0"/>
          </a:p>
        </p:txBody>
      </p:sp>
      <p:sp>
        <p:nvSpPr>
          <p:cNvPr id="77" name="Text 71"/>
          <p:cNvSpPr txBox="1"/>
          <p:nvPr/>
        </p:nvSpPr>
        <p:spPr>
          <a:xfrm>
            <a:off x="8214055" y="4442155"/>
            <a:ext cx="2873045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引用 Git 提交记录或差异e.g., @diff (Ask about current changes)</a:t>
            </a:r>
            <a:endParaRPr lang="en-US" sz="900" dirty="0"/>
          </a:p>
        </p:txBody>
      </p:sp>
      <p:sp>
        <p:nvSpPr>
          <p:cNvPr id="78" name="Shape 72"/>
          <p:cNvSpPr/>
          <p:nvPr/>
        </p:nvSpPr>
        <p:spPr>
          <a:xfrm>
            <a:off x="7290511" y="4963363"/>
            <a:ext cx="4172407" cy="1009498"/>
          </a:xfrm>
          <a:prstGeom prst="roundRect">
            <a:avLst>
              <a:gd name="adj" fmla="val 6836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9" name="Image 4" descr="preencoded.png"/>
          <p:cNvPicPr>
            <a:picLocks noChangeAspect="1"/>
          </p:cNvPicPr>
          <p:nvPr/>
        </p:nvPicPr>
        <p:blipFill>
          <a:blip r:embed="rId5"/>
          <a:srcRect l="-2512" r="-2512"/>
          <a:stretch>
            <a:fillRect/>
          </a:stretch>
        </p:blipFill>
        <p:spPr>
          <a:xfrm>
            <a:off x="7413955" y="5123383"/>
            <a:ext cx="105156" cy="133502"/>
          </a:xfrm>
          <a:prstGeom prst="rect">
            <a:avLst/>
          </a:prstGeom>
        </p:spPr>
      </p:pic>
      <p:sp>
        <p:nvSpPr>
          <p:cNvPr id="80" name="Text 73"/>
          <p:cNvSpPr txBox="1"/>
          <p:nvPr/>
        </p:nvSpPr>
        <p:spPr>
          <a:xfrm>
            <a:off x="7595006" y="5087722"/>
            <a:ext cx="173187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最佳实践 (Best Practices)</a:t>
            </a:r>
            <a:endParaRPr lang="en-US" sz="1000" dirty="0"/>
          </a:p>
        </p:txBody>
      </p:sp>
      <p:sp>
        <p:nvSpPr>
          <p:cNvPr id="81" name="Text 74"/>
          <p:cNvSpPr txBox="1"/>
          <p:nvPr/>
        </p:nvSpPr>
        <p:spPr>
          <a:xfrm>
            <a:off x="7413955" y="5341010"/>
            <a:ext cx="3692347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350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• Avoid @Folder Abuse: Large folders consume Context Window rapidly, causing AI amnesia.</a:t>
            </a:r>
            <a:endParaRPr lang="en-US" sz="900" dirty="0"/>
          </a:p>
        </p:txBody>
      </p:sp>
      <p:sp>
        <p:nvSpPr>
          <p:cNvPr id="82" name="Text 75"/>
          <p:cNvSpPr txBox="1"/>
          <p:nvPr/>
        </p:nvSpPr>
        <p:spPr>
          <a:xfrm>
            <a:off x="7413955" y="5695798"/>
            <a:ext cx="33686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350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• The "Combo": Always include @constitution.md for consistency.</a:t>
            </a:r>
            <a:endParaRPr lang="en-US" sz="900" dirty="0"/>
          </a:p>
        </p:txBody>
      </p:sp>
      <p:sp>
        <p:nvSpPr>
          <p:cNvPr id="83" name="Shape 7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4" name="Shape 77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85" name="Text 78"/>
          <p:cNvSpPr txBox="1"/>
          <p:nvPr/>
        </p:nvSpPr>
        <p:spPr>
          <a:xfrm>
            <a:off x="609905" y="6558077"/>
            <a:ext cx="16148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驱动科研编程实战指南</a:t>
            </a:r>
            <a:endParaRPr lang="en-US" sz="1000" dirty="0"/>
          </a:p>
        </p:txBody>
      </p:sp>
      <p:sp>
        <p:nvSpPr>
          <p:cNvPr id="86" name="Text 79"/>
          <p:cNvSpPr txBox="1"/>
          <p:nvPr/>
        </p:nvSpPr>
        <p:spPr>
          <a:xfrm>
            <a:off x="11422685" y="6558077"/>
            <a:ext cx="26243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3206801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4.2 结构化Debug工作流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905402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219956" y="267005"/>
            <a:ext cx="25338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告别"盲目修复"，让AI成为诊断专家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905" y="1104595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8505" y="1104595"/>
            <a:ext cx="37344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传统Debug：直接甩报错给AI → 瞎猜原因 → 越修越乱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57993" y="1067105"/>
            <a:ext cx="1133856" cy="247802"/>
          </a:xfrm>
          <a:prstGeom prst="roundRect">
            <a:avLst>
              <a:gd name="adj" fmla="val 36900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82351" y="1128370"/>
            <a:ext cx="114300" cy="1143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772546" y="1123798"/>
            <a:ext cx="7818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结构化四步法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9905" y="4457700"/>
            <a:ext cx="10972800" cy="2095805"/>
          </a:xfrm>
          <a:prstGeom prst="roundRect">
            <a:avLst>
              <a:gd name="adj" fmla="val 1983"/>
            </a:avLst>
          </a:prstGeom>
          <a:solidFill>
            <a:srgbClr val="1E293B"/>
          </a:solidFill>
          <a:effectLst>
            <a:outerShdw blurRad="139700" dist="1016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09905" y="4457700"/>
            <a:ext cx="2476195" cy="2095805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0100" y="4686300"/>
            <a:ext cx="152705" cy="152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28700" y="4686300"/>
            <a:ext cx="10387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专家级提示词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800100" y="5009998"/>
            <a:ext cx="2095805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"不要直接问AI怎么办，而是让AI帮你分析原因 + 设计方案。"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800100" y="5419649"/>
            <a:ext cx="2095805" cy="933602"/>
          </a:xfrm>
          <a:prstGeom prst="roundRect">
            <a:avLst>
              <a:gd name="adj" fmla="val 399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rcRect t="-43" b="-43"/>
          <a:stretch>
            <a:fillRect/>
          </a:stretch>
        </p:blipFill>
        <p:spPr>
          <a:xfrm>
            <a:off x="905256" y="5562295"/>
            <a:ext cx="133502" cy="1527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76249" y="5524805"/>
            <a:ext cx="14383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预期效果 (Expected)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905256" y="5820156"/>
            <a:ext cx="1953158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获得带逻辑推理的分析，而非盲目的代码补丁。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0345522" y="4515307"/>
            <a:ext cx="12655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Prompt Template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3353105" y="4667098"/>
            <a:ext cx="138623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@debug_report.md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4633265" y="4667098"/>
            <a:ext cx="132953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引用你的症状报告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3353105" y="4943246"/>
            <a:ext cx="8034833" cy="5815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1. 分析 (Analyze)：请根据报告，列出导致此错误的 3个最可能原因，并按可能性排序。 2. 诊断 (Diagnose)：对于每个可能原因，给出 验证步骤（如打印变量、检查特定行）。 3. 修复 (Fix)：确认原因后，请设计一个 最小改动 的修复方案，并解释为什么选择它。 # 注意：不要直接重写整个文件，先分析。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Shap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8" name="Text 22"/>
          <p:cNvSpPr txBox="1"/>
          <p:nvPr/>
        </p:nvSpPr>
        <p:spPr>
          <a:xfrm>
            <a:off x="609905" y="6558077"/>
            <a:ext cx="231068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AI-Driven Research Programming Guide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1422685" y="6558077"/>
            <a:ext cx="26243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09905" y="1466698"/>
            <a:ext cx="2628900" cy="1943100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80898" y="2181758"/>
            <a:ext cx="2286000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Shape 26"/>
          <p:cNvSpPr/>
          <p:nvPr/>
        </p:nvSpPr>
        <p:spPr>
          <a:xfrm>
            <a:off x="780898" y="172364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4444"/>
          </a:solidFill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rcRect l="-837" r="-837"/>
          <a:stretch>
            <a:fillRect/>
          </a:stretch>
        </p:blipFill>
        <p:spPr>
          <a:xfrm>
            <a:off x="857707" y="1809598"/>
            <a:ext cx="152705" cy="13350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80898" y="2305202"/>
            <a:ext cx="163494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编写Debug Report：收集症状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780898" y="2532888"/>
            <a:ext cx="120609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记录复现步骤 (1-2-3)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780898" y="2760574"/>
            <a:ext cx="1473098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确认环境信息 &amp; 已排除项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1181405" y="1676095"/>
            <a:ext cx="6291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STEP 1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1181405" y="1876349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问题定位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2152498" y="3035808"/>
            <a:ext cx="1038758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Time: 2min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3390595" y="1466698"/>
            <a:ext cx="2628900" cy="1943100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3562502" y="2181758"/>
            <a:ext cx="2286000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Shape 35"/>
          <p:cNvSpPr/>
          <p:nvPr/>
        </p:nvSpPr>
        <p:spPr>
          <a:xfrm>
            <a:off x="3562502" y="172364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59E0B"/>
          </a:solidFill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48456" y="1809598"/>
            <a:ext cx="133502" cy="133502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3562502" y="2305202"/>
            <a:ext cx="138714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让AI列出3个最可能原因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3562502" y="2532888"/>
            <a:ext cx="166329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请求"诊断步骤"而非直接修复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3562502" y="2760574"/>
            <a:ext cx="119695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执行诊断，锁定真凶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3962095" y="1676095"/>
            <a:ext cx="6291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STEP 2</a:t>
            </a:r>
            <a:endParaRPr lang="en-US" sz="1200" dirty="0"/>
          </a:p>
        </p:txBody>
      </p:sp>
      <p:sp>
        <p:nvSpPr>
          <p:cNvPr id="48" name="Text 40"/>
          <p:cNvSpPr txBox="1"/>
          <p:nvPr/>
        </p:nvSpPr>
        <p:spPr>
          <a:xfrm>
            <a:off x="3962095" y="1876349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根因分析</a:t>
            </a:r>
            <a:endParaRPr lang="en-US" sz="1200" dirty="0"/>
          </a:p>
        </p:txBody>
      </p:sp>
      <p:sp>
        <p:nvSpPr>
          <p:cNvPr id="49" name="Text 41"/>
          <p:cNvSpPr txBox="1"/>
          <p:nvPr/>
        </p:nvSpPr>
        <p:spPr>
          <a:xfrm>
            <a:off x="4934102" y="3035808"/>
            <a:ext cx="1038758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Time: 1min</a:t>
            </a:r>
            <a:endParaRPr lang="en-US" sz="1200" dirty="0"/>
          </a:p>
        </p:txBody>
      </p:sp>
      <p:sp>
        <p:nvSpPr>
          <p:cNvPr id="50" name="Shape 42"/>
          <p:cNvSpPr/>
          <p:nvPr/>
        </p:nvSpPr>
        <p:spPr>
          <a:xfrm>
            <a:off x="6172200" y="1466698"/>
            <a:ext cx="2628900" cy="1943100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6344107" y="2181758"/>
            <a:ext cx="2286000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Shape 44"/>
          <p:cNvSpPr/>
          <p:nvPr/>
        </p:nvSpPr>
        <p:spPr>
          <a:xfrm>
            <a:off x="6344107" y="172364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3B82F6"/>
          </a:solidFill>
        </p:spPr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429146" y="1809598"/>
            <a:ext cx="133502" cy="133502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6344107" y="2305202"/>
            <a:ext cx="138714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生成多个修复方案 (A/B)</a:t>
            </a:r>
            <a:endParaRPr lang="en-US" sz="900" dirty="0"/>
          </a:p>
        </p:txBody>
      </p:sp>
      <p:sp>
        <p:nvSpPr>
          <p:cNvPr id="55" name="Text 46"/>
          <p:cNvSpPr txBox="1"/>
          <p:nvPr/>
        </p:nvSpPr>
        <p:spPr>
          <a:xfrm>
            <a:off x="6344107" y="2532888"/>
            <a:ext cx="172090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对比 Pros &amp; Cons（影响范围）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6344107" y="2760574"/>
            <a:ext cx="131125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选择副作用最小的方案</a:t>
            </a:r>
            <a:endParaRPr lang="en-US" sz="900" dirty="0"/>
          </a:p>
        </p:txBody>
      </p:sp>
      <p:sp>
        <p:nvSpPr>
          <p:cNvPr id="57" name="Text 48"/>
          <p:cNvSpPr txBox="1"/>
          <p:nvPr/>
        </p:nvSpPr>
        <p:spPr>
          <a:xfrm>
            <a:off x="6743700" y="1676095"/>
            <a:ext cx="6291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STEP 3</a:t>
            </a:r>
            <a:endParaRPr lang="en-US" sz="1200" dirty="0"/>
          </a:p>
        </p:txBody>
      </p:sp>
      <p:sp>
        <p:nvSpPr>
          <p:cNvPr id="58" name="Text 49"/>
          <p:cNvSpPr txBox="1"/>
          <p:nvPr/>
        </p:nvSpPr>
        <p:spPr>
          <a:xfrm>
            <a:off x="6743700" y="1876349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修复设计</a:t>
            </a:r>
            <a:endParaRPr lang="en-US" sz="1200" dirty="0"/>
          </a:p>
        </p:txBody>
      </p:sp>
      <p:sp>
        <p:nvSpPr>
          <p:cNvPr id="59" name="Text 50"/>
          <p:cNvSpPr txBox="1"/>
          <p:nvPr/>
        </p:nvSpPr>
        <p:spPr>
          <a:xfrm>
            <a:off x="7714793" y="3035808"/>
            <a:ext cx="1038758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Time: 1min</a:t>
            </a:r>
            <a:endParaRPr lang="en-US" sz="1200" dirty="0"/>
          </a:p>
        </p:txBody>
      </p:sp>
      <p:sp>
        <p:nvSpPr>
          <p:cNvPr id="60" name="Shape 51"/>
          <p:cNvSpPr/>
          <p:nvPr/>
        </p:nvSpPr>
        <p:spPr>
          <a:xfrm>
            <a:off x="8953805" y="1466698"/>
            <a:ext cx="2628900" cy="1943100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1" name="Shape 52"/>
          <p:cNvSpPr/>
          <p:nvPr/>
        </p:nvSpPr>
        <p:spPr>
          <a:xfrm>
            <a:off x="9124798" y="2181758"/>
            <a:ext cx="2286000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Shape 53"/>
          <p:cNvSpPr/>
          <p:nvPr/>
        </p:nvSpPr>
        <p:spPr>
          <a:xfrm>
            <a:off x="9124798" y="172364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10B981"/>
          </a:solidFill>
        </p:spPr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210751" y="1809598"/>
            <a:ext cx="133502" cy="133502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9124798" y="2305202"/>
            <a:ext cx="143469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逐个文件修改（原子化）</a:t>
            </a:r>
            <a:endParaRPr lang="en-US" sz="900" dirty="0"/>
          </a:p>
        </p:txBody>
      </p:sp>
      <p:sp>
        <p:nvSpPr>
          <p:cNvPr id="65" name="Text 55"/>
          <p:cNvSpPr txBox="1"/>
          <p:nvPr/>
        </p:nvSpPr>
        <p:spPr>
          <a:xfrm>
            <a:off x="9124798" y="2532888"/>
            <a:ext cx="131125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运行回归测试防止倒退</a:t>
            </a:r>
            <a:endParaRPr lang="en-US" sz="900" dirty="0"/>
          </a:p>
        </p:txBody>
      </p:sp>
      <p:sp>
        <p:nvSpPr>
          <p:cNvPr id="66" name="Text 56"/>
          <p:cNvSpPr txBox="1"/>
          <p:nvPr/>
        </p:nvSpPr>
        <p:spPr>
          <a:xfrm>
            <a:off x="9124798" y="2760574"/>
            <a:ext cx="131125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更新文档（如果需要）</a:t>
            </a:r>
            <a:endParaRPr lang="en-US" sz="900" dirty="0"/>
          </a:p>
        </p:txBody>
      </p:sp>
      <p:sp>
        <p:nvSpPr>
          <p:cNvPr id="67" name="Text 57"/>
          <p:cNvSpPr txBox="1"/>
          <p:nvPr/>
        </p:nvSpPr>
        <p:spPr>
          <a:xfrm>
            <a:off x="9525305" y="1676095"/>
            <a:ext cx="6291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STEP 4</a:t>
            </a:r>
            <a:endParaRPr lang="en-US" sz="1200" dirty="0"/>
          </a:p>
        </p:txBody>
      </p:sp>
      <p:sp>
        <p:nvSpPr>
          <p:cNvPr id="68" name="Text 58"/>
          <p:cNvSpPr txBox="1"/>
          <p:nvPr/>
        </p:nvSpPr>
        <p:spPr>
          <a:xfrm>
            <a:off x="9525305" y="1876349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实施验证</a:t>
            </a:r>
            <a:endParaRPr lang="en-US" sz="1200" dirty="0"/>
          </a:p>
        </p:txBody>
      </p:sp>
      <p:sp>
        <p:nvSpPr>
          <p:cNvPr id="69" name="Text 59"/>
          <p:cNvSpPr txBox="1"/>
          <p:nvPr/>
        </p:nvSpPr>
        <p:spPr>
          <a:xfrm>
            <a:off x="10496398" y="3035808"/>
            <a:ext cx="1038758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Time: 1min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4187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47549"/>
            <a:ext cx="309250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4.3 版本控制与实验管理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794760" y="91440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108399" y="91440"/>
            <a:ext cx="24103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科研场景下的代码管理与实验追踪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715975"/>
            <a:ext cx="5296205" cy="2714854"/>
          </a:xfrm>
          <a:prstGeom prst="roundRect">
            <a:avLst>
              <a:gd name="adj" fmla="val 9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" y="1297534"/>
            <a:ext cx="4895698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l="-1648" r="-1648"/>
          <a:stretch>
            <a:fillRect/>
          </a:stretch>
        </p:blipFill>
        <p:spPr>
          <a:xfrm>
            <a:off x="809244" y="963778"/>
            <a:ext cx="171907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81151" y="916229"/>
            <a:ext cx="2324405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Git工作流（科研适配版）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66851" y="1598371"/>
            <a:ext cx="38405" cy="1543507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</p:spPr>
      </p:sp>
      <p:sp>
        <p:nvSpPr>
          <p:cNvPr id="13" name="Shape 10"/>
          <p:cNvSpPr/>
          <p:nvPr/>
        </p:nvSpPr>
        <p:spPr>
          <a:xfrm>
            <a:off x="1037844" y="1503274"/>
            <a:ext cx="4667098" cy="409651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69518" y="1623060"/>
            <a:ext cx="4078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main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233672" y="1615745"/>
            <a:ext cx="1434694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稳定版（论文投稿代码）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37844" y="2078431"/>
            <a:ext cx="4667098" cy="409651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69518" y="2198218"/>
            <a:ext cx="3127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D28D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dev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842662" y="2190902"/>
            <a:ext cx="825703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日常开发分支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228954" y="2653589"/>
            <a:ext cx="4476902" cy="409651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59713" y="2773375"/>
            <a:ext cx="41788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exp/*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056278" y="2756002"/>
            <a:ext cx="77724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实验分支 (如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4733849" y="2794406"/>
            <a:ext cx="89154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exp/attention-v1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533034" y="2756002"/>
            <a:ext cx="139903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9905" y="3619195"/>
            <a:ext cx="5296205" cy="2980944"/>
          </a:xfrm>
          <a:prstGeom prst="roundRect">
            <a:avLst>
              <a:gd name="adj" fmla="val 78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9244" y="4200754"/>
            <a:ext cx="4895698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9244" y="3866998"/>
            <a:ext cx="237744" cy="19019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047902" y="3819449"/>
            <a:ext cx="2343607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AI辅助 Commit Message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809244" y="4329684"/>
            <a:ext cx="4895698" cy="847649"/>
          </a:xfrm>
          <a:prstGeom prst="roundRect">
            <a:avLst>
              <a:gd name="adj" fmla="val 727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33602" y="4644238"/>
            <a:ext cx="314553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40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"我修改了注意力模块并修复了内存泄漏，请生成符合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3973068" y="4681728"/>
            <a:ext cx="130759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40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Conventional Commits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933602" y="4644238"/>
            <a:ext cx="4736592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40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规范的提交信息。"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809244" y="5328209"/>
            <a:ext cx="4895698" cy="1067105"/>
          </a:xfrm>
          <a:prstGeom prst="roundRect">
            <a:avLst>
              <a:gd name="adj" fmla="val 4591"/>
            </a:avLst>
          </a:prstGeom>
          <a:solidFill>
            <a:srgbClr val="1E293B"/>
          </a:solidFill>
        </p:spPr>
      </p:sp>
      <p:sp>
        <p:nvSpPr>
          <p:cNvPr id="33" name="Shape 29"/>
          <p:cNvSpPr/>
          <p:nvPr/>
        </p:nvSpPr>
        <p:spPr>
          <a:xfrm>
            <a:off x="809244" y="5328209"/>
            <a:ext cx="38405" cy="1067105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4" name="Text 30"/>
          <p:cNvSpPr txBox="1"/>
          <p:nvPr/>
        </p:nvSpPr>
        <p:spPr>
          <a:xfrm>
            <a:off x="977494" y="5476342"/>
            <a:ext cx="236829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feat(model): add hierarchical attention module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977494" y="5697626"/>
            <a:ext cx="21680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fix(data): resolve data loader memory leak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977494" y="5917997"/>
            <a:ext cx="205374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- Implement HierarchicalAttention class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977494" y="6101791"/>
            <a:ext cx="187269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- Add garbage collection after epoch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286500" y="715975"/>
            <a:ext cx="5296205" cy="5886907"/>
          </a:xfrm>
          <a:prstGeom prst="roundRect">
            <a:avLst>
              <a:gd name="adj" fmla="val 2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486754" y="1297534"/>
            <a:ext cx="4895698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86754" y="963778"/>
            <a:ext cx="190195" cy="190195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6676949" y="916229"/>
            <a:ext cx="1410005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实验追踪系统 (</a:t>
            </a:r>
            <a:endParaRPr lang="en-US" sz="1500" dirty="0"/>
          </a:p>
        </p:txBody>
      </p:sp>
      <p:sp>
        <p:nvSpPr>
          <p:cNvPr id="42" name="Text 37"/>
          <p:cNvSpPr txBox="1"/>
          <p:nvPr/>
        </p:nvSpPr>
        <p:spPr>
          <a:xfrm>
            <a:off x="7935163" y="954634"/>
            <a:ext cx="156271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Weights &amp; Biases</a:t>
            </a:r>
            <a:endParaRPr lang="en-US" sz="1500" dirty="0"/>
          </a:p>
        </p:txBody>
      </p:sp>
      <p:sp>
        <p:nvSpPr>
          <p:cNvPr id="43" name="Text 38"/>
          <p:cNvSpPr txBox="1"/>
          <p:nvPr/>
        </p:nvSpPr>
        <p:spPr>
          <a:xfrm>
            <a:off x="9353398" y="916229"/>
            <a:ext cx="219456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1500" dirty="0"/>
          </a:p>
        </p:txBody>
      </p:sp>
      <p:sp>
        <p:nvSpPr>
          <p:cNvPr id="44" name="Text 39"/>
          <p:cNvSpPr txBox="1"/>
          <p:nvPr/>
        </p:nvSpPr>
        <p:spPr>
          <a:xfrm>
            <a:off x="6486754" y="1474013"/>
            <a:ext cx="4948733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不再依赖Excel记录实验结果，使用专业工具自动追踪超参数与指标，实现实验的可复现与可视化对比。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6486754" y="1974190"/>
            <a:ext cx="4895698" cy="780898"/>
          </a:xfrm>
          <a:prstGeom prst="roundRect">
            <a:avLst>
              <a:gd name="adj" fmla="val 856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10198" y="2134210"/>
            <a:ext cx="133502" cy="133502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6819595" y="2098548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AI集成指令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6610198" y="2317090"/>
            <a:ext cx="4734763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"@wandb_init.py 请在训练脚本中添加W&amp;B记录代码，自动记录超参数（lr, batch_size）和训练曲线（loss, accuracy）。"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6486754" y="2946197"/>
            <a:ext cx="4895698" cy="1657807"/>
          </a:xfrm>
          <a:prstGeom prst="roundRect">
            <a:avLst>
              <a:gd name="adj" fmla="val 1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25742" y="3120847"/>
            <a:ext cx="133502" cy="133502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6835140" y="3085186"/>
            <a:ext cx="93177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自动记录维度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6625742" y="3382366"/>
            <a:ext cx="2276856" cy="504749"/>
          </a:xfrm>
          <a:prstGeom prst="roundRect">
            <a:avLst>
              <a:gd name="adj" fmla="val 13672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6711696" y="3486607"/>
            <a:ext cx="1195121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2400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HYPERPARAMETERS</a:t>
            </a:r>
            <a:endParaRPr lang="en-US" sz="800" dirty="0"/>
          </a:p>
        </p:txBody>
      </p:sp>
      <p:sp>
        <p:nvSpPr>
          <p:cNvPr id="54" name="Text 47"/>
          <p:cNvSpPr txBox="1"/>
          <p:nvPr/>
        </p:nvSpPr>
        <p:spPr>
          <a:xfrm>
            <a:off x="6711696" y="3646627"/>
            <a:ext cx="12573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4530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lr, batch_size, optimizer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8973007" y="3382366"/>
            <a:ext cx="2276856" cy="504749"/>
          </a:xfrm>
          <a:prstGeom prst="roundRect">
            <a:avLst>
              <a:gd name="adj" fmla="val 13672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9058046" y="3486607"/>
            <a:ext cx="880567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2400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SYSTEM SPECS</a:t>
            </a:r>
            <a:endParaRPr lang="en-US" sz="800" dirty="0"/>
          </a:p>
        </p:txBody>
      </p:sp>
      <p:sp>
        <p:nvSpPr>
          <p:cNvPr id="57" name="Text 50"/>
          <p:cNvSpPr txBox="1"/>
          <p:nvPr/>
        </p:nvSpPr>
        <p:spPr>
          <a:xfrm>
            <a:off x="9058046" y="3646627"/>
            <a:ext cx="15526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4530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GPU usage, RAM, Python ver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6625742" y="3961181"/>
            <a:ext cx="2276856" cy="504749"/>
          </a:xfrm>
          <a:prstGeom prst="roundRect">
            <a:avLst>
              <a:gd name="adj" fmla="val 13672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6711696" y="4066337"/>
            <a:ext cx="58521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2400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METRICS</a:t>
            </a:r>
            <a:endParaRPr lang="en-US" sz="800" dirty="0"/>
          </a:p>
        </p:txBody>
      </p:sp>
      <p:sp>
        <p:nvSpPr>
          <p:cNvPr id="60" name="Text 53"/>
          <p:cNvSpPr txBox="1"/>
          <p:nvPr/>
        </p:nvSpPr>
        <p:spPr>
          <a:xfrm>
            <a:off x="6711696" y="4226357"/>
            <a:ext cx="14959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4530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Train/Val Loss, Accuracy, F1</a:t>
            </a:r>
            <a:endParaRPr lang="en-US" sz="900" dirty="0"/>
          </a:p>
        </p:txBody>
      </p:sp>
      <p:sp>
        <p:nvSpPr>
          <p:cNvPr id="61" name="Shape 54"/>
          <p:cNvSpPr/>
          <p:nvPr/>
        </p:nvSpPr>
        <p:spPr>
          <a:xfrm>
            <a:off x="8973007" y="3961181"/>
            <a:ext cx="2276856" cy="504749"/>
          </a:xfrm>
          <a:prstGeom prst="roundRect">
            <a:avLst>
              <a:gd name="adj" fmla="val 13672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9058046" y="4066337"/>
            <a:ext cx="690372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2400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ARTIFACTS</a:t>
            </a:r>
            <a:endParaRPr lang="en-US" sz="800" dirty="0"/>
          </a:p>
        </p:txBody>
      </p:sp>
      <p:sp>
        <p:nvSpPr>
          <p:cNvPr id="63" name="Text 56"/>
          <p:cNvSpPr txBox="1"/>
          <p:nvPr/>
        </p:nvSpPr>
        <p:spPr>
          <a:xfrm>
            <a:off x="9058046" y="4226357"/>
            <a:ext cx="13432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4530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Best Model (.pt), Log files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6486754" y="4717390"/>
            <a:ext cx="4895698" cy="1429207"/>
          </a:xfrm>
          <a:prstGeom prst="roundRect">
            <a:avLst>
              <a:gd name="adj" fmla="val 1706"/>
            </a:avLst>
          </a:prstGeom>
          <a:solidFill>
            <a:srgbClr val="F1F5F9"/>
          </a:solidFill>
        </p:spPr>
      </p:sp>
      <p:sp>
        <p:nvSpPr>
          <p:cNvPr id="65" name="Shape 58"/>
          <p:cNvSpPr/>
          <p:nvPr/>
        </p:nvSpPr>
        <p:spPr>
          <a:xfrm>
            <a:off x="6486754" y="4717390"/>
            <a:ext cx="28346" cy="1429207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66" name="Text 59"/>
          <p:cNvSpPr txBox="1"/>
          <p:nvPr/>
        </p:nvSpPr>
        <p:spPr>
          <a:xfrm>
            <a:off x="6629400" y="4850892"/>
            <a:ext cx="7242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import wandb</a:t>
            </a:r>
            <a:endParaRPr lang="en-US" sz="900" dirty="0"/>
          </a:p>
        </p:txBody>
      </p:sp>
      <p:sp>
        <p:nvSpPr>
          <p:cNvPr id="67" name="Text 60"/>
          <p:cNvSpPr txBox="1"/>
          <p:nvPr/>
        </p:nvSpPr>
        <p:spPr>
          <a:xfrm>
            <a:off x="6629400" y="5021885"/>
            <a:ext cx="23052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wandb.init(project="urban-flow-pred", config={</a:t>
            </a:r>
            <a:endParaRPr lang="en-US" sz="900" dirty="0"/>
          </a:p>
        </p:txBody>
      </p:sp>
      <p:sp>
        <p:nvSpPr>
          <p:cNvPr id="68" name="Text 61"/>
          <p:cNvSpPr txBox="1"/>
          <p:nvPr/>
        </p:nvSpPr>
        <p:spPr>
          <a:xfrm>
            <a:off x="6629400" y="5193792"/>
            <a:ext cx="11338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"learning_rate": 0.001,</a:t>
            </a:r>
            <a:endParaRPr lang="en-US" sz="900" dirty="0"/>
          </a:p>
        </p:txBody>
      </p:sp>
      <p:sp>
        <p:nvSpPr>
          <p:cNvPr id="69" name="Text 62"/>
          <p:cNvSpPr txBox="1"/>
          <p:nvPr/>
        </p:nvSpPr>
        <p:spPr>
          <a:xfrm>
            <a:off x="6629400" y="5364785"/>
            <a:ext cx="13624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"architecture": "ResNet-50"</a:t>
            </a:r>
            <a:endParaRPr lang="en-US" sz="900" dirty="0"/>
          </a:p>
        </p:txBody>
      </p:sp>
      <p:sp>
        <p:nvSpPr>
          <p:cNvPr id="70" name="Text 63"/>
          <p:cNvSpPr txBox="1"/>
          <p:nvPr/>
        </p:nvSpPr>
        <p:spPr>
          <a:xfrm>
            <a:off x="6629400" y="5536692"/>
            <a:ext cx="1810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})</a:t>
            </a:r>
            <a:endParaRPr lang="en-US" sz="900" dirty="0"/>
          </a:p>
        </p:txBody>
      </p:sp>
      <p:sp>
        <p:nvSpPr>
          <p:cNvPr id="71" name="Text 64"/>
          <p:cNvSpPr txBox="1"/>
          <p:nvPr/>
        </p:nvSpPr>
        <p:spPr>
          <a:xfrm>
            <a:off x="6629400" y="5707685"/>
            <a:ext cx="12957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# ... inside training loop ...</a:t>
            </a:r>
            <a:endParaRPr lang="en-US" sz="900" dirty="0"/>
          </a:p>
        </p:txBody>
      </p:sp>
      <p:sp>
        <p:nvSpPr>
          <p:cNvPr id="72" name="Text 65"/>
          <p:cNvSpPr txBox="1"/>
          <p:nvPr/>
        </p:nvSpPr>
        <p:spPr>
          <a:xfrm>
            <a:off x="6629400" y="5879592"/>
            <a:ext cx="20391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wandb.log({"loss": loss, "accuracy": acc})</a:t>
            </a:r>
            <a:endParaRPr lang="en-US" sz="900" dirty="0"/>
          </a:p>
        </p:txBody>
      </p:sp>
      <p:sp>
        <p:nvSpPr>
          <p:cNvPr id="73" name="Shape 6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Shape 67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75" name="Text 68"/>
          <p:cNvSpPr txBox="1"/>
          <p:nvPr/>
        </p:nvSpPr>
        <p:spPr>
          <a:xfrm>
            <a:off x="609905" y="6538874"/>
            <a:ext cx="15581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AI驱动科研编程实战指南</a:t>
            </a:r>
            <a:endParaRPr lang="en-US" sz="1000" dirty="0"/>
          </a:p>
        </p:txBody>
      </p:sp>
      <p:sp>
        <p:nvSpPr>
          <p:cNvPr id="76" name="Text 69"/>
          <p:cNvSpPr txBox="1"/>
          <p:nvPr/>
        </p:nvSpPr>
        <p:spPr>
          <a:xfrm>
            <a:off x="11449202" y="6558077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21</a:t>
            </a:r>
            <a:endParaRPr lang="en-US" sz="1000" dirty="0"/>
          </a:p>
        </p:txBody>
      </p:sp>
      <p:sp>
        <p:nvSpPr>
          <p:cNvPr id="77" name="Shape 70"/>
          <p:cNvSpPr/>
          <p:nvPr/>
        </p:nvSpPr>
        <p:spPr>
          <a:xfrm>
            <a:off x="779069" y="1630375"/>
            <a:ext cx="152705" cy="152705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CBD5E1">
                <a:alpha val="100000"/>
              </a:srgbClr>
            </a:outerShdw>
          </a:effectLst>
        </p:spPr>
      </p:sp>
      <p:sp>
        <p:nvSpPr>
          <p:cNvPr id="78" name="Shape 71"/>
          <p:cNvSpPr/>
          <p:nvPr/>
        </p:nvSpPr>
        <p:spPr>
          <a:xfrm>
            <a:off x="779069" y="2205533"/>
            <a:ext cx="152705" cy="152705"/>
          </a:xfrm>
          <a:prstGeom prst="ellipse">
            <a:avLst/>
          </a:prstGeom>
          <a:solidFill>
            <a:srgbClr val="8B5CF6"/>
          </a:solidFill>
          <a:ln w="381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CBD5E1">
                <a:alpha val="100000"/>
              </a:srgbClr>
            </a:outerShdw>
          </a:effectLst>
        </p:spPr>
      </p:sp>
      <p:sp>
        <p:nvSpPr>
          <p:cNvPr id="79" name="Shape 72"/>
          <p:cNvSpPr/>
          <p:nvPr/>
        </p:nvSpPr>
        <p:spPr>
          <a:xfrm>
            <a:off x="779069" y="2780690"/>
            <a:ext cx="152705" cy="152705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CBD5E1">
                <a:alpha val="100000"/>
              </a:srgbClr>
            </a:outerShdw>
          </a:effectLst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609905" y="184709"/>
            <a:ext cx="2606040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4.4 关键技巧速查表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309214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3623767" y="267005"/>
            <a:ext cx="2171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提升AI编程质量的6大实战锦囊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990295"/>
            <a:ext cx="3534156" cy="2428646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446581"/>
            <a:ext cx="3209544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" name="Shape 8"/>
          <p:cNvSpPr/>
          <p:nvPr/>
        </p:nvSpPr>
        <p:spPr>
          <a:xfrm>
            <a:off x="771754" y="1127455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3B82F6"/>
          </a:solidFill>
        </p:spPr>
      </p:sp>
      <p:sp>
        <p:nvSpPr>
          <p:cNvPr id="11" name="Text 9"/>
          <p:cNvSpPr txBox="1"/>
          <p:nvPr/>
        </p:nvSpPr>
        <p:spPr>
          <a:xfrm>
            <a:off x="853135" y="1144829"/>
            <a:ext cx="16459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14654" y="1121969"/>
            <a:ext cx="768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分步描述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45052" y="1175004"/>
            <a:ext cx="133502" cy="133502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1754" y="1524305"/>
            <a:ext cx="123444" cy="1234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95198" y="1514246"/>
            <a:ext cx="3129991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将复杂任务拆解为逻辑链条，避免AI"一口气吃成胖子"。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71754" y="1771193"/>
            <a:ext cx="3209544" cy="694944"/>
          </a:xfrm>
          <a:prstGeom prst="roundRect">
            <a:avLst>
              <a:gd name="adj" fmla="val 10815"/>
            </a:avLst>
          </a:prstGeom>
          <a:solidFill>
            <a:srgbClr val="EFF6FF"/>
          </a:solidFill>
        </p:spPr>
      </p:sp>
      <p:sp>
        <p:nvSpPr>
          <p:cNvPr id="17" name="Shape 13"/>
          <p:cNvSpPr/>
          <p:nvPr/>
        </p:nvSpPr>
        <p:spPr>
          <a:xfrm>
            <a:off x="771754" y="1771193"/>
            <a:ext cx="28346" cy="69494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8" name="Text 14"/>
          <p:cNvSpPr txBox="1"/>
          <p:nvPr/>
        </p:nvSpPr>
        <p:spPr>
          <a:xfrm>
            <a:off x="891540" y="1880921"/>
            <a:ext cx="800100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BAD VS GOOD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891540" y="2050999"/>
            <a:ext cx="98755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❌ "做数据分析"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891540" y="2215591"/>
            <a:ext cx="256855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✅ "Step 1: Read CSV; Step 2: Stats; Step 3: Plot"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330598" y="990295"/>
            <a:ext cx="3534156" cy="2428646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492447" y="1446581"/>
            <a:ext cx="3209544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Shape 19"/>
          <p:cNvSpPr/>
          <p:nvPr/>
        </p:nvSpPr>
        <p:spPr>
          <a:xfrm>
            <a:off x="4492447" y="1127455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10B981"/>
          </a:solidFill>
        </p:spPr>
      </p:sp>
      <p:sp>
        <p:nvSpPr>
          <p:cNvPr id="24" name="Text 20"/>
          <p:cNvSpPr txBox="1"/>
          <p:nvPr/>
        </p:nvSpPr>
        <p:spPr>
          <a:xfrm>
            <a:off x="4574743" y="1144829"/>
            <a:ext cx="16459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4835347" y="1121969"/>
            <a:ext cx="16440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提供示例 (Few-shot)</a:t>
            </a:r>
            <a:endParaRPr lang="en-US" sz="12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rcRect l="-2512" r="-2512"/>
          <a:stretch>
            <a:fillRect/>
          </a:stretch>
        </p:blipFill>
        <p:spPr>
          <a:xfrm>
            <a:off x="7595006" y="1175004"/>
            <a:ext cx="105156" cy="133502"/>
          </a:xfrm>
          <a:prstGeom prst="rect">
            <a:avLst/>
          </a:prstGeom>
        </p:spPr>
      </p:pic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92447" y="1524305"/>
            <a:ext cx="123444" cy="12344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616806" y="1514246"/>
            <a:ext cx="3006547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给出输入输出的具体样例，让AI通过模仿来理解格式。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492447" y="1771193"/>
            <a:ext cx="3209544" cy="694944"/>
          </a:xfrm>
          <a:prstGeom prst="roundRect">
            <a:avLst>
              <a:gd name="adj" fmla="val 10815"/>
            </a:avLst>
          </a:prstGeom>
          <a:solidFill>
            <a:srgbClr val="ECFDF5"/>
          </a:solidFill>
        </p:spPr>
      </p:sp>
      <p:sp>
        <p:nvSpPr>
          <p:cNvPr id="30" name="Shape 24"/>
          <p:cNvSpPr/>
          <p:nvPr/>
        </p:nvSpPr>
        <p:spPr>
          <a:xfrm>
            <a:off x="4492447" y="1771193"/>
            <a:ext cx="28346" cy="69494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1" name="Text 25"/>
          <p:cNvSpPr txBox="1"/>
          <p:nvPr/>
        </p:nvSpPr>
        <p:spPr>
          <a:xfrm>
            <a:off x="4612234" y="1880921"/>
            <a:ext cx="1038758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 EXAMPLE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4612234" y="2050999"/>
            <a:ext cx="167335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Input: {'name': 'BJ', 'pop': 2154}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4612234" y="2215591"/>
            <a:ext cx="164409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Output: '北京人口：2154万人'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52206" y="990295"/>
            <a:ext cx="3534156" cy="2428646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214055" y="1446581"/>
            <a:ext cx="3209544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Shape 30"/>
          <p:cNvSpPr/>
          <p:nvPr/>
        </p:nvSpPr>
        <p:spPr>
          <a:xfrm>
            <a:off x="8214055" y="1127455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8B5CF6"/>
          </a:solidFill>
        </p:spPr>
      </p:sp>
      <p:sp>
        <p:nvSpPr>
          <p:cNvPr id="37" name="Text 31"/>
          <p:cNvSpPr txBox="1"/>
          <p:nvPr/>
        </p:nvSpPr>
        <p:spPr>
          <a:xfrm>
            <a:off x="8295437" y="1144829"/>
            <a:ext cx="16459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8556955" y="1121969"/>
            <a:ext cx="768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角色设定</a:t>
            </a:r>
            <a:endParaRPr lang="en-US" sz="12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4"/>
          <a:srcRect l="-2838" r="-2838"/>
          <a:stretch>
            <a:fillRect/>
          </a:stretch>
        </p:blipFill>
        <p:spPr>
          <a:xfrm>
            <a:off x="11296498" y="1175004"/>
            <a:ext cx="123444" cy="133502"/>
          </a:xfrm>
          <a:prstGeom prst="rect">
            <a:avLst/>
          </a:prstGeom>
        </p:spPr>
      </p:pic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214055" y="1524305"/>
            <a:ext cx="123444" cy="123444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337499" y="1514246"/>
            <a:ext cx="2654503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指定专家身份，激活模型特定领域的知识权重。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8214055" y="1771193"/>
            <a:ext cx="3209544" cy="694944"/>
          </a:xfrm>
          <a:prstGeom prst="roundRect">
            <a:avLst>
              <a:gd name="adj" fmla="val 10815"/>
            </a:avLst>
          </a:prstGeom>
          <a:solidFill>
            <a:srgbClr val="F5F3FF"/>
          </a:solidFill>
        </p:spPr>
      </p:sp>
      <p:sp>
        <p:nvSpPr>
          <p:cNvPr id="43" name="Shape 35"/>
          <p:cNvSpPr/>
          <p:nvPr/>
        </p:nvSpPr>
        <p:spPr>
          <a:xfrm>
            <a:off x="8214055" y="1771193"/>
            <a:ext cx="28346" cy="694944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44" name="Text 36"/>
          <p:cNvSpPr txBox="1"/>
          <p:nvPr/>
        </p:nvSpPr>
        <p:spPr>
          <a:xfrm>
            <a:off x="8333842" y="1880921"/>
            <a:ext cx="1038758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 EXAMPLE</a:t>
            </a:r>
            <a:endParaRPr lang="en-US" sz="800" dirty="0"/>
          </a:p>
        </p:txBody>
      </p:sp>
      <p:sp>
        <p:nvSpPr>
          <p:cNvPr id="45" name="Text 37"/>
          <p:cNvSpPr txBox="1"/>
          <p:nvPr/>
        </p:nvSpPr>
        <p:spPr>
          <a:xfrm>
            <a:off x="8333842" y="2050999"/>
            <a:ext cx="2758745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"You are a GIS expert, proficient in GeoPandas spatial indexing..."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09905" y="3604565"/>
            <a:ext cx="3534156" cy="2428646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771754" y="4059936"/>
            <a:ext cx="3209544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Shape 40"/>
          <p:cNvSpPr/>
          <p:nvPr/>
        </p:nvSpPr>
        <p:spPr>
          <a:xfrm>
            <a:off x="771754" y="3741725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F59E0B"/>
          </a:solidFill>
        </p:spPr>
      </p:sp>
      <p:sp>
        <p:nvSpPr>
          <p:cNvPr id="49" name="Text 41"/>
          <p:cNvSpPr txBox="1"/>
          <p:nvPr/>
        </p:nvSpPr>
        <p:spPr>
          <a:xfrm>
            <a:off x="853135" y="3758184"/>
            <a:ext cx="16459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1114654" y="3735324"/>
            <a:ext cx="768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明确约束</a:t>
            </a:r>
            <a:endParaRPr lang="en-US" sz="1200" dirty="0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845052" y="3789274"/>
            <a:ext cx="133502" cy="133502"/>
          </a:xfrm>
          <a:prstGeom prst="rect">
            <a:avLst/>
          </a:prstGeom>
        </p:spPr>
      </p:pic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1754" y="4137660"/>
            <a:ext cx="123444" cy="123444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895198" y="4128516"/>
            <a:ext cx="2521001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设定边界条件，防止AI自由发挥导致不可控。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771754" y="4384548"/>
            <a:ext cx="3209544" cy="533095"/>
          </a:xfrm>
          <a:prstGeom prst="roundRect">
            <a:avLst>
              <a:gd name="adj" fmla="val 18378"/>
            </a:avLst>
          </a:prstGeom>
          <a:solidFill>
            <a:srgbClr val="FFFBEB"/>
          </a:solidFill>
        </p:spPr>
      </p:sp>
      <p:sp>
        <p:nvSpPr>
          <p:cNvPr id="55" name="Shape 45"/>
          <p:cNvSpPr/>
          <p:nvPr/>
        </p:nvSpPr>
        <p:spPr>
          <a:xfrm>
            <a:off x="771754" y="4384548"/>
            <a:ext cx="28346" cy="533095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6" name="Text 46"/>
          <p:cNvSpPr txBox="1"/>
          <p:nvPr/>
        </p:nvSpPr>
        <p:spPr>
          <a:xfrm>
            <a:off x="891540" y="4495190"/>
            <a:ext cx="1038758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 EXAMPLE</a:t>
            </a:r>
            <a:endParaRPr lang="en-US" sz="800" dirty="0"/>
          </a:p>
        </p:txBody>
      </p:sp>
      <p:sp>
        <p:nvSpPr>
          <p:cNvPr id="57" name="Text 47"/>
          <p:cNvSpPr txBox="1"/>
          <p:nvPr/>
        </p:nvSpPr>
        <p:spPr>
          <a:xfrm>
            <a:off x="891540" y="4664354"/>
            <a:ext cx="28831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"Use matplotlib only, no seaborn; processing time &lt; 10s"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4330598" y="3604565"/>
            <a:ext cx="3534156" cy="2428646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59" name="Shape 49"/>
          <p:cNvSpPr/>
          <p:nvPr/>
        </p:nvSpPr>
        <p:spPr>
          <a:xfrm>
            <a:off x="4492447" y="4059936"/>
            <a:ext cx="3209544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Shape 50"/>
          <p:cNvSpPr/>
          <p:nvPr/>
        </p:nvSpPr>
        <p:spPr>
          <a:xfrm>
            <a:off x="4492447" y="3741725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EC4899"/>
          </a:solidFill>
        </p:spPr>
      </p:sp>
      <p:sp>
        <p:nvSpPr>
          <p:cNvPr id="61" name="Text 51"/>
          <p:cNvSpPr txBox="1"/>
          <p:nvPr/>
        </p:nvSpPr>
        <p:spPr>
          <a:xfrm>
            <a:off x="4574743" y="3758184"/>
            <a:ext cx="16459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5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4835347" y="3735324"/>
            <a:ext cx="7680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迭代优化</a:t>
            </a:r>
            <a:endParaRPr lang="en-US" sz="1200" dirty="0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565746" y="3789274"/>
            <a:ext cx="133502" cy="133502"/>
          </a:xfrm>
          <a:prstGeom prst="rect">
            <a:avLst/>
          </a:prstGeom>
        </p:spPr>
      </p:pic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92447" y="4137660"/>
            <a:ext cx="123444" cy="123444"/>
          </a:xfrm>
          <a:prstGeom prst="rect">
            <a:avLst/>
          </a:prstGeom>
        </p:spPr>
      </p:pic>
      <p:sp>
        <p:nvSpPr>
          <p:cNvPr id="65" name="Text 53"/>
          <p:cNvSpPr txBox="1"/>
          <p:nvPr/>
        </p:nvSpPr>
        <p:spPr>
          <a:xfrm>
            <a:off x="4616806" y="4128516"/>
            <a:ext cx="241584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不要追求一次完美，分轮次逐步完善代码。</a:t>
            </a:r>
            <a:endParaRPr lang="en-US" sz="900" dirty="0"/>
          </a:p>
        </p:txBody>
      </p:sp>
      <p:sp>
        <p:nvSpPr>
          <p:cNvPr id="66" name="Shape 54"/>
          <p:cNvSpPr/>
          <p:nvPr/>
        </p:nvSpPr>
        <p:spPr>
          <a:xfrm>
            <a:off x="4492447" y="4384548"/>
            <a:ext cx="3209544" cy="694944"/>
          </a:xfrm>
          <a:prstGeom prst="roundRect">
            <a:avLst>
              <a:gd name="adj" fmla="val 10815"/>
            </a:avLst>
          </a:prstGeom>
          <a:solidFill>
            <a:srgbClr val="FDF2F8"/>
          </a:solidFill>
        </p:spPr>
      </p:sp>
      <p:sp>
        <p:nvSpPr>
          <p:cNvPr id="67" name="Shape 55"/>
          <p:cNvSpPr/>
          <p:nvPr/>
        </p:nvSpPr>
        <p:spPr>
          <a:xfrm>
            <a:off x="4492447" y="4384548"/>
            <a:ext cx="28346" cy="694944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68" name="Text 56"/>
          <p:cNvSpPr txBox="1"/>
          <p:nvPr/>
        </p:nvSpPr>
        <p:spPr>
          <a:xfrm>
            <a:off x="4612234" y="4495190"/>
            <a:ext cx="705002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WORKFLOW</a:t>
            </a:r>
            <a:endParaRPr lang="en-US" sz="800" dirty="0"/>
          </a:p>
        </p:txBody>
      </p:sp>
      <p:sp>
        <p:nvSpPr>
          <p:cNvPr id="69" name="Text 57"/>
          <p:cNvSpPr txBox="1"/>
          <p:nvPr/>
        </p:nvSpPr>
        <p:spPr>
          <a:xfrm>
            <a:off x="4612234" y="4664354"/>
            <a:ext cx="291145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R1: Basic Function → R2: Error Handling → R3: Perf → R4: Docs</a:t>
            </a:r>
            <a:endParaRPr lang="en-US" sz="900" dirty="0"/>
          </a:p>
        </p:txBody>
      </p:sp>
      <p:sp>
        <p:nvSpPr>
          <p:cNvPr id="70" name="Shape 58"/>
          <p:cNvSpPr/>
          <p:nvPr/>
        </p:nvSpPr>
        <p:spPr>
          <a:xfrm>
            <a:off x="8052206" y="3604565"/>
            <a:ext cx="3534156" cy="2428646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71" name="Shape 59"/>
          <p:cNvSpPr/>
          <p:nvPr/>
        </p:nvSpPr>
        <p:spPr>
          <a:xfrm>
            <a:off x="8214055" y="4059936"/>
            <a:ext cx="3209544" cy="9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Shape 60"/>
          <p:cNvSpPr/>
          <p:nvPr/>
        </p:nvSpPr>
        <p:spPr>
          <a:xfrm>
            <a:off x="8214055" y="3741725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6366F1"/>
          </a:solidFill>
        </p:spPr>
      </p:sp>
      <p:sp>
        <p:nvSpPr>
          <p:cNvPr id="73" name="Text 61"/>
          <p:cNvSpPr txBox="1"/>
          <p:nvPr/>
        </p:nvSpPr>
        <p:spPr>
          <a:xfrm>
            <a:off x="8295437" y="3758184"/>
            <a:ext cx="16459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6</a:t>
            </a:r>
            <a:endParaRPr lang="en-US" sz="1000" dirty="0"/>
          </a:p>
        </p:txBody>
      </p:sp>
      <p:sp>
        <p:nvSpPr>
          <p:cNvPr id="74" name="Text 62"/>
          <p:cNvSpPr txBox="1"/>
          <p:nvPr/>
        </p:nvSpPr>
        <p:spPr>
          <a:xfrm>
            <a:off x="8556955" y="3735324"/>
            <a:ext cx="92080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AI自我审查</a:t>
            </a:r>
            <a:endParaRPr lang="en-US" sz="1200" dirty="0"/>
          </a:p>
        </p:txBody>
      </p:sp>
      <p:pic>
        <p:nvPicPr>
          <p:cNvPr id="75" name="Image 10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287354" y="3789274"/>
            <a:ext cx="133502" cy="133502"/>
          </a:xfrm>
          <a:prstGeom prst="rect">
            <a:avLst/>
          </a:prstGeom>
        </p:spPr>
      </p:pic>
      <p:pic>
        <p:nvPicPr>
          <p:cNvPr id="76" name="Image 1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214055" y="4137660"/>
            <a:ext cx="123444" cy="123444"/>
          </a:xfrm>
          <a:prstGeom prst="rect">
            <a:avLst/>
          </a:prstGeom>
        </p:spPr>
      </p:pic>
      <p:sp>
        <p:nvSpPr>
          <p:cNvPr id="77" name="Text 63"/>
          <p:cNvSpPr txBox="1"/>
          <p:nvPr/>
        </p:nvSpPr>
        <p:spPr>
          <a:xfrm>
            <a:off x="8337499" y="4128516"/>
            <a:ext cx="2501798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利用AI的反思能力，在运行前发现潜在Bug。</a:t>
            </a:r>
            <a:endParaRPr lang="en-US" sz="900" dirty="0"/>
          </a:p>
        </p:txBody>
      </p:sp>
      <p:sp>
        <p:nvSpPr>
          <p:cNvPr id="78" name="Shape 64"/>
          <p:cNvSpPr/>
          <p:nvPr/>
        </p:nvSpPr>
        <p:spPr>
          <a:xfrm>
            <a:off x="8214055" y="4384548"/>
            <a:ext cx="3209544" cy="694944"/>
          </a:xfrm>
          <a:prstGeom prst="roundRect">
            <a:avLst>
              <a:gd name="adj" fmla="val 10815"/>
            </a:avLst>
          </a:prstGeom>
          <a:solidFill>
            <a:srgbClr val="E0E7FF"/>
          </a:solidFill>
        </p:spPr>
      </p:sp>
      <p:sp>
        <p:nvSpPr>
          <p:cNvPr id="79" name="Shape 65"/>
          <p:cNvSpPr/>
          <p:nvPr/>
        </p:nvSpPr>
        <p:spPr>
          <a:xfrm>
            <a:off x="8214055" y="4384548"/>
            <a:ext cx="28346" cy="694944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80" name="Text 66"/>
          <p:cNvSpPr txBox="1"/>
          <p:nvPr/>
        </p:nvSpPr>
        <p:spPr>
          <a:xfrm>
            <a:off x="8333842" y="4495190"/>
            <a:ext cx="1038758" cy="1051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 EXAMPLE</a:t>
            </a:r>
            <a:endParaRPr lang="en-US" sz="800" dirty="0"/>
          </a:p>
        </p:txBody>
      </p:sp>
      <p:sp>
        <p:nvSpPr>
          <p:cNvPr id="81" name="Text 67"/>
          <p:cNvSpPr txBox="1"/>
          <p:nvPr/>
        </p:nvSpPr>
        <p:spPr>
          <a:xfrm>
            <a:off x="8333842" y="4664354"/>
            <a:ext cx="3054096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"Please review the code above for potential memory leaks &amp; edge cases."</a:t>
            </a:r>
            <a:endParaRPr lang="en-US" sz="900" dirty="0"/>
          </a:p>
        </p:txBody>
      </p:sp>
      <p:sp>
        <p:nvSpPr>
          <p:cNvPr id="82" name="Shape 68"/>
          <p:cNvSpPr/>
          <p:nvPr/>
        </p:nvSpPr>
        <p:spPr>
          <a:xfrm>
            <a:off x="609905" y="6179515"/>
            <a:ext cx="10972800" cy="4572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</p:spPr>
      </p:sp>
      <p:pic>
        <p:nvPicPr>
          <p:cNvPr id="83" name="Image 12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38505" y="6337706"/>
            <a:ext cx="133502" cy="133502"/>
          </a:xfrm>
          <a:prstGeom prst="rect">
            <a:avLst/>
          </a:prstGeom>
        </p:spPr>
      </p:pic>
      <p:sp>
        <p:nvSpPr>
          <p:cNvPr id="84" name="Text 69"/>
          <p:cNvSpPr txBox="1"/>
          <p:nvPr/>
        </p:nvSpPr>
        <p:spPr>
          <a:xfrm>
            <a:off x="1047902" y="6302045"/>
            <a:ext cx="17510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建议打印此页作为案头清单</a:t>
            </a:r>
            <a:endParaRPr lang="en-US" sz="1000" dirty="0"/>
          </a:p>
        </p:txBody>
      </p:sp>
      <p:pic>
        <p:nvPicPr>
          <p:cNvPr id="85" name="Image 13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252106" y="6337706"/>
            <a:ext cx="133502" cy="133502"/>
          </a:xfrm>
          <a:prstGeom prst="rect">
            <a:avLst/>
          </a:prstGeom>
        </p:spPr>
      </p:pic>
      <p:sp>
        <p:nvSpPr>
          <p:cNvPr id="86" name="Text 70"/>
          <p:cNvSpPr txBox="1"/>
          <p:nvPr/>
        </p:nvSpPr>
        <p:spPr>
          <a:xfrm>
            <a:off x="7461504" y="6328562"/>
            <a:ext cx="399592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Follow these 6 tips to reduce 80% of invalid dialogue &amp; debugging time.</a:t>
            </a:r>
            <a:endParaRPr lang="en-US" sz="1000" dirty="0"/>
          </a:p>
        </p:txBody>
      </p:sp>
      <p:sp>
        <p:nvSpPr>
          <p:cNvPr id="87" name="Shape 7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8" name="Shape 72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89" name="Text 73"/>
          <p:cNvSpPr txBox="1"/>
          <p:nvPr/>
        </p:nvSpPr>
        <p:spPr>
          <a:xfrm>
            <a:off x="609905" y="6538874"/>
            <a:ext cx="15581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AI驱动科研编程实战指南</a:t>
            </a:r>
            <a:endParaRPr lang="en-US" sz="1000" dirty="0"/>
          </a:p>
        </p:txBody>
      </p:sp>
      <p:sp>
        <p:nvSpPr>
          <p:cNvPr id="90" name="Text 74"/>
          <p:cNvSpPr txBox="1"/>
          <p:nvPr/>
        </p:nvSpPr>
        <p:spPr>
          <a:xfrm>
            <a:off x="11449202" y="6558077"/>
            <a:ext cx="234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3"/>
          <p:cNvSpPr txBox="1"/>
          <p:nvPr/>
        </p:nvSpPr>
        <p:spPr>
          <a:xfrm>
            <a:off x="457200" y="223114"/>
            <a:ext cx="3263494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总结：认知 × 方法 × 工具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817620" y="267005"/>
            <a:ext cx="9144" cy="2286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7" name="Text 5"/>
          <p:cNvSpPr txBox="1"/>
          <p:nvPr/>
        </p:nvSpPr>
        <p:spPr>
          <a:xfrm>
            <a:off x="4132174" y="295351"/>
            <a:ext cx="18004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AI驱动科研编程核心回顾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90295"/>
            <a:ext cx="3638398" cy="4496105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" y="1000354"/>
            <a:ext cx="3619195" cy="476402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10" name="Shape 8"/>
          <p:cNvSpPr/>
          <p:nvPr/>
        </p:nvSpPr>
        <p:spPr>
          <a:xfrm>
            <a:off x="466344" y="1467612"/>
            <a:ext cx="3619195" cy="9144"/>
          </a:xfrm>
          <a:prstGeom prst="rect">
            <a:avLst/>
          </a:prstGeom>
          <a:solidFill>
            <a:srgbClr val="BFDBFE"/>
          </a:solidFill>
        </p:spPr>
      </p:sp>
      <p:sp>
        <p:nvSpPr>
          <p:cNvPr id="11" name="Shape 9"/>
          <p:cNvSpPr/>
          <p:nvPr/>
        </p:nvSpPr>
        <p:spPr>
          <a:xfrm>
            <a:off x="619049" y="108082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3B82F6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05002" y="1166774"/>
            <a:ext cx="133502" cy="1335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37844" y="1136599"/>
            <a:ext cx="11356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三大核心认知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19049" y="1628546"/>
            <a:ext cx="31345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范式革命：从“写代码”向“说需求”的本质转变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19049" y="1971446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模式选择：Vibe Coding 追求速度，规范驱动保障可靠性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19049" y="2542946"/>
            <a:ext cx="31720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工具观念：没有最强工具，只有最适合的组合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80306" y="990295"/>
            <a:ext cx="3638398" cy="4496105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89450" y="1000354"/>
            <a:ext cx="3619195" cy="476402"/>
          </a:xfrm>
          <a:prstGeom prst="rect">
            <a:avLst/>
          </a:prstGeom>
          <a:solidFill>
            <a:srgbClr val="ECFDF5"/>
          </a:solidFill>
        </p:spPr>
      </p:sp>
      <p:sp>
        <p:nvSpPr>
          <p:cNvPr id="19" name="Shape 16"/>
          <p:cNvSpPr/>
          <p:nvPr/>
        </p:nvSpPr>
        <p:spPr>
          <a:xfrm>
            <a:off x="4289450" y="1467612"/>
            <a:ext cx="3619195" cy="9144"/>
          </a:xfrm>
          <a:prstGeom prst="rect">
            <a:avLst/>
          </a:prstGeom>
          <a:solidFill>
            <a:srgbClr val="A7F3D0"/>
          </a:solidFill>
        </p:spPr>
      </p:sp>
      <p:sp>
        <p:nvSpPr>
          <p:cNvPr id="20" name="Shape 17"/>
          <p:cNvSpPr/>
          <p:nvPr/>
        </p:nvSpPr>
        <p:spPr>
          <a:xfrm>
            <a:off x="4442155" y="108082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10B981"/>
          </a:solidFill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rcRect l="-2838" r="-2838"/>
          <a:stretch>
            <a:fillRect/>
          </a:stretch>
        </p:blipFill>
        <p:spPr>
          <a:xfrm>
            <a:off x="4532681" y="1166774"/>
            <a:ext cx="123444" cy="13350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860950" y="1136599"/>
            <a:ext cx="11356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三大实战方法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4442155" y="1628546"/>
            <a:ext cx="29910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Prompt工程：5W1H 结构化框架与角色约束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442155" y="1971446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开发层级：Spec-First / Anchored / As-Source 三层境界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442155" y="2542946"/>
            <a:ext cx="31629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上下文：分层管理与精准引用 (@docs, @code)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102498" y="990295"/>
            <a:ext cx="3638398" cy="4496105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111642" y="1000354"/>
            <a:ext cx="3619195" cy="476402"/>
          </a:xfrm>
          <a:prstGeom prst="rect">
            <a:avLst/>
          </a:prstGeom>
          <a:solidFill>
            <a:srgbClr val="F5F3FF"/>
          </a:solidFill>
        </p:spPr>
      </p:sp>
      <p:sp>
        <p:nvSpPr>
          <p:cNvPr id="28" name="Shape 24"/>
          <p:cNvSpPr/>
          <p:nvPr/>
        </p:nvSpPr>
        <p:spPr>
          <a:xfrm>
            <a:off x="8111642" y="1467612"/>
            <a:ext cx="3619195" cy="9144"/>
          </a:xfrm>
          <a:prstGeom prst="rect">
            <a:avLst/>
          </a:prstGeom>
          <a:solidFill>
            <a:srgbClr val="DDD6FE"/>
          </a:solidFill>
        </p:spPr>
      </p:sp>
      <p:sp>
        <p:nvSpPr>
          <p:cNvPr id="29" name="Shape 25"/>
          <p:cNvSpPr/>
          <p:nvPr/>
        </p:nvSpPr>
        <p:spPr>
          <a:xfrm>
            <a:off x="8264347" y="108082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8B5CF6"/>
          </a:solidFill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50301" y="1166774"/>
            <a:ext cx="133502" cy="13350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683142" y="1136599"/>
            <a:ext cx="11356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三大工具策略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8264347" y="1628546"/>
            <a:ext cx="27624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零预算：Antigravity + Trae (免费且强大)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8264347" y="1971446"/>
            <a:ext cx="29059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标准版：Cursor Pro ($20/mo) + Gemini CLI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8264347" y="2314346"/>
            <a:ext cx="25530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企业级：Kiro (规范化) + Cursor Team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57200" y="5676595"/>
            <a:ext cx="11277295" cy="952805"/>
          </a:xfrm>
          <a:prstGeom prst="roundRect">
            <a:avLst>
              <a:gd name="adj" fmla="val 7678"/>
            </a:avLst>
          </a:prstGeom>
          <a:solidFill>
            <a:srgbClr val="1E293B"/>
          </a:solidFill>
        </p:spPr>
      </p:sp>
      <p:sp>
        <p:nvSpPr>
          <p:cNvPr id="36" name="Shape 31"/>
          <p:cNvSpPr/>
          <p:nvPr/>
        </p:nvSpPr>
        <p:spPr>
          <a:xfrm>
            <a:off x="457200" y="5676595"/>
            <a:ext cx="57607" cy="952805"/>
          </a:xfrm>
          <a:prstGeom prst="rect">
            <a:avLst/>
          </a:prstGeom>
          <a:solidFill>
            <a:srgbClr val="FBBF24"/>
          </a:solidFill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rcRect t="-54" b="-54"/>
          <a:stretch>
            <a:fillRect/>
          </a:stretch>
        </p:blipFill>
        <p:spPr>
          <a:xfrm>
            <a:off x="666598" y="5600700"/>
            <a:ext cx="533095" cy="609905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9" name="Shape 33"/>
          <p:cNvSpPr/>
          <p:nvPr/>
        </p:nvSpPr>
        <p:spPr>
          <a:xfrm>
            <a:off x="0" y="6801307"/>
            <a:ext cx="4067251" cy="57607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0" name="Shape 34"/>
          <p:cNvSpPr/>
          <p:nvPr/>
        </p:nvSpPr>
        <p:spPr>
          <a:xfrm>
            <a:off x="4063594" y="6801307"/>
            <a:ext cx="4067251" cy="57607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1" name="Shape 35"/>
          <p:cNvSpPr/>
          <p:nvPr/>
        </p:nvSpPr>
        <p:spPr>
          <a:xfrm>
            <a:off x="8128102" y="6801307"/>
            <a:ext cx="4067251" cy="57607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42" name="Text 36"/>
          <p:cNvSpPr txBox="1"/>
          <p:nvPr/>
        </p:nvSpPr>
        <p:spPr>
          <a:xfrm>
            <a:off x="2938882" y="5921654"/>
            <a:ext cx="652150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"AI是副驾驶，你才是飞行员。用好规范与工具，你将拥有10倍生产力。"</a:t>
            </a:r>
            <a:endParaRPr lang="en-US" sz="1500" dirty="0"/>
          </a:p>
        </p:txBody>
      </p:sp>
      <p:sp>
        <p:nvSpPr>
          <p:cNvPr id="43" name="Text 37"/>
          <p:cNvSpPr txBox="1"/>
          <p:nvPr/>
        </p:nvSpPr>
        <p:spPr>
          <a:xfrm>
            <a:off x="4685386" y="6217006"/>
            <a:ext cx="298917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永远记住：验证、测试、批判性思维不可缺少。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Shape 39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46" name="Text 40"/>
          <p:cNvSpPr txBox="1"/>
          <p:nvPr/>
        </p:nvSpPr>
        <p:spPr>
          <a:xfrm>
            <a:off x="457200" y="6558077"/>
            <a:ext cx="157642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AI驱动科研编程实战指南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11574475" y="6558077"/>
            <a:ext cx="26243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15096</Words>
  <Application>WPS 表格</Application>
  <PresentationFormat>On-screen Show (16:9)</PresentationFormat>
  <Paragraphs>1946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39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65" baseType="lpstr">
      <vt:lpstr>Arial</vt:lpstr>
      <vt:lpstr>宋体</vt:lpstr>
      <vt:lpstr>Wingdings</vt:lpstr>
      <vt:lpstr>Times New Roman</vt:lpstr>
      <vt:lpstr>Times New Roman</vt:lpstr>
      <vt:lpstr>Times New Roman</vt:lpstr>
      <vt:lpstr>Noto Sans SC</vt:lpstr>
      <vt:lpstr>苹方-简</vt:lpstr>
      <vt:lpstr>Noto Sans SC</vt:lpstr>
      <vt:lpstr>Noto Sans SC</vt:lpstr>
      <vt:lpstr>ui-monospace</vt:lpstr>
      <vt:lpstr>ui-monospace</vt:lpstr>
      <vt:lpstr>ui-monospace</vt:lpstr>
      <vt:lpstr>ui-serif</vt:lpstr>
      <vt:lpstr>ui-serif</vt:lpstr>
      <vt:lpstr>ui-serif</vt:lpstr>
      <vt:lpstr>Calibri</vt:lpstr>
      <vt:lpstr>Helvetica Neue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Noto Serif SC</vt:lpstr>
      <vt:lpstr>Noto Serif SC</vt:lpstr>
      <vt:lpstr>Noto Serif SC</vt:lpstr>
      <vt:lpstr>Consolas</vt:lpstr>
      <vt:lpstr>Consolas</vt:lpstr>
      <vt:lpstr>Consolas</vt:lpstr>
      <vt:lpstr>Courier New</vt:lpstr>
      <vt:lpstr>Courier New</vt:lpstr>
      <vt:lpstr>Courier New</vt:lpstr>
      <vt:lpstr>ui-sans-serif</vt:lpstr>
      <vt:lpstr>ui-sans-serif</vt:lpstr>
      <vt:lpstr>ui-sans-serif</vt:lpstr>
      <vt:lpstr>Apple Color Emoji</vt:lpstr>
      <vt:lpstr>Times New Roman Regular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bruce</cp:lastModifiedBy>
  <cp:revision>5</cp:revision>
  <dcterms:created xsi:type="dcterms:W3CDTF">2025-12-28T13:27:16Z</dcterms:created>
  <dcterms:modified xsi:type="dcterms:W3CDTF">2025-12-28T13:27:16Z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B047A98179DB09871930516964E9C966_42</vt:lpwstr>
  </property>
</Properties>
</file>