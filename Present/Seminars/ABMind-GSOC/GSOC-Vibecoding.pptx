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7.png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48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0.png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6.png"/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1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4.png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11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6.png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2.png"/><Relationship Id="rId13" Type="http://schemas.openxmlformats.org/officeDocument/2006/relationships/image" Target="../media/image141.png"/><Relationship Id="rId12" Type="http://schemas.openxmlformats.org/officeDocument/2006/relationships/image" Target="../media/image140.png"/><Relationship Id="rId11" Type="http://schemas.openxmlformats.org/officeDocument/2006/relationships/image" Target="../media/image139.png"/><Relationship Id="rId10" Type="http://schemas.openxmlformats.org/officeDocument/2006/relationships/image" Target="../media/image138.png"/><Relationship Id="rId1" Type="http://schemas.openxmlformats.org/officeDocument/2006/relationships/image" Target="../media/image12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png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4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65.png"/><Relationship Id="rId13" Type="http://schemas.openxmlformats.org/officeDocument/2006/relationships/image" Target="../media/image164.png"/><Relationship Id="rId12" Type="http://schemas.openxmlformats.org/officeDocument/2006/relationships/image" Target="../media/image163.png"/><Relationship Id="rId11" Type="http://schemas.openxmlformats.org/officeDocument/2006/relationships/image" Target="../media/image162.png"/><Relationship Id="rId10" Type="http://schemas.openxmlformats.org/officeDocument/2006/relationships/image" Target="../media/image161.png"/><Relationship Id="rId1" Type="http://schemas.openxmlformats.org/officeDocument/2006/relationships/image" Target="../media/image15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4.png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image" Target="../media/image17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6.png"/><Relationship Id="rId7" Type="http://schemas.openxmlformats.org/officeDocument/2006/relationships/image" Target="../media/image195.png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189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9.png"/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346997" y="0"/>
            <a:ext cx="9144" cy="6858000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-38893" r="-38893"/>
          <a:stretch>
            <a:fillRect/>
          </a:stretch>
        </p:blipFill>
        <p:spPr>
          <a:xfrm>
            <a:off x="6096305" y="3429000"/>
            <a:ext cx="6096305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8" name="Shape 5"/>
          <p:cNvSpPr/>
          <p:nvPr/>
        </p:nvSpPr>
        <p:spPr>
          <a:xfrm>
            <a:off x="914400" y="1695298"/>
            <a:ext cx="457200" cy="384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Shape 6"/>
          <p:cNvSpPr/>
          <p:nvPr/>
        </p:nvSpPr>
        <p:spPr>
          <a:xfrm>
            <a:off x="914400" y="3172054"/>
            <a:ext cx="75895" cy="53309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7"/>
          <p:cNvSpPr/>
          <p:nvPr/>
        </p:nvSpPr>
        <p:spPr>
          <a:xfrm>
            <a:off x="914400" y="4505249"/>
            <a:ext cx="9506102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8"/>
          <p:cNvSpPr txBox="1"/>
          <p:nvPr/>
        </p:nvSpPr>
        <p:spPr>
          <a:xfrm>
            <a:off x="1524305" y="1638605"/>
            <a:ext cx="3281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RESEARCH METHODOLOGY</a:t>
            </a:r>
            <a:endParaRPr lang="en-US" sz="10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914400" y="2057400"/>
            <a:ext cx="4325112" cy="829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</a:t>
            </a:r>
            <a:endParaRPr lang="en-US" sz="45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218895" y="3191256"/>
            <a:ext cx="6182258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</a:t>
            </a:r>
            <a:r>
              <a:rPr lang="en-US" sz="27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Vibe Coding</a:t>
            </a:r>
            <a:r>
              <a:rPr lang="en-US" sz="27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到 </a:t>
            </a:r>
            <a:r>
              <a:rPr lang="en-US" sz="27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规范驱动</a:t>
            </a:r>
            <a:r>
              <a:rPr lang="en-US" sz="27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的实战指南</a:t>
            </a:r>
            <a:endParaRPr lang="en-US" sz="2700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0173614" y="4733849"/>
            <a:ext cx="3337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日期</a:t>
            </a:r>
            <a:endParaRPr lang="en-US" sz="9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9525305" y="5000854"/>
            <a:ext cx="103875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2025-12-28</a:t>
            </a:r>
            <a:endParaRPr lang="en-US" sz="15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4400" y="56026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https://github.com/2025Emma/vibe-coding-cn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01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05374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1.0 编程进化论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61488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75127" y="267005"/>
            <a:ext cx="3172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从“人迁就机器”到“机器服务人”的演进史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5391302"/>
            <a:ext cx="11277295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9" y="55915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1773" r="-1773"/>
          <a:stretch>
            <a:fillRect/>
          </a:stretch>
        </p:blipFill>
        <p:spPr>
          <a:xfrm>
            <a:off x="743407" y="5695798"/>
            <a:ext cx="133502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5553151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演进规律</a:t>
            </a:r>
            <a:endParaRPr lang="en-US" sz="12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152144" y="5820156"/>
            <a:ext cx="43680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编程语言的抽象层级不断提升，人机交互界面越来越接近人类自然语言。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392363" y="5553151"/>
            <a:ext cx="9144" cy="4572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Text 11"/>
          <p:cNvSpPr txBox="1"/>
          <p:nvPr/>
        </p:nvSpPr>
        <p:spPr>
          <a:xfrm>
            <a:off x="10891418" y="5562295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NEXT STEP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631022" y="5781751"/>
            <a:ext cx="30723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Prompt Engineering Is The New Coding</a:t>
            </a:r>
            <a:endParaRPr lang="en-US" sz="13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69671" y="3333902"/>
            <a:ext cx="11058754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</p:spPr>
      </p:sp>
      <p:sp>
        <p:nvSpPr>
          <p:cNvPr id="18" name="Shape 15"/>
          <p:cNvSpPr/>
          <p:nvPr/>
        </p:nvSpPr>
        <p:spPr>
          <a:xfrm>
            <a:off x="598932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 l="-271277" r="-271277"/>
          <a:stretch>
            <a:fillRect/>
          </a:stretch>
        </p:blipFill>
        <p:spPr>
          <a:xfrm>
            <a:off x="665683" y="1904695"/>
            <a:ext cx="1104595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45921" y="2133295"/>
            <a:ext cx="3867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1940s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908101" y="2296973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机器语言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904443" y="2499970"/>
            <a:ext cx="6428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0101二进制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863295" y="2638958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直接操作硬件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941832" y="2834640"/>
            <a:ext cx="552298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90295" y="2862986"/>
            <a:ext cx="5340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人适应机器</a:t>
            </a:r>
            <a:endParaRPr lang="en-US" sz="800" b="1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224735" y="3590849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 l="-207022" r="-207022"/>
          <a:stretch>
            <a:fillRect/>
          </a:stretch>
        </p:blipFill>
        <p:spPr>
          <a:xfrm>
            <a:off x="2291486" y="3676802"/>
            <a:ext cx="1104595" cy="17190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645054" y="3887622"/>
            <a:ext cx="3867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1950s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2516124" y="4051300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汇编语言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2524354" y="4254297"/>
            <a:ext cx="6135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助记符替代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2524354" y="4392371"/>
            <a:ext cx="6135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二进制指令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2560320" y="4589145"/>
            <a:ext cx="521970" cy="201295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607564" y="461731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低级抽象</a:t>
            </a:r>
            <a:endParaRPr lang="en-US" sz="800" b="1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3850538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4198366" y="2115515"/>
            <a:ext cx="5486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1960-70s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4150817" y="2279193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高级语言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4188308" y="2482190"/>
            <a:ext cx="55687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Fortran/C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4106012" y="2621178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接近人类逻辑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4194708" y="2816860"/>
            <a:ext cx="46634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242257" y="2845206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逻辑抽象</a:t>
            </a:r>
            <a:endParaRPr lang="en-US" sz="800" b="1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5476342" y="3590849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4"/>
          <a:srcRect l="-235579" r="-235579"/>
          <a:stretch>
            <a:fillRect/>
          </a:stretch>
        </p:blipFill>
        <p:spPr>
          <a:xfrm>
            <a:off x="5543093" y="3676802"/>
            <a:ext cx="1104595" cy="171907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824169" y="3887622"/>
            <a:ext cx="5486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1980-90s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5776620" y="4051300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面向对象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5823255" y="4254297"/>
            <a:ext cx="53766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Java/C++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5731815" y="4392371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模拟现实对象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8" name="Shape 41"/>
          <p:cNvSpPr/>
          <p:nvPr/>
        </p:nvSpPr>
        <p:spPr>
          <a:xfrm>
            <a:off x="5820410" y="4617085"/>
            <a:ext cx="579120" cy="172085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868035" y="4617085"/>
            <a:ext cx="53403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对象模型</a:t>
            </a:r>
            <a:endParaRPr lang="en-US" sz="800" b="1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0" name="Shape 43"/>
          <p:cNvSpPr/>
          <p:nvPr/>
        </p:nvSpPr>
        <p:spPr>
          <a:xfrm>
            <a:off x="7102145" y="1818742"/>
            <a:ext cx="1238098" cy="1304849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5"/>
          <a:srcRect l="-317174" r="-317174"/>
          <a:stretch>
            <a:fillRect/>
          </a:stretch>
        </p:blipFill>
        <p:spPr>
          <a:xfrm>
            <a:off x="7168896" y="1904695"/>
            <a:ext cx="1104595" cy="171907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505497" y="2124405"/>
            <a:ext cx="4535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2000s+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7411314" y="2288083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现代语言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31430" y="2491080"/>
            <a:ext cx="59436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Python/JS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7419543" y="2630068"/>
            <a:ext cx="6135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极简与生态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7490765" y="2834640"/>
            <a:ext cx="46634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7538314" y="2862986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生态复用</a:t>
            </a:r>
            <a:endParaRPr lang="en-US" sz="800" b="1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8745728" y="3590849"/>
            <a:ext cx="1238098" cy="1314907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6"/>
          <a:srcRect l="-271277" r="-271277"/>
          <a:stretch>
            <a:fillRect/>
          </a:stretch>
        </p:blipFill>
        <p:spPr>
          <a:xfrm>
            <a:off x="8794699" y="3676802"/>
            <a:ext cx="1104595" cy="171907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9189822" y="3905402"/>
            <a:ext cx="3392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2021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1" name="Text 52"/>
          <p:cNvSpPr txBox="1"/>
          <p:nvPr/>
        </p:nvSpPr>
        <p:spPr>
          <a:xfrm>
            <a:off x="9105697" y="4069080"/>
            <a:ext cx="5221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AI辅助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2" name="Text 53"/>
          <p:cNvSpPr txBox="1"/>
          <p:nvPr/>
        </p:nvSpPr>
        <p:spPr>
          <a:xfrm>
            <a:off x="9131300" y="4272077"/>
            <a:ext cx="44257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Copilot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8992311" y="4410151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智能补全建议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4" name="Shape 55"/>
          <p:cNvSpPr/>
          <p:nvPr/>
        </p:nvSpPr>
        <p:spPr>
          <a:xfrm>
            <a:off x="8880805" y="4615891"/>
            <a:ext cx="990295" cy="200254"/>
          </a:xfrm>
          <a:prstGeom prst="roundRect">
            <a:avLst>
              <a:gd name="adj" fmla="val 8697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8928354" y="4654296"/>
            <a:ext cx="972007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Human-AI Collab v1.0</a:t>
            </a:r>
            <a:endParaRPr lang="en-US" sz="800" b="1" dirty="0">
              <a:solidFill>
                <a:srgbClr val="1D4ED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6" name="Shape 57"/>
          <p:cNvSpPr/>
          <p:nvPr/>
        </p:nvSpPr>
        <p:spPr>
          <a:xfrm>
            <a:off x="10353751" y="1809598"/>
            <a:ext cx="1238098" cy="1314907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7"/>
          <a:srcRect l="-207022" r="-207022"/>
          <a:stretch>
            <a:fillRect/>
          </a:stretch>
        </p:blipFill>
        <p:spPr>
          <a:xfrm>
            <a:off x="10420502" y="1895551"/>
            <a:ext cx="1104595" cy="171907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10806735" y="2124151"/>
            <a:ext cx="3392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2025</a:t>
            </a:r>
            <a:endParaRPr lang="en-US" sz="9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9" name="Text 59"/>
          <p:cNvSpPr txBox="1"/>
          <p:nvPr/>
        </p:nvSpPr>
        <p:spPr>
          <a:xfrm>
            <a:off x="10722610" y="2287829"/>
            <a:ext cx="5221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AI原生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0" name="Text 60"/>
          <p:cNvSpPr txBox="1"/>
          <p:nvPr/>
        </p:nvSpPr>
        <p:spPr>
          <a:xfrm>
            <a:off x="10572648" y="2490826"/>
            <a:ext cx="7946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Cursor/Claude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1" name="Text 61"/>
          <p:cNvSpPr txBox="1"/>
          <p:nvPr/>
        </p:nvSpPr>
        <p:spPr>
          <a:xfrm>
            <a:off x="10609224" y="2628900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自然语言全栈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2" name="Shape 62"/>
          <p:cNvSpPr/>
          <p:nvPr/>
        </p:nvSpPr>
        <p:spPr>
          <a:xfrm>
            <a:off x="10568635" y="2834640"/>
            <a:ext cx="809244" cy="200254"/>
          </a:xfrm>
          <a:prstGeom prst="roundRect">
            <a:avLst>
              <a:gd name="adj" fmla="val 86975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10616184" y="2873045"/>
            <a:ext cx="790956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Intent Driven v2.0</a:t>
            </a:r>
            <a:endParaRPr lang="en-US" sz="800" b="1" dirty="0">
              <a:solidFill>
                <a:srgbClr val="6D28D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4" name="Shape 64"/>
          <p:cNvSpPr/>
          <p:nvPr/>
        </p:nvSpPr>
        <p:spPr>
          <a:xfrm>
            <a:off x="1208837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5" name="Shape 65"/>
          <p:cNvSpPr/>
          <p:nvPr/>
        </p:nvSpPr>
        <p:spPr>
          <a:xfrm>
            <a:off x="2834640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6" name="Shape 66"/>
          <p:cNvSpPr/>
          <p:nvPr/>
        </p:nvSpPr>
        <p:spPr>
          <a:xfrm>
            <a:off x="4460443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7" name="Shape 67"/>
          <p:cNvSpPr/>
          <p:nvPr/>
        </p:nvSpPr>
        <p:spPr>
          <a:xfrm>
            <a:off x="6086246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8" name="Shape 68"/>
          <p:cNvSpPr/>
          <p:nvPr/>
        </p:nvSpPr>
        <p:spPr>
          <a:xfrm>
            <a:off x="7712050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79" name="Shape 69"/>
          <p:cNvSpPr/>
          <p:nvPr/>
        </p:nvSpPr>
        <p:spPr>
          <a:xfrm>
            <a:off x="9337853" y="3353105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80" name="Shape 70"/>
          <p:cNvSpPr/>
          <p:nvPr/>
        </p:nvSpPr>
        <p:spPr>
          <a:xfrm>
            <a:off x="10963656" y="3114446"/>
            <a:ext cx="19202" cy="2377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81" name="Shape 71"/>
          <p:cNvSpPr/>
          <p:nvPr/>
        </p:nvSpPr>
        <p:spPr>
          <a:xfrm>
            <a:off x="1142086" y="3276295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2767889" y="3276295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3692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4" name="Shape 74"/>
          <p:cNvSpPr/>
          <p:nvPr/>
        </p:nvSpPr>
        <p:spPr>
          <a:xfrm>
            <a:off x="6019495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5" name="Shape 75"/>
          <p:cNvSpPr/>
          <p:nvPr/>
        </p:nvSpPr>
        <p:spPr>
          <a:xfrm>
            <a:off x="7645298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6" name="Shape 76"/>
          <p:cNvSpPr/>
          <p:nvPr/>
        </p:nvSpPr>
        <p:spPr>
          <a:xfrm>
            <a:off x="9271102" y="3276295"/>
            <a:ext cx="152705" cy="152705"/>
          </a:xfrm>
          <a:prstGeom prst="ellipse">
            <a:avLst/>
          </a:prstGeom>
          <a:solidFill>
            <a:srgbClr val="3B82F6"/>
          </a:solidFill>
          <a:ln w="508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15000"/>
              </a:srgbClr>
            </a:outerShdw>
          </a:effectLst>
        </p:spPr>
      </p:sp>
      <p:sp>
        <p:nvSpPr>
          <p:cNvPr id="87" name="Shape 77"/>
          <p:cNvSpPr/>
          <p:nvPr/>
        </p:nvSpPr>
        <p:spPr>
          <a:xfrm>
            <a:off x="10896905" y="3276295"/>
            <a:ext cx="152705" cy="152705"/>
          </a:xfrm>
          <a:prstGeom prst="ellipse">
            <a:avLst/>
          </a:prstGeom>
          <a:solidFill>
            <a:srgbClr val="8B5CF6"/>
          </a:solidFill>
          <a:ln w="50800">
            <a:solidFill>
              <a:srgbClr val="8B5CF6"/>
            </a:solidFill>
            <a:prstDash val="solid"/>
          </a:ln>
          <a:effectLst>
            <a:outerShdw blurRad="12700" dist="12700" dir="16200000" algn="bl" rotWithShape="0">
              <a:srgbClr val="8B5CF6">
                <a:alpha val="15000"/>
              </a:srgbClr>
            </a:outerShdw>
          </a:effectLst>
        </p:spPr>
      </p:sp>
      <p:pic>
        <p:nvPicPr>
          <p:cNvPr id="88" name="Image 1" descr="preencoded.png"/>
          <p:cNvPicPr>
            <a:picLocks noChangeAspect="1"/>
          </p:cNvPicPr>
          <p:nvPr/>
        </p:nvPicPr>
        <p:blipFill>
          <a:blip r:embed="rId2"/>
          <a:srcRect l="-271277" r="-271277"/>
          <a:stretch>
            <a:fillRect/>
          </a:stretch>
        </p:blipFill>
        <p:spPr>
          <a:xfrm>
            <a:off x="3914978" y="1895170"/>
            <a:ext cx="1104595" cy="171907"/>
          </a:xfrm>
          <a:prstGeom prst="rect">
            <a:avLst/>
          </a:prstGeom>
        </p:spPr>
      </p:pic>
      <p:sp>
        <p:nvSpPr>
          <p:cNvPr id="100" name="Text 80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02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32989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1.1 编程范式革命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3489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349447" y="267005"/>
            <a:ext cx="30010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AI编程的本质：从“写代码”到“说需求”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905" y="914400"/>
            <a:ext cx="10972800" cy="1218895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9" name="Shape 7"/>
          <p:cNvSpPr/>
          <p:nvPr/>
        </p:nvSpPr>
        <p:spPr>
          <a:xfrm>
            <a:off x="609905" y="914400"/>
            <a:ext cx="38405" cy="12188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8"/>
          <p:cNvSpPr txBox="1"/>
          <p:nvPr/>
        </p:nvSpPr>
        <p:spPr>
          <a:xfrm>
            <a:off x="875995" y="1046074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核心观点转变</a:t>
            </a:r>
            <a:endParaRPr lang="en-US" sz="13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75995" y="1388974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传统编程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638605" y="1417320"/>
            <a:ext cx="1764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=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88566" y="1388974"/>
            <a:ext cx="4718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人类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207362" y="1426464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12771" y="1436522"/>
            <a:ext cx="63367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ui-monospace" pitchFamily="34" charset="-120"/>
              </a:rPr>
              <a:t>机器语言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ui-monospace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75995" y="1779422"/>
            <a:ext cx="329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</a:t>
            </a:r>
            <a:endParaRPr lang="en-US" sz="1300" b="1" dirty="0">
              <a:solidFill>
                <a:srgbClr val="1D4ED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067105" y="1731874"/>
            <a:ext cx="4718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编程</a:t>
            </a:r>
            <a:endParaRPr lang="en-US" sz="1300" b="1" dirty="0">
              <a:solidFill>
                <a:srgbClr val="1D4ED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485900" y="1769364"/>
            <a:ext cx="1865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=</a:t>
            </a:r>
            <a:endParaRPr lang="en-US" sz="1000" b="1" dirty="0">
              <a:solidFill>
                <a:srgbClr val="93C5FD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641348" y="1741018"/>
            <a:ext cx="4718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人类</a:t>
            </a:r>
            <a:endParaRPr lang="en-US" sz="1300" b="1" dirty="0">
              <a:solidFill>
                <a:srgbClr val="1D4ED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060143" y="1779422"/>
            <a:ext cx="152705" cy="171907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2288743" y="1781251"/>
            <a:ext cx="219456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545690" y="1779422"/>
            <a:ext cx="329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</a:t>
            </a:r>
            <a:endParaRPr lang="en-US" sz="1300" b="1" dirty="0">
              <a:solidFill>
                <a:srgbClr val="7C3AE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812694" y="1779422"/>
            <a:ext cx="152705" cy="17190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041294" y="1731874"/>
            <a:ext cx="685800" cy="267005"/>
          </a:xfrm>
          <a:prstGeom prst="roundRect">
            <a:avLst>
              <a:gd name="adj" fmla="val 48924"/>
            </a:avLst>
          </a:prstGeom>
          <a:solidFill>
            <a:srgbClr val="DBEAFE"/>
          </a:solidFill>
        </p:spPr>
      </p:sp>
      <p:sp>
        <p:nvSpPr>
          <p:cNvPr id="25" name="Text 19"/>
          <p:cNvSpPr txBox="1"/>
          <p:nvPr/>
        </p:nvSpPr>
        <p:spPr>
          <a:xfrm>
            <a:off x="3117190" y="1788566"/>
            <a:ext cx="63367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 Regular" panose="02020503050405090304" charset="0"/>
                <a:ea typeface="ui-monospace" pitchFamily="34" charset="-122"/>
                <a:cs typeface="ui-monospace" pitchFamily="34" charset="-120"/>
              </a:rPr>
              <a:t>代码协作</a:t>
            </a:r>
            <a:endParaRPr lang="en-US" sz="1000" b="1" dirty="0">
              <a:solidFill>
                <a:srgbClr val="1D4ED8"/>
              </a:solidFill>
              <a:latin typeface="Times New Roman Regular" panose="02020503050405090304" charset="0"/>
              <a:ea typeface="ui-monospace" pitchFamily="34" charset="-122"/>
              <a:cs typeface="ui-monospace" pitchFamily="34" charset="-12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9442094" y="1312164"/>
            <a:ext cx="20153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从 "Syntax Recall"（语法记忆）</a:t>
            </a:r>
            <a:endParaRPr lang="en-US" sz="1000" i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8886139" y="1540764"/>
            <a:ext cx="2576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转向 "Prompt Engineering"（需求描述）</a:t>
            </a:r>
            <a:endParaRPr lang="en-US" sz="1000" i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09905" y="2251253"/>
            <a:ext cx="38405" cy="26700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9" name="Text 23"/>
          <p:cNvSpPr txBox="1"/>
          <p:nvPr/>
        </p:nvSpPr>
        <p:spPr>
          <a:xfrm>
            <a:off x="724205" y="2261311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关键维度对比</a:t>
            </a:r>
            <a:endParaRPr lang="en-US" sz="13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609905" y="2937053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1" name="Text 25"/>
          <p:cNvSpPr txBox="1"/>
          <p:nvPr/>
        </p:nvSpPr>
        <p:spPr>
          <a:xfrm>
            <a:off x="724205" y="2655418"/>
            <a:ext cx="4288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维度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2255825" y="2937053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3" name="Text 27"/>
          <p:cNvSpPr txBox="1"/>
          <p:nvPr/>
        </p:nvSpPr>
        <p:spPr>
          <a:xfrm>
            <a:off x="2370125" y="265541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传统编程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096305" y="2937053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5" name="Text 29"/>
          <p:cNvSpPr txBox="1"/>
          <p:nvPr/>
        </p:nvSpPr>
        <p:spPr>
          <a:xfrm>
            <a:off x="6210605" y="2655418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AI编程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9935870" y="2937053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7" name="Text 31"/>
          <p:cNvSpPr txBox="1"/>
          <p:nvPr/>
        </p:nvSpPr>
        <p:spPr>
          <a:xfrm>
            <a:off x="10050170" y="265541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变革本质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09905" y="3259836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3"/>
          <p:cNvSpPr txBox="1"/>
          <p:nvPr/>
        </p:nvSpPr>
        <p:spPr>
          <a:xfrm>
            <a:off x="724205" y="2998318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核心技能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2255825" y="3259836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1" name="Text 35"/>
          <p:cNvSpPr txBox="1"/>
          <p:nvPr/>
        </p:nvSpPr>
        <p:spPr>
          <a:xfrm>
            <a:off x="2370125" y="2998318"/>
            <a:ext cx="134691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语法记忆、API查询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6096305" y="3259836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37"/>
          <p:cNvSpPr txBox="1"/>
          <p:nvPr/>
        </p:nvSpPr>
        <p:spPr>
          <a:xfrm>
            <a:off x="6210605" y="2998318"/>
            <a:ext cx="14136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需求描述、逻辑验证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4" name="Shape 38"/>
          <p:cNvSpPr/>
          <p:nvPr/>
        </p:nvSpPr>
        <p:spPr>
          <a:xfrm>
            <a:off x="9935870" y="3259836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39"/>
          <p:cNvSpPr txBox="1"/>
          <p:nvPr/>
        </p:nvSpPr>
        <p:spPr>
          <a:xfrm>
            <a:off x="10050170" y="2998318"/>
            <a:ext cx="8997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记忆 → 表达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6" name="Shape 40"/>
          <p:cNvSpPr/>
          <p:nvPr/>
        </p:nvSpPr>
        <p:spPr>
          <a:xfrm>
            <a:off x="609905" y="3558845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1"/>
          <p:cNvSpPr txBox="1"/>
          <p:nvPr/>
        </p:nvSpPr>
        <p:spPr>
          <a:xfrm>
            <a:off x="724205" y="3302813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学习曲线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2255825" y="3558845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Text 43"/>
          <p:cNvSpPr txBox="1"/>
          <p:nvPr/>
        </p:nvSpPr>
        <p:spPr>
          <a:xfrm>
            <a:off x="2370125" y="3302813"/>
            <a:ext cx="9189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陡峭 月-年级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0" name="Shape 44"/>
          <p:cNvSpPr/>
          <p:nvPr/>
        </p:nvSpPr>
        <p:spPr>
          <a:xfrm>
            <a:off x="6096305" y="3558845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5"/>
          <p:cNvSpPr txBox="1"/>
          <p:nvPr/>
        </p:nvSpPr>
        <p:spPr>
          <a:xfrm>
            <a:off x="6210605" y="3302813"/>
            <a:ext cx="9189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平缓 天-周级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2" name="Shape 46"/>
          <p:cNvSpPr/>
          <p:nvPr/>
        </p:nvSpPr>
        <p:spPr>
          <a:xfrm>
            <a:off x="9935870" y="3558845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47"/>
          <p:cNvSpPr txBox="1"/>
          <p:nvPr/>
        </p:nvSpPr>
        <p:spPr>
          <a:xfrm>
            <a:off x="10050170" y="3302813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门槛降低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609905" y="3863340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49"/>
          <p:cNvSpPr txBox="1"/>
          <p:nvPr/>
        </p:nvSpPr>
        <p:spPr>
          <a:xfrm>
            <a:off x="724205" y="3606394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开发速度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6" name="Shape 50"/>
          <p:cNvSpPr/>
          <p:nvPr/>
        </p:nvSpPr>
        <p:spPr>
          <a:xfrm>
            <a:off x="2255825" y="3863340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7" name="Text 51"/>
          <p:cNvSpPr txBox="1"/>
          <p:nvPr/>
        </p:nvSpPr>
        <p:spPr>
          <a:xfrm>
            <a:off x="2370125" y="3606394"/>
            <a:ext cx="15572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慢（手写 + 手动调试）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6096305" y="3863340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3"/>
          <p:cNvSpPr txBox="1"/>
          <p:nvPr/>
        </p:nvSpPr>
        <p:spPr>
          <a:xfrm>
            <a:off x="6210605" y="3606394"/>
            <a:ext cx="156636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快（秒级生成 + 迭代）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9935870" y="3863340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5"/>
          <p:cNvSpPr txBox="1"/>
          <p:nvPr/>
        </p:nvSpPr>
        <p:spPr>
          <a:xfrm>
            <a:off x="10050170" y="3606394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效率质变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2" name="Text 56"/>
          <p:cNvSpPr txBox="1"/>
          <p:nvPr/>
        </p:nvSpPr>
        <p:spPr>
          <a:xfrm>
            <a:off x="724205" y="3910889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3" name="Text 57"/>
          <p:cNvSpPr txBox="1"/>
          <p:nvPr/>
        </p:nvSpPr>
        <p:spPr>
          <a:xfrm>
            <a:off x="2370125" y="3910889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所有场景（含底层驱动）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4" name="Text 58"/>
          <p:cNvSpPr txBox="1"/>
          <p:nvPr/>
        </p:nvSpPr>
        <p:spPr>
          <a:xfrm>
            <a:off x="6210605" y="3910889"/>
            <a:ext cx="130942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80% 常规科研任务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5" name="Text 59"/>
          <p:cNvSpPr txBox="1"/>
          <p:nvPr/>
        </p:nvSpPr>
        <p:spPr>
          <a:xfrm>
            <a:off x="10050170" y="3910889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二八定律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6" name="Shape 60"/>
          <p:cNvSpPr/>
          <p:nvPr/>
        </p:nvSpPr>
        <p:spPr>
          <a:xfrm>
            <a:off x="609905" y="46670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733349" y="4791456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AI擅长领域</a:t>
            </a:r>
            <a:endParaRPr lang="en-US" sz="1000" b="1" dirty="0">
              <a:solidFill>
                <a:srgbClr val="065F46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8" name="Text 62"/>
          <p:cNvSpPr txBox="1"/>
          <p:nvPr/>
        </p:nvSpPr>
        <p:spPr>
          <a:xfrm>
            <a:off x="961949" y="5057546"/>
            <a:ext cx="24533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标准算法实现（排序、统计、GIS操作）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9" name="Text 63"/>
          <p:cNvSpPr txBox="1"/>
          <p:nvPr/>
        </p:nvSpPr>
        <p:spPr>
          <a:xfrm>
            <a:off x="961949" y="5286146"/>
            <a:ext cx="19010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代码语言转换（Python ↔ R）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0" name="Text 64"/>
          <p:cNvSpPr txBox="1"/>
          <p:nvPr/>
        </p:nvSpPr>
        <p:spPr>
          <a:xfrm>
            <a:off x="961949" y="5514746"/>
            <a:ext cx="23481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错误诊断与修复建议（Explain &amp; Fix）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1" name="Text 65"/>
          <p:cNvSpPr txBox="1"/>
          <p:nvPr/>
        </p:nvSpPr>
        <p:spPr>
          <a:xfrm>
            <a:off x="961949" y="5743346"/>
            <a:ext cx="13002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文档与注释自动生成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2" name="Shape 66"/>
          <p:cNvSpPr/>
          <p:nvPr/>
        </p:nvSpPr>
        <p:spPr>
          <a:xfrm>
            <a:off x="6210605" y="46670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6334049" y="4791456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AI能力边界</a:t>
            </a:r>
            <a:endParaRPr lang="en-US" sz="1000" b="1" dirty="0">
              <a:solidFill>
                <a:srgbClr val="991B1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4" name="Text 68"/>
          <p:cNvSpPr txBox="1"/>
          <p:nvPr/>
        </p:nvSpPr>
        <p:spPr>
          <a:xfrm>
            <a:off x="6562649" y="5057546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复杂业务逻辑（需深度领域知识）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5" name="Text 69"/>
          <p:cNvSpPr txBox="1"/>
          <p:nvPr/>
        </p:nvSpPr>
        <p:spPr>
          <a:xfrm>
            <a:off x="6562649" y="5286146"/>
            <a:ext cx="22338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创新算法设计（非标准教科书内容）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6" name="Text 70"/>
          <p:cNvSpPr txBox="1"/>
          <p:nvPr/>
        </p:nvSpPr>
        <p:spPr>
          <a:xfrm>
            <a:off x="6562649" y="5514746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系统级架构决策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7" name="Text 71"/>
          <p:cNvSpPr txBox="1"/>
          <p:nvPr/>
        </p:nvSpPr>
        <p:spPr>
          <a:xfrm>
            <a:off x="6562649" y="5743346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极致性能优化（硬件级）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03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29240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1.2 Vibe Coding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91917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306470" y="267005"/>
            <a:ext cx="1800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定义、双面性与应用场景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4457700" cy="981151"/>
          </a:xfrm>
          <a:prstGeom prst="rect">
            <a:avLst/>
          </a:prstGeom>
          <a:solidFill>
            <a:srgbClr val="F0F9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905" y="990295"/>
            <a:ext cx="47549" cy="981151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0" name="Text 8"/>
          <p:cNvSpPr txBox="1"/>
          <p:nvPr/>
        </p:nvSpPr>
        <p:spPr>
          <a:xfrm>
            <a:off x="809244" y="1152144"/>
            <a:ext cx="113842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Vibe Coding</a:t>
            </a:r>
            <a:endParaRPr lang="en-US" sz="1300" b="1" dirty="0">
              <a:solidFill>
                <a:srgbClr val="1E40A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9244" y="1438351"/>
            <a:ext cx="4205326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以自然语言对话为核心的探索式、迭代式编程方法。特点是"感觉驱动"—凭直觉描述需求，快速试错迭代。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905" y="2810459"/>
            <a:ext cx="4457700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11"/>
          <p:cNvSpPr txBox="1"/>
          <p:nvPr/>
        </p:nvSpPr>
        <p:spPr>
          <a:xfrm>
            <a:off x="609905" y="2543454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三大核心特征</a:t>
            </a:r>
            <a:endParaRPr lang="en-US" sz="12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905" y="2914701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754" y="3048203"/>
            <a:ext cx="342900" cy="34290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rcRect l="-33" r="-33"/>
          <a:stretch>
            <a:fillRect/>
          </a:stretch>
        </p:blipFill>
        <p:spPr>
          <a:xfrm>
            <a:off x="857707" y="3143301"/>
            <a:ext cx="171907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66444" y="3039059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低门槛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266444" y="3238398"/>
            <a:ext cx="1924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无需记忆复杂语法，自然语言即代码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9905" y="3619703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1754" y="3753206"/>
            <a:ext cx="342900" cy="342900"/>
          </a:xfrm>
          <a:prstGeom prst="ellipse">
            <a:avLst/>
          </a:prstGeom>
          <a:solidFill>
            <a:srgbClr val="DBEAFE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875995" y="3848303"/>
            <a:ext cx="133502" cy="15270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66444" y="3744062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高速度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1266444" y="3943401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想法到代码分钟级实现，快速验证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09905" y="4324706"/>
            <a:ext cx="4457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71754" y="4458208"/>
            <a:ext cx="342900" cy="342900"/>
          </a:xfrm>
          <a:prstGeom prst="ellipse">
            <a:avLst/>
          </a:prstGeom>
          <a:solidFill>
            <a:srgbClr val="EDE9FE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6851" y="4553306"/>
            <a:ext cx="15270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66444" y="4448150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强探索性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1266444" y="4648403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通过对话发现未知可能性与新方案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5438851" y="990295"/>
            <a:ext cx="3019349" cy="1362456"/>
          </a:xfrm>
          <a:prstGeom prst="roundRect">
            <a:avLst>
              <a:gd name="adj" fmla="val 375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563210" y="1343254"/>
            <a:ext cx="2771546" cy="9144"/>
          </a:xfrm>
          <a:prstGeom prst="rect">
            <a:avLst/>
          </a:prstGeom>
          <a:solidFill>
            <a:srgbClr val="A7F3D0"/>
          </a:solidFill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63210" y="1150315"/>
            <a:ext cx="133502" cy="1335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772607" y="111465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推荐使用</a:t>
            </a:r>
            <a:endParaRPr lang="en-US" sz="1000" b="1" dirty="0">
              <a:solidFill>
                <a:srgbClr val="065F46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5563210" y="1429207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Code &lt; 200 行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1645006"/>
            <a:ext cx="152705" cy="1234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715000" y="1626718"/>
            <a:ext cx="1124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一次性数据处理脚本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1842516"/>
            <a:ext cx="152705" cy="1234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715000" y="1825142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快速原型验证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5"/>
          <a:srcRect l="-20688" r="-20688"/>
          <a:stretch>
            <a:fillRect/>
          </a:stretch>
        </p:blipFill>
        <p:spPr>
          <a:xfrm>
            <a:off x="5563210" y="2040941"/>
            <a:ext cx="152705" cy="1234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715000" y="2022653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新技术栈学习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8567928" y="990295"/>
            <a:ext cx="3019349" cy="1362456"/>
          </a:xfrm>
          <a:prstGeom prst="roundRect">
            <a:avLst>
              <a:gd name="adj" fmla="val 3755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8691372" y="1343254"/>
            <a:ext cx="2771546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91372" y="1150315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900770" y="1114654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不适用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4" name="Text 34"/>
          <p:cNvSpPr txBox="1"/>
          <p:nvPr/>
        </p:nvSpPr>
        <p:spPr>
          <a:xfrm>
            <a:off x="8691372" y="1429207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Code &gt; 500 行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1645006"/>
            <a:ext cx="152705" cy="1234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844077" y="1626718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需要长期维护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1842516"/>
            <a:ext cx="152705" cy="123444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844077" y="1825142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团队协作项目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7"/>
          <a:srcRect l="-32469" r="-32469"/>
          <a:stretch>
            <a:fillRect/>
          </a:stretch>
        </p:blipFill>
        <p:spPr>
          <a:xfrm>
            <a:off x="8691372" y="2040941"/>
            <a:ext cx="152705" cy="123444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844077" y="2022653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论文核心算法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438851" y="2571293"/>
            <a:ext cx="133502" cy="13350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5648249" y="2542946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三大致命缺陷</a:t>
            </a:r>
            <a:endParaRPr lang="en-US" sz="1000" b="1" dirty="0">
              <a:solidFill>
                <a:srgbClr val="B91C1C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3" name="Shape 39"/>
          <p:cNvSpPr/>
          <p:nvPr/>
        </p:nvSpPr>
        <p:spPr>
          <a:xfrm>
            <a:off x="5438851" y="2914726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9"/>
          <a:srcRect l="-1911" r="-1911"/>
          <a:stretch>
            <a:fillRect/>
          </a:stretch>
        </p:blipFill>
        <p:spPr>
          <a:xfrm>
            <a:off x="5570525" y="3061030"/>
            <a:ext cx="133502" cy="11430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5779922" y="3015310"/>
            <a:ext cx="65562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规模灾难</a:t>
            </a:r>
            <a:endParaRPr lang="en-US" sz="1000" b="1" dirty="0">
              <a:solidFill>
                <a:srgbClr val="BE123C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6" name="Text 41"/>
          <p:cNvSpPr txBox="1"/>
          <p:nvPr/>
        </p:nvSpPr>
        <p:spPr>
          <a:xfrm>
            <a:off x="5799125" y="3232023"/>
            <a:ext cx="373075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500 行后代码沦为"补丁堆"，缺乏整体架构，维护成本指数级上升。</a:t>
            </a:r>
            <a:endParaRPr lang="en-US" sz="900" dirty="0">
              <a:solidFill>
                <a:srgbClr val="881337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7" name="Shape 42"/>
          <p:cNvSpPr/>
          <p:nvPr/>
        </p:nvSpPr>
        <p:spPr>
          <a:xfrm>
            <a:off x="5438851" y="3586810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0"/>
          <a:srcRect t="-80" b="-80"/>
          <a:stretch>
            <a:fillRect/>
          </a:stretch>
        </p:blipFill>
        <p:spPr>
          <a:xfrm>
            <a:off x="5570525" y="3734029"/>
            <a:ext cx="142646" cy="114300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5789981" y="3688309"/>
            <a:ext cx="65562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理解偏差</a:t>
            </a:r>
            <a:endParaRPr lang="en-US" sz="1000" b="1" dirty="0">
              <a:solidFill>
                <a:srgbClr val="BE123C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0" name="Text 44"/>
          <p:cNvSpPr txBox="1"/>
          <p:nvPr/>
        </p:nvSpPr>
        <p:spPr>
          <a:xfrm>
            <a:off x="5799125" y="3905021"/>
            <a:ext cx="40635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领域术语歧义（如"建筑密度"的三种定义），AI 缺乏上下文且不主动澄清。</a:t>
            </a:r>
            <a:endParaRPr lang="en-US" sz="900" dirty="0">
              <a:solidFill>
                <a:srgbClr val="881337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1" name="Shape 45"/>
          <p:cNvSpPr/>
          <p:nvPr/>
        </p:nvSpPr>
        <p:spPr>
          <a:xfrm>
            <a:off x="5438851" y="4259809"/>
            <a:ext cx="6143854" cy="599846"/>
          </a:xfrm>
          <a:prstGeom prst="roundRect">
            <a:avLst>
              <a:gd name="adj" fmla="val 1935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1"/>
          <a:srcRect l="-133" r="-133"/>
          <a:stretch>
            <a:fillRect/>
          </a:stretch>
        </p:blipFill>
        <p:spPr>
          <a:xfrm>
            <a:off x="5570525" y="4406113"/>
            <a:ext cx="85954" cy="114300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5732374" y="4360393"/>
            <a:ext cx="65562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文档失控</a:t>
            </a:r>
            <a:endParaRPr lang="en-US" sz="1000" b="1" dirty="0">
              <a:solidFill>
                <a:srgbClr val="BE123C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4" name="Text 47"/>
          <p:cNvSpPr txBox="1"/>
          <p:nvPr/>
        </p:nvSpPr>
        <p:spPr>
          <a:xfrm>
            <a:off x="5799125" y="4577105"/>
            <a:ext cx="37499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1337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直接修改代码而未更新文档，导致"文不对题"，文档最终完全失效。</a:t>
            </a:r>
            <a:endParaRPr lang="en-US" sz="900" dirty="0">
              <a:solidFill>
                <a:srgbClr val="881337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04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32989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1.3 解决方案预告</a:t>
            </a:r>
            <a:endParaRPr lang="en-US" sz="2100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3489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349447" y="267005"/>
            <a:ext cx="2257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保留速度优势，补齐可靠性短板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261002" y="895350"/>
            <a:ext cx="3706063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核心思想转变：从 </a:t>
            </a:r>
            <a:r>
              <a:rPr lang="en-US" sz="1500" dirty="0">
                <a:solidFill>
                  <a:schemeClr val="accent1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对话驱动</a:t>
            </a:r>
            <a:r>
              <a:rPr lang="en-US" sz="15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 走向 </a:t>
            </a:r>
            <a:r>
              <a:rPr lang="zh-CN" altLang="en-US" sz="1500" dirty="0">
                <a:solidFill>
                  <a:schemeClr val="accent1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规范</a:t>
            </a:r>
            <a:r>
              <a:rPr lang="en-US" sz="1500" dirty="0">
                <a:solidFill>
                  <a:schemeClr val="accent1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驱动</a:t>
            </a:r>
            <a:endParaRPr lang="en-US" sz="1500" dirty="0">
              <a:solidFill>
                <a:schemeClr val="accent1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4058107" y="2124558"/>
            <a:ext cx="200254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7934249" y="2124558"/>
            <a:ext cx="200254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9905" y="3605784"/>
            <a:ext cx="5372100" cy="1104595"/>
          </a:xfrm>
          <a:prstGeom prst="roundRect">
            <a:avLst>
              <a:gd name="adj" fmla="val 5709"/>
            </a:avLst>
          </a:prstGeom>
          <a:solidFill>
            <a:srgbClr val="F8FAFC"/>
          </a:solidFill>
        </p:spPr>
      </p:sp>
      <p:sp>
        <p:nvSpPr>
          <p:cNvPr id="12" name="Shape 8"/>
          <p:cNvSpPr/>
          <p:nvPr/>
        </p:nvSpPr>
        <p:spPr>
          <a:xfrm>
            <a:off x="609905" y="3605784"/>
            <a:ext cx="38405" cy="1104595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875995" y="3806038"/>
            <a:ext cx="171907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23798" y="3758489"/>
            <a:ext cx="2086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Vibe Coding = 口头传达盖房</a:t>
            </a:r>
            <a:endParaRPr lang="en-US" sz="12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75995" y="4062984"/>
            <a:ext cx="28053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"边聊边改，想到哪说到哪 (Ad-hoc changes)"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75995" y="4329989"/>
            <a:ext cx="1914754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805" y="4386682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04595" y="4367479"/>
            <a:ext cx="16962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结果：房子可能盖歪，细节遗漏</a:t>
            </a:r>
            <a:endParaRPr lang="en-US" sz="900" dirty="0">
              <a:solidFill>
                <a:srgbClr val="EF4444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210605" y="3605784"/>
            <a:ext cx="5372100" cy="1104595"/>
          </a:xfrm>
          <a:prstGeom prst="roundRect">
            <a:avLst>
              <a:gd name="adj" fmla="val 5709"/>
            </a:avLst>
          </a:prstGeom>
          <a:solidFill>
            <a:srgbClr val="F8FAFC"/>
          </a:solidFill>
        </p:spPr>
      </p:sp>
      <p:sp>
        <p:nvSpPr>
          <p:cNvPr id="20" name="Shape 14"/>
          <p:cNvSpPr/>
          <p:nvPr/>
        </p:nvSpPr>
        <p:spPr>
          <a:xfrm>
            <a:off x="6210605" y="3605784"/>
            <a:ext cx="38405" cy="1104595"/>
          </a:xfrm>
          <a:prstGeom prst="rect">
            <a:avLst/>
          </a:prstGeom>
          <a:solidFill>
            <a:srgbClr val="059669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6695" y="3806038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05295" y="3758489"/>
            <a:ext cx="1800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47857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规范驱动 = 先出施工图纸</a:t>
            </a:r>
            <a:endParaRPr lang="en-US" sz="1200" dirty="0">
              <a:solidFill>
                <a:srgbClr val="047857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6476695" y="4062984"/>
            <a:ext cx="27294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"图纸明确所有细节和标准 (Blueprints first)"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476695" y="4329989"/>
            <a:ext cx="1686154" cy="2286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53505" y="4386682"/>
            <a:ext cx="114300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05295" y="4367479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结果：质量有保障，可复现</a:t>
            </a:r>
            <a:endParaRPr lang="en-US" sz="900" dirty="0">
              <a:solidFill>
                <a:srgbClr val="0596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09905" y="5015789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1E293B"/>
          </a:solidFill>
        </p:spPr>
      </p:sp>
      <p:sp>
        <p:nvSpPr>
          <p:cNvPr id="28" name="Shape 20"/>
          <p:cNvSpPr/>
          <p:nvPr/>
        </p:nvSpPr>
        <p:spPr>
          <a:xfrm>
            <a:off x="5952744" y="4873142"/>
            <a:ext cx="286207" cy="286207"/>
          </a:xfrm>
          <a:prstGeom prst="ellipse">
            <a:avLst/>
          </a:prstGeom>
          <a:solidFill>
            <a:srgbClr val="3B82F6"/>
          </a:solidFill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rcRect l="-2838" r="-2838"/>
          <a:stretch>
            <a:fillRect/>
          </a:stretch>
        </p:blipFill>
        <p:spPr>
          <a:xfrm>
            <a:off x="6034126" y="4949038"/>
            <a:ext cx="123444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743761" y="5216042"/>
            <a:ext cx="883493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"Vibe Coding 是编程的快餐 (Fast Food)—好吃但不健康。 规范驱动是健康快餐 (Healthy Fast Food)—既快又可靠。"</a:t>
            </a:r>
            <a:endParaRPr lang="en-US" sz="1300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609905" y="1391209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780898" y="1639011"/>
            <a:ext cx="10433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Vibe Coding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780898" y="1895958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对话驱动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780898" y="2191309"/>
            <a:ext cx="13862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速度极快 (High Speed)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780898" y="2457399"/>
            <a:ext cx="1215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直觉探索 (Intuitive)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780898" y="2724404"/>
            <a:ext cx="13670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质量不可控 (Unstable)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771754" y="1296111"/>
            <a:ext cx="228600" cy="228600"/>
          </a:xfrm>
          <a:prstGeom prst="ellipse">
            <a:avLst/>
          </a:prstGeom>
          <a:solidFill>
            <a:srgbClr val="F59E0B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851306" y="1307084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4486046" y="1372006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114300" dist="76200" dir="5400000" algn="bl" rotWithShape="0">
              <a:srgbClr val="3B82F6">
                <a:alpha val="20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4657954" y="1619809"/>
            <a:ext cx="881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Spec-First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4" name="Text 35"/>
          <p:cNvSpPr txBox="1"/>
          <p:nvPr/>
        </p:nvSpPr>
        <p:spPr>
          <a:xfrm>
            <a:off x="4657954" y="1876755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规范优先</a:t>
            </a:r>
            <a:endParaRPr lang="en-US" sz="900" dirty="0">
              <a:solidFill>
                <a:srgbClr val="3B82F6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4657954" y="2172106"/>
            <a:ext cx="15197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先定义后实现 (Def-First)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6" name="Text 37"/>
          <p:cNvSpPr txBox="1"/>
          <p:nvPr/>
        </p:nvSpPr>
        <p:spPr>
          <a:xfrm>
            <a:off x="4657954" y="2439111"/>
            <a:ext cx="14246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迭代有锚点 (Anchored)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7" name="Text 38"/>
          <p:cNvSpPr txBox="1"/>
          <p:nvPr/>
        </p:nvSpPr>
        <p:spPr>
          <a:xfrm>
            <a:off x="4657954" y="2705202"/>
            <a:ext cx="1338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质量有保障 (Reliable)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4647895" y="1276909"/>
            <a:ext cx="228600" cy="228600"/>
          </a:xfrm>
          <a:prstGeom prst="ellipse">
            <a:avLst/>
          </a:prstGeom>
          <a:solidFill>
            <a:srgbClr val="3B82F6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0"/>
          <p:cNvSpPr txBox="1"/>
          <p:nvPr/>
        </p:nvSpPr>
        <p:spPr>
          <a:xfrm>
            <a:off x="4728362" y="1287882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0" name="Shape 41"/>
          <p:cNvSpPr/>
          <p:nvPr/>
        </p:nvSpPr>
        <p:spPr>
          <a:xfrm>
            <a:off x="8363102" y="1391209"/>
            <a:ext cx="3219602" cy="17145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2"/>
          <p:cNvSpPr txBox="1"/>
          <p:nvPr/>
        </p:nvSpPr>
        <p:spPr>
          <a:xfrm>
            <a:off x="8534095" y="1639011"/>
            <a:ext cx="12435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Spec-as-Source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2" name="Text 43"/>
          <p:cNvSpPr txBox="1"/>
          <p:nvPr/>
        </p:nvSpPr>
        <p:spPr>
          <a:xfrm>
            <a:off x="8534095" y="1895958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规范即源码</a:t>
            </a:r>
            <a:endParaRPr lang="en-US" sz="900" dirty="0">
              <a:solidFill>
                <a:srgbClr val="0596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3" name="Text 44"/>
          <p:cNvSpPr txBox="1"/>
          <p:nvPr/>
        </p:nvSpPr>
        <p:spPr>
          <a:xfrm>
            <a:off x="8534095" y="2191309"/>
            <a:ext cx="1558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自动生成代码 (Auto-Gen)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4" name="Text 45"/>
          <p:cNvSpPr txBox="1"/>
          <p:nvPr/>
        </p:nvSpPr>
        <p:spPr>
          <a:xfrm>
            <a:off x="8534095" y="2457399"/>
            <a:ext cx="15005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一致性100% (Consistent)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8534095" y="2724404"/>
            <a:ext cx="13862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团队协作基石 (Collab)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6" name="Shape 47"/>
          <p:cNvSpPr/>
          <p:nvPr/>
        </p:nvSpPr>
        <p:spPr>
          <a:xfrm>
            <a:off x="8524951" y="1296111"/>
            <a:ext cx="228600" cy="228600"/>
          </a:xfrm>
          <a:prstGeom prst="ellipse">
            <a:avLst/>
          </a:prstGeom>
          <a:solidFill>
            <a:srgbClr val="059669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48"/>
          <p:cNvSpPr txBox="1"/>
          <p:nvPr/>
        </p:nvSpPr>
        <p:spPr>
          <a:xfrm>
            <a:off x="8604504" y="1307084"/>
            <a:ext cx="1792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3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05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3686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2.1 工具全景图（2025版）</a:t>
            </a:r>
            <a:endParaRPr lang="en-US" sz="21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6908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82719" y="295351"/>
            <a:ext cx="28675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主流AI编程工具四大类别与最新生态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8874" y="10799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655625" y="1165860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3214" y="1065276"/>
            <a:ext cx="9546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AI原生IDE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23214" y="1284732"/>
            <a:ext cx="1467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完整开发环境，深度集成AI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8874" y="1498702"/>
            <a:ext cx="504749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3913" y="1542593"/>
            <a:ext cx="4142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39342" y="1498702"/>
            <a:ext cx="609905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24382" y="1542593"/>
            <a:ext cx="51846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Windsurf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800454" y="1498702"/>
            <a:ext cx="7050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85493" y="1542593"/>
            <a:ext cx="6135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Antigravity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52090" y="149870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37130" y="1542593"/>
            <a:ext cx="2999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Trae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987345" y="149870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73298" y="1542593"/>
            <a:ext cx="2999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Kiro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423514" y="1498702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09467" y="1542593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Augment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88874" y="2398471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491740"/>
            <a:ext cx="114300" cy="1143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40334" y="2475281"/>
            <a:ext cx="14008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适合中大型项目 (1000+行)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663647"/>
            <a:ext cx="114300" cy="1143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0334" y="2646274"/>
            <a:ext cx="1515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Agent模式：整项目自主开发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664769" y="2834640"/>
            <a:ext cx="114300" cy="1143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0334" y="2817266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深度上下文理解与引用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172200" y="914400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03874" y="10799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CFDF5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6379769" y="1165860"/>
            <a:ext cx="190195" cy="1719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38214" y="1065276"/>
            <a:ext cx="13075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CLI 命令行工具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6738214" y="1284732"/>
            <a:ext cx="13533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极客首选，脚本与自动化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303874" y="1498702"/>
            <a:ext cx="761695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388913" y="1542593"/>
            <a:ext cx="67117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Code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7117690" y="1498702"/>
            <a:ext cx="685800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203643" y="1542593"/>
            <a:ext cx="5943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Codex CLI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7848295" y="1498702"/>
            <a:ext cx="733349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934249" y="1542593"/>
            <a:ext cx="6428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Gemini CLI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8627364" y="1498702"/>
            <a:ext cx="437998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712403" y="1542593"/>
            <a:ext cx="34747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Droid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6303874" y="2398471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491740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555334" y="2475281"/>
            <a:ext cx="13533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适合复杂算法与深度推理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663647"/>
            <a:ext cx="114300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555334" y="2646274"/>
            <a:ext cx="15051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超大上下文窗口 (200K - 1M)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379769" y="2834640"/>
            <a:ext cx="114300" cy="1143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555334" y="2817266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自动化任务分解与执行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457200" y="3326587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588874" y="349117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BEB"/>
          </a:solidFill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5"/>
          <a:srcRect t="-1310" b="-1310"/>
          <a:stretch>
            <a:fillRect/>
          </a:stretch>
        </p:blipFill>
        <p:spPr>
          <a:xfrm>
            <a:off x="655625" y="3577133"/>
            <a:ext cx="209398" cy="171907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23214" y="3476549"/>
            <a:ext cx="9646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云平台开发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6" name="Text 45"/>
          <p:cNvSpPr txBox="1"/>
          <p:nvPr/>
        </p:nvSpPr>
        <p:spPr>
          <a:xfrm>
            <a:off x="1023214" y="3696919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在线开发，零配置环境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7" name="Shape 46"/>
          <p:cNvSpPr/>
          <p:nvPr/>
        </p:nvSpPr>
        <p:spPr>
          <a:xfrm>
            <a:off x="588874" y="3909974"/>
            <a:ext cx="457200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673913" y="3953866"/>
            <a:ext cx="3657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Replit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9" name="Shape 48"/>
          <p:cNvSpPr/>
          <p:nvPr/>
        </p:nvSpPr>
        <p:spPr>
          <a:xfrm>
            <a:off x="1091794" y="3909974"/>
            <a:ext cx="5623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1177747" y="3953866"/>
            <a:ext cx="4709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bolt.new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1" name="Shape 50"/>
          <p:cNvSpPr/>
          <p:nvPr/>
        </p:nvSpPr>
        <p:spPr>
          <a:xfrm>
            <a:off x="1704442" y="3909974"/>
            <a:ext cx="543154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790395" y="3953866"/>
            <a:ext cx="45171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Lovable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3" name="Shape 52"/>
          <p:cNvSpPr/>
          <p:nvPr/>
        </p:nvSpPr>
        <p:spPr>
          <a:xfrm>
            <a:off x="2296058" y="3909974"/>
            <a:ext cx="543154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2382012" y="3953866"/>
            <a:ext cx="45171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Orchids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5" name="Shape 54"/>
          <p:cNvSpPr/>
          <p:nvPr/>
        </p:nvSpPr>
        <p:spPr>
          <a:xfrm>
            <a:off x="588874" y="4810658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4903927"/>
            <a:ext cx="114300" cy="11430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40334" y="4886554"/>
            <a:ext cx="1467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无需环境配置，浏览器即用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5074920"/>
            <a:ext cx="114300" cy="11430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840334" y="5058461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实时全栈应用预览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664769" y="5246827"/>
            <a:ext cx="114300" cy="114300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840334" y="5229454"/>
            <a:ext cx="1467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适合教学、演示与快速原型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72" name="Shape 58"/>
          <p:cNvSpPr/>
          <p:nvPr/>
        </p:nvSpPr>
        <p:spPr>
          <a:xfrm>
            <a:off x="6172200" y="3326587"/>
            <a:ext cx="5562295" cy="226679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6303874" y="3491179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F3FF"/>
          </a:solidFill>
        </p:spPr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388913" y="3577133"/>
            <a:ext cx="171907" cy="171907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6738214" y="3476549"/>
            <a:ext cx="8028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辅助工具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76" name="Text 61"/>
          <p:cNvSpPr txBox="1"/>
          <p:nvPr/>
        </p:nvSpPr>
        <p:spPr>
          <a:xfrm>
            <a:off x="6738214" y="3696919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特定任务增强与可视化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77" name="Shape 62"/>
          <p:cNvSpPr/>
          <p:nvPr/>
        </p:nvSpPr>
        <p:spPr>
          <a:xfrm>
            <a:off x="6303874" y="3909974"/>
            <a:ext cx="857707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6388913" y="3953866"/>
            <a:ext cx="7662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369A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Augment Code</a:t>
            </a:r>
            <a:endParaRPr lang="en-US" sz="800" dirty="0">
              <a:solidFill>
                <a:srgbClr val="0369A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9" name="Shape 64"/>
          <p:cNvSpPr/>
          <p:nvPr/>
        </p:nvSpPr>
        <p:spPr>
          <a:xfrm>
            <a:off x="7211873" y="3909974"/>
            <a:ext cx="457200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7297826" y="3953866"/>
            <a:ext cx="3657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Zread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1" name="Shape 66"/>
          <p:cNvSpPr/>
          <p:nvPr/>
        </p:nvSpPr>
        <p:spPr>
          <a:xfrm>
            <a:off x="7712964" y="390997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7798918" y="3953866"/>
            <a:ext cx="6995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NotebookLM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3" name="Shape 68"/>
          <p:cNvSpPr/>
          <p:nvPr/>
        </p:nvSpPr>
        <p:spPr>
          <a:xfrm>
            <a:off x="8547811" y="3909974"/>
            <a:ext cx="905256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69"/>
          <p:cNvSpPr txBox="1"/>
          <p:nvPr/>
        </p:nvSpPr>
        <p:spPr>
          <a:xfrm>
            <a:off x="8633765" y="3953866"/>
            <a:ext cx="8138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Mermaid Chart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5" name="Shape 70"/>
          <p:cNvSpPr/>
          <p:nvPr/>
        </p:nvSpPr>
        <p:spPr>
          <a:xfrm>
            <a:off x="6303874" y="4810658"/>
            <a:ext cx="5305349" cy="647395"/>
          </a:xfrm>
          <a:prstGeom prst="roundRect">
            <a:avLst>
              <a:gd name="adj" fmla="val 12463"/>
            </a:avLst>
          </a:prstGeom>
          <a:solidFill>
            <a:srgbClr val="F8FAFC"/>
          </a:solidFill>
        </p:spPr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4903927"/>
            <a:ext cx="114300" cy="114300"/>
          </a:xfrm>
          <a:prstGeom prst="rect">
            <a:avLst/>
          </a:prstGeom>
        </p:spPr>
      </p:pic>
      <p:sp>
        <p:nvSpPr>
          <p:cNvPr id="87" name="Text 71"/>
          <p:cNvSpPr txBox="1"/>
          <p:nvPr/>
        </p:nvSpPr>
        <p:spPr>
          <a:xfrm>
            <a:off x="6555334" y="4886554"/>
            <a:ext cx="896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上下文引擎增强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5074920"/>
            <a:ext cx="114300" cy="114300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6555334" y="5058461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文档解读与架构可视化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379769" y="5246827"/>
            <a:ext cx="114300" cy="114300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6555334" y="5229454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特定场景效率提升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92" name="Shape 74"/>
          <p:cNvSpPr/>
          <p:nvPr/>
        </p:nvSpPr>
        <p:spPr>
          <a:xfrm>
            <a:off x="457200" y="5707685"/>
            <a:ext cx="11277295" cy="504749"/>
          </a:xfrm>
          <a:prstGeom prst="roundRect">
            <a:avLst>
              <a:gd name="adj" fmla="val 27345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93" name="Image 16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619049" y="5873191"/>
            <a:ext cx="133502" cy="171907"/>
          </a:xfrm>
          <a:prstGeom prst="rect">
            <a:avLst/>
          </a:prstGeom>
        </p:spPr>
      </p:pic>
      <p:sp>
        <p:nvSpPr>
          <p:cNvPr id="94" name="Text 75"/>
          <p:cNvSpPr txBox="1"/>
          <p:nvPr/>
        </p:nvSpPr>
        <p:spPr>
          <a:xfrm>
            <a:off x="866851" y="5797296"/>
            <a:ext cx="18342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2410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核心建议：组合优于单一选择</a:t>
            </a:r>
            <a:endParaRPr lang="en-US" sz="1000" dirty="0">
              <a:solidFill>
                <a:srgbClr val="C2410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95" name="Text 76"/>
          <p:cNvSpPr txBox="1"/>
          <p:nvPr/>
        </p:nvSpPr>
        <p:spPr>
          <a:xfrm>
            <a:off x="866851" y="5996635"/>
            <a:ext cx="4000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科研场景推荐组合：AI原生IDE (用于构建项目) + CLI工具 (用于复杂算法推理)</a:t>
            </a:r>
            <a:endParaRPr lang="en-US" sz="900" dirty="0">
              <a:solidFill>
                <a:srgbClr val="C2410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96" name="Shape 77"/>
          <p:cNvSpPr/>
          <p:nvPr/>
        </p:nvSpPr>
        <p:spPr>
          <a:xfrm>
            <a:off x="10220249" y="5834786"/>
            <a:ext cx="1362456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7" name="Image 1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306202" y="5896966"/>
            <a:ext cx="114300" cy="114300"/>
          </a:xfrm>
          <a:prstGeom prst="rect">
            <a:avLst/>
          </a:prstGeom>
        </p:spPr>
      </p:pic>
      <p:sp>
        <p:nvSpPr>
          <p:cNvPr id="98" name="Text 78"/>
          <p:cNvSpPr txBox="1"/>
          <p:nvPr/>
        </p:nvSpPr>
        <p:spPr>
          <a:xfrm>
            <a:off x="10457993" y="5892394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 Regular" panose="02020503050405090304" charset="0"/>
                <a:ea typeface="ui-serif" pitchFamily="34" charset="-122"/>
                <a:cs typeface="Times New Roman Regular" panose="02020503050405090304" charset="0"/>
              </a:rPr>
              <a:t>2025年</a:t>
            </a:r>
            <a:endParaRPr lang="en-US" sz="900" dirty="0">
              <a:solidFill>
                <a:srgbClr val="C2410C"/>
              </a:solidFill>
              <a:latin typeface="Times New Roman Regular" panose="02020503050405090304" charset="0"/>
              <a:ea typeface="ui-serif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06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" name="Shape 4"/>
          <p:cNvSpPr/>
          <p:nvPr/>
        </p:nvSpPr>
        <p:spPr>
          <a:xfrm>
            <a:off x="384962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64178" y="267005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Cursor / Windsurf / Antigravity 核心能力解析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905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1929" y="1897380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Shape 8"/>
          <p:cNvSpPr/>
          <p:nvPr/>
        </p:nvSpPr>
        <p:spPr>
          <a:xfrm>
            <a:off x="801929" y="130576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0F172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1004" r="-1004"/>
          <a:stretch>
            <a:fillRect/>
          </a:stretch>
        </p:blipFill>
        <p:spPr>
          <a:xfrm>
            <a:off x="944575" y="1410919"/>
            <a:ext cx="133502" cy="20939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43254" y="1249985"/>
            <a:ext cx="81747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</a:t>
            </a:r>
            <a:endParaRPr lang="en-US" sz="16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343254" y="1539850"/>
            <a:ext cx="13523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</p:spPr>
      </p:sp>
      <p:sp>
        <p:nvSpPr>
          <p:cNvPr id="14" name="Text 11"/>
          <p:cNvSpPr txBox="1"/>
          <p:nvPr/>
        </p:nvSpPr>
        <p:spPr>
          <a:xfrm>
            <a:off x="1419149" y="1577340"/>
            <a:ext cx="12975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$20 Pro / $40 Business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1929" y="2025396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3369" y="2130552"/>
            <a:ext cx="123444" cy="1234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3470" y="2120265"/>
            <a:ext cx="1791970" cy="146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4.5  / GPT-5.1、5.2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2556561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11326" y="2537358"/>
            <a:ext cx="8211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Agent模式：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730959" y="2537358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项目级自主开发，支持重构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2797962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1326" y="2779674"/>
            <a:ext cx="8028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Composer：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709014" y="2779674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多文件联动修改，效率倍增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3040278"/>
            <a:ext cx="133502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11326" y="3021990"/>
            <a:ext cx="8695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@引用系统：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1779422" y="3021990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精准控制上下文，减少幻觉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3282594"/>
            <a:ext cx="133502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11326" y="3264306"/>
            <a:ext cx="897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.cursorrules：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1805940" y="3264306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定义项目规范，统一标准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801929" y="4807001"/>
            <a:ext cx="3124505" cy="780898"/>
          </a:xfrm>
          <a:prstGeom prst="roundRect">
            <a:avLst>
              <a:gd name="adj" fmla="val 114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02513" y="4907585"/>
            <a:ext cx="5285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800" b="1" dirty="0">
              <a:solidFill>
                <a:srgbClr val="0369A1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902513" y="5113325"/>
            <a:ext cx="133502" cy="123444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1036015" y="5113325"/>
            <a:ext cx="133502" cy="123444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1169518" y="5113325"/>
            <a:ext cx="133502" cy="123444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1303020" y="5113325"/>
            <a:ext cx="133502" cy="123444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1436522" y="5113325"/>
            <a:ext cx="133502" cy="1234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02513" y="5311750"/>
            <a:ext cx="1905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复杂算法 • 大规模数据 • 论文代码</a:t>
            </a:r>
            <a:endParaRPr lang="en-US" sz="900" dirty="0">
              <a:solidFill>
                <a:srgbClr val="0C4A6E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4343400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4535424" y="1897380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Shape 27"/>
          <p:cNvSpPr/>
          <p:nvPr/>
        </p:nvSpPr>
        <p:spPr>
          <a:xfrm>
            <a:off x="4535424" y="130576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0EA5E9"/>
          </a:solidFill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40580" y="1410919"/>
            <a:ext cx="209398" cy="20939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076749" y="1249985"/>
            <a:ext cx="103693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Windsurf</a:t>
            </a:r>
            <a:endParaRPr lang="en-US" sz="16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5076749" y="1539850"/>
            <a:ext cx="1304849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</p:spPr>
      </p:sp>
      <p:sp>
        <p:nvSpPr>
          <p:cNvPr id="44" name="Text 30"/>
          <p:cNvSpPr txBox="1"/>
          <p:nvPr/>
        </p:nvSpPr>
        <p:spPr>
          <a:xfrm>
            <a:off x="5152644" y="1577340"/>
            <a:ext cx="12499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$15/月 (1000 Credits)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Shape 31"/>
          <p:cNvSpPr/>
          <p:nvPr/>
        </p:nvSpPr>
        <p:spPr>
          <a:xfrm>
            <a:off x="4535424" y="2025396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26864" y="2130552"/>
            <a:ext cx="123444" cy="123444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4827118" y="2120494"/>
            <a:ext cx="15489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Cascade Flow / Claude / GPT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2521001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4744822" y="2501798"/>
            <a:ext cx="1002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Cascade Flow：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0" name="Text 34"/>
          <p:cNvSpPr txBox="1"/>
          <p:nvPr/>
        </p:nvSpPr>
        <p:spPr>
          <a:xfrm>
            <a:off x="5640934" y="2501798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领先的迭代式工作流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2762402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4744822" y="2744114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多模型支持：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3" name="Text 36"/>
          <p:cNvSpPr txBox="1"/>
          <p:nvPr/>
        </p:nvSpPr>
        <p:spPr>
          <a:xfrm>
            <a:off x="5522062" y="2744114"/>
            <a:ext cx="15361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Cascade集成Claude与GPT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3004718"/>
            <a:ext cx="133502" cy="133502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4744822" y="2986430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多文件感知：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6" name="Text 38"/>
          <p:cNvSpPr txBox="1"/>
          <p:nvPr/>
        </p:nvSpPr>
        <p:spPr>
          <a:xfrm>
            <a:off x="5522062" y="2986430"/>
            <a:ext cx="13926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出色的上下文理解能力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3247034"/>
            <a:ext cx="133502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4744822" y="3228746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高性价比：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9" name="Text 40"/>
          <p:cNvSpPr txBox="1"/>
          <p:nvPr/>
        </p:nvSpPr>
        <p:spPr>
          <a:xfrm>
            <a:off x="5392217" y="3228746"/>
            <a:ext cx="10789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比Cursor便宜25%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0" name="Shape 41"/>
          <p:cNvSpPr/>
          <p:nvPr/>
        </p:nvSpPr>
        <p:spPr>
          <a:xfrm>
            <a:off x="4535424" y="4807001"/>
            <a:ext cx="3124505" cy="780898"/>
          </a:xfrm>
          <a:prstGeom prst="roundRect">
            <a:avLst>
              <a:gd name="adj" fmla="val 114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1" name="Text 42"/>
          <p:cNvSpPr txBox="1"/>
          <p:nvPr/>
        </p:nvSpPr>
        <p:spPr>
          <a:xfrm>
            <a:off x="4636922" y="4907585"/>
            <a:ext cx="5285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800" b="1" dirty="0">
              <a:solidFill>
                <a:srgbClr val="0369A1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4636922" y="5113325"/>
            <a:ext cx="133502" cy="123444"/>
          </a:xfrm>
          <a:prstGeom prst="rect">
            <a:avLst/>
          </a:prstGeom>
        </p:spPr>
      </p:pic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4769510" y="5113325"/>
            <a:ext cx="133502" cy="123444"/>
          </a:xfrm>
          <a:prstGeom prst="rect">
            <a:avLst/>
          </a:prstGeom>
        </p:spPr>
      </p:pic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4903013" y="5113325"/>
            <a:ext cx="133502" cy="123444"/>
          </a:xfrm>
          <a:prstGeom prst="rect">
            <a:avLst/>
          </a:prstGeom>
        </p:spPr>
      </p:pic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5036515" y="5113325"/>
            <a:ext cx="133502" cy="123444"/>
          </a:xfrm>
          <a:prstGeom prst="rect">
            <a:avLst/>
          </a:prstGeom>
        </p:spPr>
      </p:pic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7"/>
          <a:srcRect t="-2012" b="-2012"/>
          <a:stretch>
            <a:fillRect/>
          </a:stretch>
        </p:blipFill>
        <p:spPr>
          <a:xfrm>
            <a:off x="5170018" y="5113325"/>
            <a:ext cx="133502" cy="123444"/>
          </a:xfrm>
          <a:prstGeom prst="rect">
            <a:avLst/>
          </a:prstGeom>
        </p:spPr>
      </p:pic>
      <p:sp>
        <p:nvSpPr>
          <p:cNvPr id="67" name="Text 43"/>
          <p:cNvSpPr txBox="1"/>
          <p:nvPr/>
        </p:nvSpPr>
        <p:spPr>
          <a:xfrm>
            <a:off x="4636922" y="5311750"/>
            <a:ext cx="1791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数据脚本 • 快速原型 • 实验迭代</a:t>
            </a:r>
            <a:endParaRPr lang="en-US" sz="900" dirty="0">
              <a:solidFill>
                <a:srgbClr val="0C4A6E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8" name="Shape 44"/>
          <p:cNvSpPr/>
          <p:nvPr/>
        </p:nvSpPr>
        <p:spPr>
          <a:xfrm>
            <a:off x="8076895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45"/>
          <p:cNvSpPr/>
          <p:nvPr/>
        </p:nvSpPr>
        <p:spPr>
          <a:xfrm>
            <a:off x="8269834" y="1897380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0" name="Shape 46"/>
          <p:cNvSpPr/>
          <p:nvPr/>
        </p:nvSpPr>
        <p:spPr>
          <a:xfrm>
            <a:off x="8269834" y="130576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4285F4"/>
          </a:solidFill>
        </p:spPr>
      </p:sp>
      <p:pic>
        <p:nvPicPr>
          <p:cNvPr id="71" name="Image 22" descr="preencoded.png"/>
          <p:cNvPicPr>
            <a:picLocks noChangeAspect="1"/>
          </p:cNvPicPr>
          <p:nvPr/>
        </p:nvPicPr>
        <p:blipFill>
          <a:blip r:embed="rId8"/>
          <a:srcRect l="-168" r="-168"/>
          <a:stretch>
            <a:fillRect/>
          </a:stretch>
        </p:blipFill>
        <p:spPr>
          <a:xfrm>
            <a:off x="8378647" y="1410919"/>
            <a:ext cx="200254" cy="209398"/>
          </a:xfrm>
          <a:prstGeom prst="rect">
            <a:avLst/>
          </a:prstGeom>
        </p:spPr>
      </p:pic>
      <p:sp>
        <p:nvSpPr>
          <p:cNvPr id="72" name="Text 47"/>
          <p:cNvSpPr txBox="1"/>
          <p:nvPr/>
        </p:nvSpPr>
        <p:spPr>
          <a:xfrm>
            <a:off x="8810244" y="1249985"/>
            <a:ext cx="121798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Antigravity</a:t>
            </a:r>
            <a:endParaRPr lang="en-US" sz="16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8810244" y="1539850"/>
            <a:ext cx="1314907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</p:spPr>
      </p:sp>
      <p:sp>
        <p:nvSpPr>
          <p:cNvPr id="74" name="Text 49"/>
          <p:cNvSpPr txBox="1"/>
          <p:nvPr/>
        </p:nvSpPr>
        <p:spPr>
          <a:xfrm>
            <a:off x="8887054" y="1577340"/>
            <a:ext cx="12600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完全免费 (2025新政)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5" name="Shape 50"/>
          <p:cNvSpPr/>
          <p:nvPr/>
        </p:nvSpPr>
        <p:spPr>
          <a:xfrm>
            <a:off x="8269834" y="2025396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61274" y="2130552"/>
            <a:ext cx="123444" cy="123444"/>
          </a:xfrm>
          <a:prstGeom prst="rect">
            <a:avLst/>
          </a:prstGeom>
        </p:spPr>
      </p:pic>
      <p:sp>
        <p:nvSpPr>
          <p:cNvPr id="77" name="Text 51"/>
          <p:cNvSpPr txBox="1"/>
          <p:nvPr/>
        </p:nvSpPr>
        <p:spPr>
          <a:xfrm>
            <a:off x="8560435" y="2120265"/>
            <a:ext cx="2088515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Opus 4.5 + Gemini 3.0 Pro、</a:t>
            </a: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Flash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2521001"/>
            <a:ext cx="133502" cy="133502"/>
          </a:xfrm>
          <a:prstGeom prst="rect">
            <a:avLst/>
          </a:prstGeom>
        </p:spPr>
      </p:pic>
      <p:sp>
        <p:nvSpPr>
          <p:cNvPr id="79" name="Text 52"/>
          <p:cNvSpPr txBox="1"/>
          <p:nvPr/>
        </p:nvSpPr>
        <p:spPr>
          <a:xfrm>
            <a:off x="8479231" y="2501798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3模型协同：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0" name="Text 53"/>
          <p:cNvSpPr txBox="1"/>
          <p:nvPr/>
        </p:nvSpPr>
        <p:spPr>
          <a:xfrm>
            <a:off x="9255760" y="2501900"/>
            <a:ext cx="2326640" cy="172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Claude、Gemini、GPT-OSS120</a:t>
            </a: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B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2762402"/>
            <a:ext cx="133502" cy="133502"/>
          </a:xfrm>
          <a:prstGeom prst="rect">
            <a:avLst/>
          </a:prstGeom>
        </p:spPr>
      </p:pic>
      <p:sp>
        <p:nvSpPr>
          <p:cNvPr id="82" name="Text 54"/>
          <p:cNvSpPr txBox="1"/>
          <p:nvPr/>
        </p:nvSpPr>
        <p:spPr>
          <a:xfrm>
            <a:off x="8479231" y="2744114"/>
            <a:ext cx="10122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多智能体异步：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3" name="Text 55"/>
          <p:cNvSpPr txBox="1"/>
          <p:nvPr/>
        </p:nvSpPr>
        <p:spPr>
          <a:xfrm>
            <a:off x="9385402" y="2744114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任务并行处理，提升效率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3004718"/>
            <a:ext cx="133502" cy="133502"/>
          </a:xfrm>
          <a:prstGeom prst="rect">
            <a:avLst/>
          </a:prstGeom>
        </p:spPr>
      </p:pic>
      <p:sp>
        <p:nvSpPr>
          <p:cNvPr id="85" name="Text 56"/>
          <p:cNvSpPr txBox="1"/>
          <p:nvPr/>
        </p:nvSpPr>
        <p:spPr>
          <a:xfrm>
            <a:off x="8479231" y="2986430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跨平台同步：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6" name="Text 57"/>
          <p:cNvSpPr txBox="1"/>
          <p:nvPr/>
        </p:nvSpPr>
        <p:spPr>
          <a:xfrm>
            <a:off x="9255557" y="2986430"/>
            <a:ext cx="17739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VSCode/终端/浏览器无缝切换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3247034"/>
            <a:ext cx="133502" cy="133502"/>
          </a:xfrm>
          <a:prstGeom prst="rect">
            <a:avLst/>
          </a:prstGeom>
        </p:spPr>
      </p:pic>
      <p:sp>
        <p:nvSpPr>
          <p:cNvPr id="88" name="Text 58"/>
          <p:cNvSpPr txBox="1"/>
          <p:nvPr/>
        </p:nvSpPr>
        <p:spPr>
          <a:xfrm>
            <a:off x="8479231" y="3228746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Google生态：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9" name="Text 59"/>
          <p:cNvSpPr txBox="1"/>
          <p:nvPr/>
        </p:nvSpPr>
        <p:spPr>
          <a:xfrm>
            <a:off x="9255557" y="3228746"/>
            <a:ext cx="13926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深度整合，零成本使用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90" name="Shape 60"/>
          <p:cNvSpPr/>
          <p:nvPr/>
        </p:nvSpPr>
        <p:spPr>
          <a:xfrm>
            <a:off x="8269834" y="4807001"/>
            <a:ext cx="3124505" cy="780898"/>
          </a:xfrm>
          <a:prstGeom prst="roundRect">
            <a:avLst>
              <a:gd name="adj" fmla="val 114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1" name="Text 61"/>
          <p:cNvSpPr txBox="1"/>
          <p:nvPr/>
        </p:nvSpPr>
        <p:spPr>
          <a:xfrm>
            <a:off x="8370418" y="4907585"/>
            <a:ext cx="5285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800" b="1" dirty="0">
              <a:solidFill>
                <a:srgbClr val="0369A1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92" name="Image 28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8370418" y="5113325"/>
            <a:ext cx="133502" cy="123444"/>
          </a:xfrm>
          <a:prstGeom prst="rect">
            <a:avLst/>
          </a:prstGeom>
        </p:spPr>
      </p:pic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8503920" y="5113325"/>
            <a:ext cx="133502" cy="123444"/>
          </a:xfrm>
          <a:prstGeom prst="rect">
            <a:avLst/>
          </a:prstGeom>
        </p:spPr>
      </p:pic>
      <p:pic>
        <p:nvPicPr>
          <p:cNvPr id="94" name="Image 30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8637422" y="5113325"/>
            <a:ext cx="133502" cy="123444"/>
          </a:xfrm>
          <a:prstGeom prst="rect">
            <a:avLst/>
          </a:prstGeom>
        </p:spPr>
      </p:pic>
      <p:pic>
        <p:nvPicPr>
          <p:cNvPr id="95" name="Image 31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8770010" y="5113325"/>
            <a:ext cx="133502" cy="123444"/>
          </a:xfrm>
          <a:prstGeom prst="rect">
            <a:avLst/>
          </a:prstGeom>
        </p:spPr>
      </p:pic>
      <p:pic>
        <p:nvPicPr>
          <p:cNvPr id="96" name="Image 32" descr="preencoded.png"/>
          <p:cNvPicPr>
            <a:picLocks noChangeAspect="1"/>
          </p:cNvPicPr>
          <p:nvPr/>
        </p:nvPicPr>
        <p:blipFill>
          <a:blip r:embed="rId4"/>
          <a:srcRect t="-2012" b="-2012"/>
          <a:stretch>
            <a:fillRect/>
          </a:stretch>
        </p:blipFill>
        <p:spPr>
          <a:xfrm>
            <a:off x="8903513" y="5113325"/>
            <a:ext cx="133502" cy="123444"/>
          </a:xfrm>
          <a:prstGeom prst="rect">
            <a:avLst/>
          </a:prstGeom>
        </p:spPr>
      </p:pic>
      <p:sp>
        <p:nvSpPr>
          <p:cNvPr id="97" name="Text 62"/>
          <p:cNvSpPr txBox="1"/>
          <p:nvPr/>
        </p:nvSpPr>
        <p:spPr>
          <a:xfrm>
            <a:off x="8370418" y="5311750"/>
            <a:ext cx="1791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学生首选 • 代码重构 • 算法探索</a:t>
            </a:r>
            <a:endParaRPr lang="en-US" sz="900" dirty="0">
              <a:solidFill>
                <a:srgbClr val="0C4A6E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98" name="Shape 63"/>
          <p:cNvSpPr/>
          <p:nvPr/>
        </p:nvSpPr>
        <p:spPr>
          <a:xfrm>
            <a:off x="609905" y="6004865"/>
            <a:ext cx="10972800" cy="400507"/>
          </a:xfrm>
          <a:prstGeom prst="roundRect">
            <a:avLst>
              <a:gd name="adj" fmla="val 434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9" name="Image 3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71754" y="6135624"/>
            <a:ext cx="133502" cy="133502"/>
          </a:xfrm>
          <a:prstGeom prst="rect">
            <a:avLst/>
          </a:prstGeom>
        </p:spPr>
      </p:pic>
      <p:sp>
        <p:nvSpPr>
          <p:cNvPr id="100" name="Text 64"/>
          <p:cNvSpPr txBox="1"/>
          <p:nvPr/>
        </p:nvSpPr>
        <p:spPr>
          <a:xfrm>
            <a:off x="981151" y="6124651"/>
            <a:ext cx="67747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Cursor推出$40企业版增强隐私；Windsurf积分制更灵活；Antigravity目前完全免费但需Google账号。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1" name="Shape 65"/>
          <p:cNvSpPr/>
          <p:nvPr/>
        </p:nvSpPr>
        <p:spPr>
          <a:xfrm>
            <a:off x="3404311" y="1076249"/>
            <a:ext cx="705002" cy="24780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2" name="Text 66"/>
          <p:cNvSpPr txBox="1"/>
          <p:nvPr/>
        </p:nvSpPr>
        <p:spPr>
          <a:xfrm>
            <a:off x="3525926" y="1114654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行业标杆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3" name="Shape 67"/>
          <p:cNvSpPr/>
          <p:nvPr/>
        </p:nvSpPr>
        <p:spPr>
          <a:xfrm>
            <a:off x="7023506" y="1076249"/>
            <a:ext cx="819302" cy="24780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4" name="Text 68"/>
          <p:cNvSpPr txBox="1"/>
          <p:nvPr/>
        </p:nvSpPr>
        <p:spPr>
          <a:xfrm>
            <a:off x="7145122" y="1114654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性价比之选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5" name="Shape 69"/>
          <p:cNvSpPr/>
          <p:nvPr/>
        </p:nvSpPr>
        <p:spPr>
          <a:xfrm>
            <a:off x="10704881" y="1076249"/>
            <a:ext cx="875995" cy="24780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6" name="Text 70"/>
          <p:cNvSpPr txBox="1"/>
          <p:nvPr/>
        </p:nvSpPr>
        <p:spPr>
          <a:xfrm>
            <a:off x="10826496" y="1114654"/>
            <a:ext cx="7150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Google免费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08" name="Text 80"/>
          <p:cNvSpPr txBox="1"/>
          <p:nvPr/>
        </p:nvSpPr>
        <p:spPr>
          <a:xfrm>
            <a:off x="11582705" y="6429146"/>
            <a:ext cx="267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07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9" name="Text 3"/>
          <p:cNvSpPr txBox="1"/>
          <p:nvPr/>
        </p:nvSpPr>
        <p:spPr>
          <a:xfrm>
            <a:off x="457200" y="184709"/>
            <a:ext cx="350215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2.2 AI原生IDE对比（</a:t>
            </a:r>
            <a:r>
              <a:rPr lang="zh-CN" alt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上</a:t>
            </a: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）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44"/>
          <p:cNvSpPr/>
          <p:nvPr/>
        </p:nvSpPr>
        <p:spPr>
          <a:xfrm>
            <a:off x="8076895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5" name="Shape 25"/>
          <p:cNvSpPr/>
          <p:nvPr/>
        </p:nvSpPr>
        <p:spPr>
          <a:xfrm>
            <a:off x="4343400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3" name="Shape 6"/>
          <p:cNvSpPr/>
          <p:nvPr/>
        </p:nvSpPr>
        <p:spPr>
          <a:xfrm>
            <a:off x="609905" y="1067105"/>
            <a:ext cx="3504895" cy="47146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184709"/>
            <a:ext cx="350215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2.2 AI原生IDE对比（下）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5536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69918" y="267005"/>
            <a:ext cx="2809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本土化方案 / 规范驱动 / 高端上下文引擎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1104595"/>
            <a:ext cx="619049" cy="237744"/>
          </a:xfrm>
          <a:prstGeom prst="roundRect">
            <a:avLst>
              <a:gd name="adj" fmla="val 61538"/>
            </a:avLst>
          </a:prstGeom>
          <a:solidFill>
            <a:srgbClr val="DCFCE7"/>
          </a:solidFill>
        </p:spPr>
      </p:sp>
      <p:sp>
        <p:nvSpPr>
          <p:cNvPr id="10" name="Text 8"/>
          <p:cNvSpPr txBox="1"/>
          <p:nvPr/>
        </p:nvSpPr>
        <p:spPr>
          <a:xfrm>
            <a:off x="3368650" y="1135685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国内免费</a:t>
            </a:r>
            <a:endParaRPr lang="en-US" sz="900" b="1" dirty="0">
              <a:solidFill>
                <a:srgbClr val="166534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" y="1714500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" name="Shape 10"/>
          <p:cNvSpPr/>
          <p:nvPr/>
        </p:nvSpPr>
        <p:spPr>
          <a:xfrm>
            <a:off x="649224" y="1160374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FEF2F2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l="-1004" r="-1004"/>
          <a:stretch>
            <a:fillRect/>
          </a:stretch>
        </p:blipFill>
        <p:spPr>
          <a:xfrm>
            <a:off x="715975" y="1255471"/>
            <a:ext cx="267005" cy="20939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1346" y="1104595"/>
            <a:ext cx="84399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Trae 🇨🇳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71346" y="1432865"/>
            <a:ext cx="11969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字节跳动本土化方案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49224" y="183794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487729" y="1837944"/>
            <a:ext cx="12216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Doubao / Claude 3.7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49224" y="2078431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限制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487729" y="2059229"/>
            <a:ext cx="11740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10快速+50慢速/月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49224" y="2424989"/>
            <a:ext cx="3228746" cy="2734056"/>
          </a:xfrm>
          <a:prstGeom prst="roundRect">
            <a:avLst>
              <a:gd name="adj" fmla="val 932"/>
            </a:avLst>
          </a:prstGeom>
          <a:solidFill>
            <a:srgbClr val="F8FAFC"/>
          </a:solidFill>
        </p:spPr>
      </p:sp>
      <p:sp>
        <p:nvSpPr>
          <p:cNvPr id="21" name="Text 18"/>
          <p:cNvSpPr txBox="1"/>
          <p:nvPr/>
        </p:nvSpPr>
        <p:spPr>
          <a:xfrm>
            <a:off x="771754" y="2546604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900" b="1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71754" y="2824582"/>
            <a:ext cx="133502" cy="1143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81151" y="2785262"/>
            <a:ext cx="16596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完全本土化体验，无需代理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71754" y="3066898"/>
            <a:ext cx="133502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81151" y="3027578"/>
            <a:ext cx="16596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实时Web预览，可视化开发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71754" y="3309214"/>
            <a:ext cx="133502" cy="1143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81151" y="3269894"/>
            <a:ext cx="1764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智能Bug修复与中文文档生成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49224" y="5127549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3"/>
          <p:cNvSpPr txBox="1"/>
          <p:nvPr/>
        </p:nvSpPr>
        <p:spPr>
          <a:xfrm>
            <a:off x="649224" y="529214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649224" y="5527142"/>
            <a:ext cx="152705" cy="123444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01929" y="5527142"/>
            <a:ext cx="152705" cy="123444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954634" y="5527142"/>
            <a:ext cx="152705" cy="123444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1106424" y="5527142"/>
            <a:ext cx="152705" cy="123444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rcRect l="-4980" r="-4980"/>
          <a:stretch>
            <a:fillRect/>
          </a:stretch>
        </p:blipFill>
        <p:spPr>
          <a:xfrm>
            <a:off x="1259129" y="5527142"/>
            <a:ext cx="152705" cy="12344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414370" y="5250078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2857043" y="5449418"/>
            <a:ext cx="1095451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37" name="Text 26"/>
          <p:cNvSpPr txBox="1"/>
          <p:nvPr/>
        </p:nvSpPr>
        <p:spPr>
          <a:xfrm>
            <a:off x="2932938" y="5480507"/>
            <a:ext cx="10232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中文文档 / 教学演示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6963156" y="1104595"/>
            <a:ext cx="780898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</p:spPr>
      </p:sp>
      <p:sp>
        <p:nvSpPr>
          <p:cNvPr id="40" name="Text 29"/>
          <p:cNvSpPr txBox="1"/>
          <p:nvPr/>
        </p:nvSpPr>
        <p:spPr>
          <a:xfrm>
            <a:off x="7039051" y="1153973"/>
            <a:ext cx="7150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$20-$200/mo</a:t>
            </a:r>
            <a:endParaRPr lang="en-US" sz="900" b="1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4485132" y="1714500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31"/>
          <p:cNvSpPr/>
          <p:nvPr/>
        </p:nvSpPr>
        <p:spPr>
          <a:xfrm>
            <a:off x="4485132" y="1160374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EF2FF"/>
          </a:solidFill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5"/>
          <a:srcRect l="-1528" r="-1528"/>
          <a:stretch>
            <a:fillRect/>
          </a:stretch>
        </p:blipFill>
        <p:spPr>
          <a:xfrm>
            <a:off x="4604004" y="1255471"/>
            <a:ext cx="161849" cy="20939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5006340" y="1104595"/>
            <a:ext cx="54864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Kiro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Text 33"/>
          <p:cNvSpPr txBox="1"/>
          <p:nvPr/>
        </p:nvSpPr>
        <p:spPr>
          <a:xfrm>
            <a:off x="5006340" y="1432865"/>
            <a:ext cx="117774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规范驱动开发 (SDD)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6" name="Text 34"/>
          <p:cNvSpPr txBox="1"/>
          <p:nvPr/>
        </p:nvSpPr>
        <p:spPr>
          <a:xfrm>
            <a:off x="4485132" y="183794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5322722" y="1837944"/>
            <a:ext cx="9646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Model Agnostic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8" name="Text 36"/>
          <p:cNvSpPr txBox="1"/>
          <p:nvPr/>
        </p:nvSpPr>
        <p:spPr>
          <a:xfrm>
            <a:off x="4485132" y="2078431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定价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9" name="Text 37"/>
          <p:cNvSpPr txBox="1"/>
          <p:nvPr/>
        </p:nvSpPr>
        <p:spPr>
          <a:xfrm>
            <a:off x="5322722" y="2078431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 $20 / Power $200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4485132" y="2424989"/>
            <a:ext cx="3228746" cy="2734056"/>
          </a:xfrm>
          <a:prstGeom prst="roundRect">
            <a:avLst>
              <a:gd name="adj" fmla="val 932"/>
            </a:avLst>
          </a:prstGeom>
          <a:solidFill>
            <a:srgbClr val="F8FAFC"/>
          </a:solidFill>
        </p:spPr>
      </p:sp>
      <p:sp>
        <p:nvSpPr>
          <p:cNvPr id="51" name="Text 39"/>
          <p:cNvSpPr txBox="1"/>
          <p:nvPr/>
        </p:nvSpPr>
        <p:spPr>
          <a:xfrm>
            <a:off x="4606747" y="2546604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900" b="1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4606747" y="2824582"/>
            <a:ext cx="133502" cy="11430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4816145" y="2785262"/>
            <a:ext cx="15169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强制"先文档后代码"流程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4606747" y="3066898"/>
            <a:ext cx="133502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4816145" y="3027578"/>
            <a:ext cx="17172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自动维护Memory Bank体系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4606747" y="3309214"/>
            <a:ext cx="133502" cy="11430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4816145" y="3269894"/>
            <a:ext cx="16120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Spec-Driven保障可复现性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4485132" y="5127549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9" name="Text 44"/>
          <p:cNvSpPr txBox="1"/>
          <p:nvPr/>
        </p:nvSpPr>
        <p:spPr>
          <a:xfrm>
            <a:off x="4485132" y="529214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4485132" y="5527142"/>
            <a:ext cx="152705" cy="123444"/>
          </a:xfrm>
          <a:prstGeom prst="rect">
            <a:avLst/>
          </a:prstGeom>
        </p:spPr>
      </p:pic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4636922" y="5527142"/>
            <a:ext cx="152705" cy="123444"/>
          </a:xfrm>
          <a:prstGeom prst="rect">
            <a:avLst/>
          </a:prstGeom>
        </p:spPr>
      </p:pic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4789627" y="5527142"/>
            <a:ext cx="152705" cy="123444"/>
          </a:xfrm>
          <a:prstGeom prst="rect">
            <a:avLst/>
          </a:prstGeom>
        </p:spPr>
      </p:pic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4942332" y="5527142"/>
            <a:ext cx="152705" cy="123444"/>
          </a:xfrm>
          <a:prstGeom prst="rect">
            <a:avLst/>
          </a:prstGeom>
        </p:spPr>
      </p:pic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5094122" y="5527142"/>
            <a:ext cx="152705" cy="123444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7249363" y="5250078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6" name="Shape 46"/>
          <p:cNvSpPr/>
          <p:nvPr/>
        </p:nvSpPr>
        <p:spPr>
          <a:xfrm>
            <a:off x="6666281" y="5449418"/>
            <a:ext cx="1095451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67" name="Text 47"/>
          <p:cNvSpPr txBox="1"/>
          <p:nvPr/>
        </p:nvSpPr>
        <p:spPr>
          <a:xfrm>
            <a:off x="6742176" y="5480507"/>
            <a:ext cx="10232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大型协作 / 核心复现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9" name="Shape 49"/>
          <p:cNvSpPr/>
          <p:nvPr/>
        </p:nvSpPr>
        <p:spPr>
          <a:xfrm>
            <a:off x="11007547" y="1104595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FFF7ED"/>
          </a:solidFill>
        </p:spPr>
      </p:sp>
      <p:sp>
        <p:nvSpPr>
          <p:cNvPr id="70" name="Text 50"/>
          <p:cNvSpPr txBox="1"/>
          <p:nvPr/>
        </p:nvSpPr>
        <p:spPr>
          <a:xfrm>
            <a:off x="11083442" y="1153973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$100/mo</a:t>
            </a:r>
            <a:endParaRPr lang="en-US" sz="900" b="1" dirty="0">
              <a:solidFill>
                <a:srgbClr val="C2410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1" name="Shape 51"/>
          <p:cNvSpPr/>
          <p:nvPr/>
        </p:nvSpPr>
        <p:spPr>
          <a:xfrm>
            <a:off x="8320126" y="1714500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Shape 52"/>
          <p:cNvSpPr/>
          <p:nvPr/>
        </p:nvSpPr>
        <p:spPr>
          <a:xfrm>
            <a:off x="8320126" y="1160374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F3E8FF"/>
          </a:solidFill>
        </p:spPr>
      </p:sp>
      <p:pic>
        <p:nvPicPr>
          <p:cNvPr id="73" name="Image 1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415223" y="1255471"/>
            <a:ext cx="209398" cy="209398"/>
          </a:xfrm>
          <a:prstGeom prst="rect">
            <a:avLst/>
          </a:prstGeom>
        </p:spPr>
      </p:pic>
      <p:sp>
        <p:nvSpPr>
          <p:cNvPr id="74" name="Text 53"/>
          <p:cNvSpPr txBox="1"/>
          <p:nvPr/>
        </p:nvSpPr>
        <p:spPr>
          <a:xfrm>
            <a:off x="8842248" y="1104595"/>
            <a:ext cx="9400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Augment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5" name="Text 54"/>
          <p:cNvSpPr txBox="1"/>
          <p:nvPr/>
        </p:nvSpPr>
        <p:spPr>
          <a:xfrm>
            <a:off x="8842248" y="1432865"/>
            <a:ext cx="94914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极致上下文引擎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6" name="Text 55"/>
          <p:cNvSpPr txBox="1"/>
          <p:nvPr/>
        </p:nvSpPr>
        <p:spPr>
          <a:xfrm>
            <a:off x="8320126" y="183794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7" name="Text 56"/>
          <p:cNvSpPr txBox="1"/>
          <p:nvPr/>
        </p:nvSpPr>
        <p:spPr>
          <a:xfrm>
            <a:off x="9158630" y="1837944"/>
            <a:ext cx="14593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Context Engine + GPT-4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8320126" y="2078431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额度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9" name="Text 58"/>
          <p:cNvSpPr txBox="1"/>
          <p:nvPr/>
        </p:nvSpPr>
        <p:spPr>
          <a:xfrm>
            <a:off x="9158630" y="2078431"/>
            <a:ext cx="1174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208,000 Credits/m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0" name="Shape 59"/>
          <p:cNvSpPr/>
          <p:nvPr/>
        </p:nvSpPr>
        <p:spPr>
          <a:xfrm>
            <a:off x="8320126" y="2424989"/>
            <a:ext cx="3228746" cy="2734056"/>
          </a:xfrm>
          <a:prstGeom prst="roundRect">
            <a:avLst>
              <a:gd name="adj" fmla="val 932"/>
            </a:avLst>
          </a:prstGeom>
          <a:solidFill>
            <a:srgbClr val="F8FAFC"/>
          </a:solidFill>
        </p:spPr>
      </p:sp>
      <p:sp>
        <p:nvSpPr>
          <p:cNvPr id="81" name="Text 60"/>
          <p:cNvSpPr txBox="1"/>
          <p:nvPr/>
        </p:nvSpPr>
        <p:spPr>
          <a:xfrm>
            <a:off x="8441741" y="2546604"/>
            <a:ext cx="810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900" b="1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8441741" y="2824582"/>
            <a:ext cx="133502" cy="114300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8652053" y="2785262"/>
            <a:ext cx="16788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超大代码库理解能力(RAG+)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8441741" y="3066898"/>
            <a:ext cx="133502" cy="114300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8652053" y="3027578"/>
            <a:ext cx="14118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MCP工具原生集成支持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8441741" y="3309214"/>
            <a:ext cx="133502" cy="114300"/>
          </a:xfrm>
          <a:prstGeom prst="rect">
            <a:avLst/>
          </a:prstGeom>
        </p:spPr>
      </p:pic>
      <p:sp>
        <p:nvSpPr>
          <p:cNvPr id="87" name="Text 63"/>
          <p:cNvSpPr txBox="1"/>
          <p:nvPr/>
        </p:nvSpPr>
        <p:spPr>
          <a:xfrm>
            <a:off x="8652053" y="3269894"/>
            <a:ext cx="15361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SOC 2 Type II企业级安全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8" name="Shape 64"/>
          <p:cNvSpPr/>
          <p:nvPr/>
        </p:nvSpPr>
        <p:spPr>
          <a:xfrm>
            <a:off x="8320126" y="5127549"/>
            <a:ext cx="3228746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Text 65"/>
          <p:cNvSpPr txBox="1"/>
          <p:nvPr/>
        </p:nvSpPr>
        <p:spPr>
          <a:xfrm>
            <a:off x="8320126" y="529214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90" name="Image 22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320126" y="5527142"/>
            <a:ext cx="152705" cy="123444"/>
          </a:xfrm>
          <a:prstGeom prst="rect">
            <a:avLst/>
          </a:prstGeom>
        </p:spPr>
      </p:pic>
      <p:pic>
        <p:nvPicPr>
          <p:cNvPr id="91" name="Image 23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472830" y="5527142"/>
            <a:ext cx="152705" cy="123444"/>
          </a:xfrm>
          <a:prstGeom prst="rect">
            <a:avLst/>
          </a:prstGeom>
        </p:spPr>
      </p:pic>
      <p:pic>
        <p:nvPicPr>
          <p:cNvPr id="92" name="Image 24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624621" y="5527142"/>
            <a:ext cx="152705" cy="123444"/>
          </a:xfrm>
          <a:prstGeom prst="rect">
            <a:avLst/>
          </a:prstGeom>
        </p:spPr>
      </p:pic>
      <p:pic>
        <p:nvPicPr>
          <p:cNvPr id="93" name="Image 25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777326" y="5527142"/>
            <a:ext cx="152705" cy="123444"/>
          </a:xfrm>
          <a:prstGeom prst="rect">
            <a:avLst/>
          </a:prstGeom>
        </p:spPr>
      </p:pic>
      <p:pic>
        <p:nvPicPr>
          <p:cNvPr id="94" name="Image 26" descr="preencoded.png"/>
          <p:cNvPicPr>
            <a:picLocks noChangeAspect="1"/>
          </p:cNvPicPr>
          <p:nvPr/>
        </p:nvPicPr>
        <p:blipFill>
          <a:blip r:embed="rId3"/>
          <a:srcRect l="-4980" r="-4980"/>
          <a:stretch>
            <a:fillRect/>
          </a:stretch>
        </p:blipFill>
        <p:spPr>
          <a:xfrm>
            <a:off x="8930030" y="5527142"/>
            <a:ext cx="152705" cy="123444"/>
          </a:xfrm>
          <a:prstGeom prst="rect">
            <a:avLst/>
          </a:prstGeom>
        </p:spPr>
      </p:pic>
      <p:sp>
        <p:nvSpPr>
          <p:cNvPr id="95" name="Text 66"/>
          <p:cNvSpPr txBox="1"/>
          <p:nvPr/>
        </p:nvSpPr>
        <p:spPr>
          <a:xfrm>
            <a:off x="11005261" y="5250078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96" name="Shape 67"/>
          <p:cNvSpPr/>
          <p:nvPr/>
        </p:nvSpPr>
        <p:spPr>
          <a:xfrm>
            <a:off x="10447934" y="5449418"/>
            <a:ext cx="1095451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97" name="Text 68"/>
          <p:cNvSpPr txBox="1"/>
          <p:nvPr/>
        </p:nvSpPr>
        <p:spPr>
          <a:xfrm>
            <a:off x="10523830" y="5480507"/>
            <a:ext cx="10232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超大项目 / 复杂逻辑</a:t>
            </a:r>
            <a:endParaRPr lang="en-US" sz="8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02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08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61849"/>
            <a:ext cx="4715561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2.2 CLI工具深度对比 (2025版)</a:t>
            </a:r>
            <a:endParaRPr lang="en-US" sz="24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9130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705856" y="295351"/>
            <a:ext cx="4000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Code / Codex CLI / Gemini CLI / Droid </a:t>
            </a:r>
            <a:endParaRPr lang="en-US" sz="1200" dirty="0">
              <a:solidFill>
                <a:srgbClr val="CBD5E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905" y="1067105"/>
            <a:ext cx="53721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50800">
            <a:solidFill>
              <a:srgbClr val="DA552F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638605"/>
            <a:ext cx="50484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771754" y="12573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1EE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7649" y="133319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97864" y="1304849"/>
            <a:ext cx="12006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Code</a:t>
            </a:r>
            <a:endParaRPr lang="en-US" sz="1500" b="1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062118" y="1285646"/>
            <a:ext cx="761695" cy="247802"/>
          </a:xfrm>
          <a:prstGeom prst="roundRect">
            <a:avLst>
              <a:gd name="adj" fmla="val 56770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48072" y="1343254"/>
            <a:ext cx="6766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PRO/MAX</a:t>
            </a:r>
            <a:endParaRPr lang="en-US" sz="900" b="1" dirty="0">
              <a:solidFill>
                <a:srgbClr val="C2410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71754" y="1739189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337914" y="1758391"/>
            <a:ext cx="15892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4.5 Sonnet / Opus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71754" y="2006194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688129" y="2025396"/>
            <a:ext cx="12371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$20 Pro / $200 Max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1754" y="2333549"/>
            <a:ext cx="5048402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893369" y="2488997"/>
            <a:ext cx="133502" cy="1143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02766" y="2455164"/>
            <a:ext cx="16879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项目记忆 (Project Memory)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3356762" y="2488997"/>
            <a:ext cx="133502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566160" y="2455164"/>
            <a:ext cx="10789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200K 超长上下文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893369" y="2746858"/>
            <a:ext cx="133502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02766" y="2713025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复杂任务多步分解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3356762" y="2746858"/>
            <a:ext cx="133502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566160" y="2713025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深度代码审查能力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771754" y="3138221"/>
            <a:ext cx="5048402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2"/>
          <p:cNvSpPr txBox="1"/>
          <p:nvPr/>
        </p:nvSpPr>
        <p:spPr>
          <a:xfrm>
            <a:off x="771754" y="3238805"/>
            <a:ext cx="2955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适用场景：大型项目深度重构、论文算法精确复现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10605" y="1067105"/>
            <a:ext cx="53721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50800">
            <a:solidFill>
              <a:srgbClr val="10A37F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72454" y="1638605"/>
            <a:ext cx="50484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Shape 25"/>
          <p:cNvSpPr/>
          <p:nvPr/>
        </p:nvSpPr>
        <p:spPr>
          <a:xfrm>
            <a:off x="6372454" y="1257300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6429146" y="1333195"/>
            <a:ext cx="19019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98564" y="1304849"/>
            <a:ext cx="105796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Codex CLI</a:t>
            </a:r>
            <a:endParaRPr lang="en-US" sz="1500" b="1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10934395" y="1285646"/>
            <a:ext cx="495605" cy="247802"/>
          </a:xfrm>
          <a:prstGeom prst="roundRect">
            <a:avLst>
              <a:gd name="adj" fmla="val 56770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1019434" y="1343254"/>
            <a:ext cx="409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410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PLUS</a:t>
            </a:r>
            <a:endParaRPr lang="en-US" sz="900" b="1" dirty="0">
              <a:solidFill>
                <a:srgbClr val="C2410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6372454" y="1739189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10375697" y="1758391"/>
            <a:ext cx="11512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GPT-5.2 / GPT-5.1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6372454" y="2006194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10303459" y="2025396"/>
            <a:ext cx="12271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$20 Plus / $200 Pro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6372454" y="2333549"/>
            <a:ext cx="5048402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6494069" y="2488997"/>
            <a:ext cx="133502" cy="1143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703466" y="2455164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原生多模态支持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8957462" y="2488997"/>
            <a:ext cx="133502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166860" y="2455164"/>
            <a:ext cx="8787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实时联网查询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6494069" y="2746858"/>
            <a:ext cx="133502" cy="1143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703466" y="2713025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丰富的插件生态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8957462" y="2746858"/>
            <a:ext cx="133502" cy="1143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166860" y="2713025"/>
            <a:ext cx="8503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API 快速集成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6372454" y="3138221"/>
            <a:ext cx="5048402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1" name="Text 39"/>
          <p:cNvSpPr txBox="1"/>
          <p:nvPr/>
        </p:nvSpPr>
        <p:spPr>
          <a:xfrm>
            <a:off x="6372454" y="3238805"/>
            <a:ext cx="28885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适用场景：快速原型验证、API集成、多模态任务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2" name="Shape 40"/>
          <p:cNvSpPr/>
          <p:nvPr/>
        </p:nvSpPr>
        <p:spPr>
          <a:xfrm>
            <a:off x="609905" y="3676802"/>
            <a:ext cx="53721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50800">
            <a:solidFill>
              <a:srgbClr val="4285F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771754" y="4248302"/>
            <a:ext cx="50484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Shape 42"/>
          <p:cNvSpPr/>
          <p:nvPr/>
        </p:nvSpPr>
        <p:spPr>
          <a:xfrm>
            <a:off x="771754" y="38669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7649" y="3943807"/>
            <a:ext cx="152705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197864" y="3914546"/>
            <a:ext cx="113385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Gemini CLI</a:t>
            </a:r>
            <a:endParaRPr lang="en-US" sz="1500" b="1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5059045" y="3895090"/>
            <a:ext cx="766445" cy="247650"/>
          </a:xfrm>
          <a:prstGeom prst="roundRect">
            <a:avLst>
              <a:gd name="adj" fmla="val 56770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5130800" y="3943985"/>
            <a:ext cx="694690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</a:t>
            </a:r>
            <a:r>
              <a:rPr lang="en-US" sz="900" b="1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RO/FREE</a:t>
            </a:r>
            <a:endParaRPr lang="en-US" sz="900" b="1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9" name="Text 46"/>
          <p:cNvSpPr txBox="1"/>
          <p:nvPr/>
        </p:nvSpPr>
        <p:spPr>
          <a:xfrm>
            <a:off x="771754" y="4348886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0" name="Text 47"/>
          <p:cNvSpPr txBox="1"/>
          <p:nvPr/>
        </p:nvSpPr>
        <p:spPr>
          <a:xfrm>
            <a:off x="4935017" y="4368089"/>
            <a:ext cx="9893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Gemini 3.0 Pro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1" name="Text 48"/>
          <p:cNvSpPr txBox="1"/>
          <p:nvPr/>
        </p:nvSpPr>
        <p:spPr>
          <a:xfrm>
            <a:off x="771754" y="4615891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2" name="Text 49"/>
          <p:cNvSpPr txBox="1"/>
          <p:nvPr/>
        </p:nvSpPr>
        <p:spPr>
          <a:xfrm>
            <a:off x="4545330" y="4615815"/>
            <a:ext cx="138366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Pro、Free (60 req/min)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3" name="Shape 50"/>
          <p:cNvSpPr/>
          <p:nvPr/>
        </p:nvSpPr>
        <p:spPr>
          <a:xfrm>
            <a:off x="771754" y="4943246"/>
            <a:ext cx="5048402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</p:spPr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893369" y="5098694"/>
            <a:ext cx="133502" cy="114300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1102766" y="5065776"/>
            <a:ext cx="12115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1M 超大上下文窗口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3356762" y="5098694"/>
            <a:ext cx="133502" cy="114300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3566160" y="5065776"/>
            <a:ext cx="13834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Gemini 3.0 Flash 极速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893369" y="5356555"/>
            <a:ext cx="133502" cy="114300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1102766" y="5322722"/>
            <a:ext cx="12691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海量文本无成本处理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3356762" y="5356555"/>
            <a:ext cx="133502" cy="114300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3566160" y="5322722"/>
            <a:ext cx="12600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Google Search 集成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2" name="Shape 55"/>
          <p:cNvSpPr/>
          <p:nvPr/>
        </p:nvSpPr>
        <p:spPr>
          <a:xfrm>
            <a:off x="771754" y="5747918"/>
            <a:ext cx="5048402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Text 56"/>
          <p:cNvSpPr txBox="1"/>
          <p:nvPr/>
        </p:nvSpPr>
        <p:spPr>
          <a:xfrm>
            <a:off x="771754" y="5849417"/>
            <a:ext cx="28693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适用场景：零预算项目、大文本分析、学生/教学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4" name="Shape 57"/>
          <p:cNvSpPr/>
          <p:nvPr/>
        </p:nvSpPr>
        <p:spPr>
          <a:xfrm>
            <a:off x="6210605" y="3676802"/>
            <a:ext cx="53721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6372454" y="4248302"/>
            <a:ext cx="50484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Shape 59"/>
          <p:cNvSpPr/>
          <p:nvPr/>
        </p:nvSpPr>
        <p:spPr>
          <a:xfrm>
            <a:off x="6372454" y="386699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E8FF"/>
          </a:solidFill>
        </p:spPr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439205" y="3943807"/>
            <a:ext cx="171907" cy="152705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6798564" y="3914546"/>
            <a:ext cx="6199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Droid</a:t>
            </a:r>
            <a:endParaRPr lang="en-US" sz="1500" b="1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9" name="Shape 61"/>
          <p:cNvSpPr/>
          <p:nvPr/>
        </p:nvSpPr>
        <p:spPr>
          <a:xfrm>
            <a:off x="10658246" y="3895344"/>
            <a:ext cx="771754" cy="247802"/>
          </a:xfrm>
          <a:prstGeom prst="roundRect">
            <a:avLst>
              <a:gd name="adj" fmla="val 56770"/>
            </a:avLst>
          </a:prstGeom>
          <a:solidFill>
            <a:srgbClr val="FAF5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80" name="Text 62"/>
          <p:cNvSpPr txBox="1"/>
          <p:nvPr/>
        </p:nvSpPr>
        <p:spPr>
          <a:xfrm>
            <a:off x="10744200" y="3952951"/>
            <a:ext cx="6858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E22CE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FACTORY</a:t>
            </a:r>
            <a:endParaRPr lang="en-US" sz="900" b="1" dirty="0">
              <a:solidFill>
                <a:srgbClr val="7E22CE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1" name="Text 63"/>
          <p:cNvSpPr txBox="1"/>
          <p:nvPr/>
        </p:nvSpPr>
        <p:spPr>
          <a:xfrm>
            <a:off x="6372454" y="4348886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厂商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2" name="Text 64"/>
          <p:cNvSpPr txBox="1"/>
          <p:nvPr/>
        </p:nvSpPr>
        <p:spPr>
          <a:xfrm>
            <a:off x="10784434" y="4368089"/>
            <a:ext cx="7415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Factory AI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3" name="Text 65"/>
          <p:cNvSpPr txBox="1"/>
          <p:nvPr/>
        </p:nvSpPr>
        <p:spPr>
          <a:xfrm>
            <a:off x="6372454" y="4615891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4" name="Text 66"/>
          <p:cNvSpPr txBox="1"/>
          <p:nvPr/>
        </p:nvSpPr>
        <p:spPr>
          <a:xfrm>
            <a:off x="10068458" y="4635094"/>
            <a:ext cx="14557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Subscription / API Key</a:t>
            </a:r>
            <a:endParaRPr lang="en-US" sz="1000" b="1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5" name="Shape 67"/>
          <p:cNvSpPr/>
          <p:nvPr/>
        </p:nvSpPr>
        <p:spPr>
          <a:xfrm>
            <a:off x="6372454" y="4943246"/>
            <a:ext cx="5048402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</p:spPr>
      </p:sp>
      <p:pic>
        <p:nvPicPr>
          <p:cNvPr id="86" name="Image 16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6494069" y="5098694"/>
            <a:ext cx="133502" cy="114300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6703466" y="5065776"/>
            <a:ext cx="9930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CI/CD 深度集成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8957462" y="5098694"/>
            <a:ext cx="133502" cy="114300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9166860" y="5065776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代码库安全隔离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90" name="Image 18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6494069" y="5356555"/>
            <a:ext cx="133502" cy="114300"/>
          </a:xfrm>
          <a:prstGeom prst="rect">
            <a:avLst/>
          </a:prstGeom>
        </p:spPr>
      </p:pic>
      <p:sp>
        <p:nvSpPr>
          <p:cNvPr id="91" name="Text 70"/>
          <p:cNvSpPr txBox="1"/>
          <p:nvPr/>
        </p:nvSpPr>
        <p:spPr>
          <a:xfrm>
            <a:off x="6703466" y="5322722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自动化任务流水线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8"/>
          <a:srcRect l="-16743" r="-16743"/>
          <a:stretch>
            <a:fillRect/>
          </a:stretch>
        </p:blipFill>
        <p:spPr>
          <a:xfrm>
            <a:off x="8957462" y="5356555"/>
            <a:ext cx="133502" cy="114300"/>
          </a:xfrm>
          <a:prstGeom prst="rect">
            <a:avLst/>
          </a:prstGeom>
        </p:spPr>
      </p:pic>
      <p:sp>
        <p:nvSpPr>
          <p:cNvPr id="93" name="Text 71"/>
          <p:cNvSpPr txBox="1"/>
          <p:nvPr/>
        </p:nvSpPr>
        <p:spPr>
          <a:xfrm>
            <a:off x="9166860" y="5322722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企业级合规控制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94" name="Shape 72"/>
          <p:cNvSpPr/>
          <p:nvPr/>
        </p:nvSpPr>
        <p:spPr>
          <a:xfrm>
            <a:off x="6372454" y="5747918"/>
            <a:ext cx="5048402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5" name="Text 73"/>
          <p:cNvSpPr txBox="1"/>
          <p:nvPr/>
        </p:nvSpPr>
        <p:spPr>
          <a:xfrm>
            <a:off x="6372454" y="5849417"/>
            <a:ext cx="27642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适用场景：企业DevOps自动化、批量代码重构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96" name="Shape 7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09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5402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2.4 云平台快速对比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4612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560674" y="295351"/>
            <a:ext cx="3010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 / bolt.new / Lovable / Orchids 特点解析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5524805" cy="2314346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" y="1152144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FFF7ED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714146" y="1238098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04595" y="1227125"/>
            <a:ext cx="5641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21554" y="1215238"/>
            <a:ext cx="705002" cy="219456"/>
          </a:xfrm>
          <a:prstGeom prst="roundRect">
            <a:avLst>
              <a:gd name="adj" fmla="val 72464"/>
            </a:avLst>
          </a:prstGeom>
          <a:solidFill>
            <a:srgbClr val="F1F5F9"/>
          </a:solidFill>
        </p:spPr>
      </p:sp>
      <p:sp>
        <p:nvSpPr>
          <p:cNvPr id="13" name="Text 10"/>
          <p:cNvSpPr txBox="1"/>
          <p:nvPr/>
        </p:nvSpPr>
        <p:spPr>
          <a:xfrm>
            <a:off x="5197450" y="1257300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 / 付费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7395" y="1617574"/>
            <a:ext cx="5171846" cy="1181405"/>
          </a:xfrm>
          <a:prstGeom prst="roundRect">
            <a:avLst>
              <a:gd name="adj" fmla="val 24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48894" y="1932127"/>
            <a:ext cx="114300" cy="1051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39089" y="1911096"/>
            <a:ext cx="17455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浏览器IDE，零环境配置门槛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48894" y="2153412"/>
            <a:ext cx="114300" cy="1051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9089" y="2132381"/>
            <a:ext cx="21927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多人实时协作编辑 (类似Google Docs)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48894" y="2375611"/>
            <a:ext cx="114300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9089" y="2354580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内置托管，一键部署应用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7395" y="2889504"/>
            <a:ext cx="51718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16"/>
          <p:cNvSpPr txBox="1"/>
          <p:nvPr/>
        </p:nvSpPr>
        <p:spPr>
          <a:xfrm>
            <a:off x="647395" y="2993746"/>
            <a:ext cx="6519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286561" y="2984602"/>
            <a:ext cx="23966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教学演示、快速原型验证、Python脚本分享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210605" y="990295"/>
            <a:ext cx="5524805" cy="2314346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0" y="1152144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E0F2FE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rcRect t="-2725" b="-2725"/>
          <a:stretch>
            <a:fillRect/>
          </a:stretch>
        </p:blipFill>
        <p:spPr>
          <a:xfrm>
            <a:off x="6500470" y="1238098"/>
            <a:ext cx="142646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0" y="1227125"/>
            <a:ext cx="7452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bolt.new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10874045" y="1215238"/>
            <a:ext cx="705002" cy="219456"/>
          </a:xfrm>
          <a:prstGeom prst="roundRect">
            <a:avLst>
              <a:gd name="adj" fmla="val 72464"/>
            </a:avLst>
          </a:prstGeom>
          <a:solidFill>
            <a:srgbClr val="F1F5F9"/>
          </a:solidFill>
        </p:spPr>
      </p:sp>
      <p:sp>
        <p:nvSpPr>
          <p:cNvPr id="29" name="Text 22"/>
          <p:cNvSpPr txBox="1"/>
          <p:nvPr/>
        </p:nvSpPr>
        <p:spPr>
          <a:xfrm>
            <a:off x="10950854" y="1257300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 / 付费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400800" y="1617574"/>
            <a:ext cx="5171846" cy="1181405"/>
          </a:xfrm>
          <a:prstGeom prst="roundRect">
            <a:avLst>
              <a:gd name="adj" fmla="val 24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rcRect l="-12112" r="-12112"/>
          <a:stretch>
            <a:fillRect/>
          </a:stretch>
        </p:blipFill>
        <p:spPr>
          <a:xfrm>
            <a:off x="6501384" y="1932127"/>
            <a:ext cx="114300" cy="1051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92494" y="1911096"/>
            <a:ext cx="2317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现代全栈开发环境，基于WebContainers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rcRect l="-12112" r="-12112"/>
          <a:stretch>
            <a:fillRect/>
          </a:stretch>
        </p:blipFill>
        <p:spPr>
          <a:xfrm>
            <a:off x="6501384" y="2153412"/>
            <a:ext cx="114300" cy="1051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92494" y="2132381"/>
            <a:ext cx="21835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极速启动，浏览器内直接运行Node.js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rcRect l="-12112" r="-12112"/>
          <a:stretch>
            <a:fillRect/>
          </a:stretch>
        </p:blipFill>
        <p:spPr>
          <a:xfrm>
            <a:off x="6501384" y="2375611"/>
            <a:ext cx="114300" cy="10515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692494" y="2354580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实时预览与热重载，所见即所得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400800" y="2889504"/>
            <a:ext cx="51718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28"/>
          <p:cNvSpPr txBox="1"/>
          <p:nvPr/>
        </p:nvSpPr>
        <p:spPr>
          <a:xfrm>
            <a:off x="6400800" y="2993746"/>
            <a:ext cx="6519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7039966" y="2984602"/>
            <a:ext cx="23207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Web应用开发、前端Demo展示、全栈项目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57200" y="3525012"/>
            <a:ext cx="5524805" cy="2314346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47395" y="3686861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FCE7F3"/>
          </a:solidFill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3349" y="3772814"/>
            <a:ext cx="171907" cy="171907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04595" y="3761842"/>
            <a:ext cx="7068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Lovable</a:t>
            </a:r>
            <a:endParaRPr lang="en-US" sz="1300" dirty="0"/>
          </a:p>
        </p:txBody>
      </p:sp>
      <p:sp>
        <p:nvSpPr>
          <p:cNvPr id="44" name="Shape 33"/>
          <p:cNvSpPr/>
          <p:nvPr/>
        </p:nvSpPr>
        <p:spPr>
          <a:xfrm>
            <a:off x="5350154" y="3749954"/>
            <a:ext cx="476402" cy="219456"/>
          </a:xfrm>
          <a:prstGeom prst="roundRect">
            <a:avLst>
              <a:gd name="adj" fmla="val 72464"/>
            </a:avLst>
          </a:prstGeom>
          <a:solidFill>
            <a:srgbClr val="F1F5F9"/>
          </a:solidFill>
        </p:spPr>
      </p:sp>
      <p:sp>
        <p:nvSpPr>
          <p:cNvPr id="45" name="Text 34"/>
          <p:cNvSpPr txBox="1"/>
          <p:nvPr/>
        </p:nvSpPr>
        <p:spPr>
          <a:xfrm>
            <a:off x="5426050" y="3792017"/>
            <a:ext cx="409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$20/月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647395" y="4152290"/>
            <a:ext cx="5171846" cy="1181405"/>
          </a:xfrm>
          <a:prstGeom prst="roundRect">
            <a:avLst>
              <a:gd name="adj" fmla="val 24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748894" y="4466844"/>
            <a:ext cx="114300" cy="105156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39089" y="4445813"/>
            <a:ext cx="23070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全栈应用自动生成，关注产品而非代码</a:t>
            </a:r>
            <a:endParaRPr lang="en-US" sz="10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748894" y="4688129"/>
            <a:ext cx="114300" cy="105156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939089" y="4667098"/>
            <a:ext cx="1793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设计友好，生成的UI美观度高</a:t>
            </a:r>
            <a:endParaRPr lang="en-US" sz="10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748894" y="4910328"/>
            <a:ext cx="114300" cy="105156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39089" y="4889297"/>
            <a:ext cx="2040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集成数据库与后端逻辑，开箱即用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647395" y="5423306"/>
            <a:ext cx="51718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40"/>
          <p:cNvSpPr txBox="1"/>
          <p:nvPr/>
        </p:nvSpPr>
        <p:spPr>
          <a:xfrm>
            <a:off x="647395" y="5528462"/>
            <a:ext cx="6519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800" dirty="0"/>
          </a:p>
        </p:txBody>
      </p:sp>
      <p:sp>
        <p:nvSpPr>
          <p:cNvPr id="55" name="Text 41"/>
          <p:cNvSpPr txBox="1"/>
          <p:nvPr/>
        </p:nvSpPr>
        <p:spPr>
          <a:xfrm>
            <a:off x="1286561" y="5519318"/>
            <a:ext cx="25493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快速产品验证 (MVP)、非技术创业、工具搭建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210605" y="3525012"/>
            <a:ext cx="5524805" cy="2314346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Shape 43"/>
          <p:cNvSpPr/>
          <p:nvPr/>
        </p:nvSpPr>
        <p:spPr>
          <a:xfrm>
            <a:off x="6400800" y="3686861"/>
            <a:ext cx="342900" cy="342900"/>
          </a:xfrm>
          <a:prstGeom prst="roundRect">
            <a:avLst>
              <a:gd name="adj" fmla="val 44444"/>
            </a:avLst>
          </a:prstGeom>
          <a:solidFill>
            <a:srgbClr val="F3E8FF"/>
          </a:solidFill>
        </p:spPr>
      </p:sp>
      <p:sp>
        <p:nvSpPr>
          <p:cNvPr id="58" name="Text 44"/>
          <p:cNvSpPr txBox="1"/>
          <p:nvPr/>
        </p:nvSpPr>
        <p:spPr>
          <a:xfrm>
            <a:off x="6858000" y="3761842"/>
            <a:ext cx="7068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Orchids</a:t>
            </a:r>
            <a:endParaRPr lang="en-US" sz="1300" dirty="0"/>
          </a:p>
        </p:txBody>
      </p:sp>
      <p:sp>
        <p:nvSpPr>
          <p:cNvPr id="59" name="Shape 45"/>
          <p:cNvSpPr/>
          <p:nvPr/>
        </p:nvSpPr>
        <p:spPr>
          <a:xfrm>
            <a:off x="10962742" y="3749954"/>
            <a:ext cx="619049" cy="219456"/>
          </a:xfrm>
          <a:prstGeom prst="roundRect">
            <a:avLst>
              <a:gd name="adj" fmla="val 72464"/>
            </a:avLst>
          </a:prstGeom>
          <a:solidFill>
            <a:srgbClr val="F1F5F9"/>
          </a:solidFill>
        </p:spPr>
      </p:sp>
      <p:sp>
        <p:nvSpPr>
          <p:cNvPr id="60" name="Text 46"/>
          <p:cNvSpPr txBox="1"/>
          <p:nvPr/>
        </p:nvSpPr>
        <p:spPr>
          <a:xfrm>
            <a:off x="11039551" y="3792017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免费试用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6400800" y="4152290"/>
            <a:ext cx="5171846" cy="1181405"/>
          </a:xfrm>
          <a:prstGeom prst="roundRect">
            <a:avLst>
              <a:gd name="adj" fmla="val 249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7"/>
          <a:srcRect l="-12112" r="-12112"/>
          <a:stretch>
            <a:fillRect/>
          </a:stretch>
        </p:blipFill>
        <p:spPr>
          <a:xfrm>
            <a:off x="6501384" y="4466844"/>
            <a:ext cx="114300" cy="105156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6692494" y="4445813"/>
            <a:ext cx="22887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UI Bench评分第一，界面生成能力极强</a:t>
            </a:r>
            <a:endParaRPr lang="en-US" sz="10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7"/>
          <a:srcRect l="-12112" r="-12112"/>
          <a:stretch>
            <a:fillRect/>
          </a:stretch>
        </p:blipFill>
        <p:spPr>
          <a:xfrm>
            <a:off x="6501384" y="4688129"/>
            <a:ext cx="114300" cy="105156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6692494" y="4667098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专注于复杂交互界面的构建</a:t>
            </a:r>
            <a:endParaRPr lang="en-US" sz="1000" dirty="0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7"/>
          <a:srcRect l="-12112" r="-12112"/>
          <a:stretch>
            <a:fillRect/>
          </a:stretch>
        </p:blipFill>
        <p:spPr>
          <a:xfrm>
            <a:off x="6501384" y="4910328"/>
            <a:ext cx="114300" cy="105156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6692494" y="4889297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科研工具可视化界面</a:t>
            </a:r>
            <a:r>
              <a:rPr lang="zh-CN" alt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可以尝试</a:t>
            </a: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选择</a:t>
            </a:r>
            <a:endParaRPr lang="en-US" sz="1000" dirty="0"/>
          </a:p>
        </p:txBody>
      </p:sp>
      <p:sp>
        <p:nvSpPr>
          <p:cNvPr id="68" name="Shape 51"/>
          <p:cNvSpPr/>
          <p:nvPr/>
        </p:nvSpPr>
        <p:spPr>
          <a:xfrm>
            <a:off x="6400800" y="5423306"/>
            <a:ext cx="5171846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9" name="Text 52"/>
          <p:cNvSpPr txBox="1"/>
          <p:nvPr/>
        </p:nvSpPr>
        <p:spPr>
          <a:xfrm>
            <a:off x="6400800" y="5528462"/>
            <a:ext cx="6519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800" dirty="0"/>
          </a:p>
        </p:txBody>
      </p:sp>
      <p:sp>
        <p:nvSpPr>
          <p:cNvPr id="70" name="Text 53"/>
          <p:cNvSpPr txBox="1"/>
          <p:nvPr/>
        </p:nvSpPr>
        <p:spPr>
          <a:xfrm>
            <a:off x="7039966" y="5519318"/>
            <a:ext cx="24158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科研数据看板、实验控制面板、复杂UI设计</a:t>
            </a:r>
            <a:endParaRPr lang="en-US" sz="900" dirty="0"/>
          </a:p>
        </p:txBody>
      </p:sp>
      <p:sp>
        <p:nvSpPr>
          <p:cNvPr id="71" name="Shape 54"/>
          <p:cNvSpPr/>
          <p:nvPr/>
        </p:nvSpPr>
        <p:spPr>
          <a:xfrm>
            <a:off x="457200" y="5908040"/>
            <a:ext cx="7146290" cy="5715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8"/>
          <a:srcRect l="-1064" r="-1064"/>
          <a:stretch>
            <a:fillRect/>
          </a:stretch>
        </p:blipFill>
        <p:spPr>
          <a:xfrm>
            <a:off x="619049" y="6106363"/>
            <a:ext cx="219456" cy="171907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952805" y="6027725"/>
            <a:ext cx="36027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云平台优势：无需本地环境配置，极其适合跨设备工作与教学</a:t>
            </a:r>
            <a:endParaRPr lang="en-US" sz="1000" dirty="0"/>
          </a:p>
        </p:txBody>
      </p:sp>
      <p:sp>
        <p:nvSpPr>
          <p:cNvPr id="74" name="Text 56"/>
          <p:cNvSpPr txBox="1"/>
          <p:nvPr/>
        </p:nvSpPr>
        <p:spPr>
          <a:xfrm>
            <a:off x="952805" y="6233465"/>
            <a:ext cx="65151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提示：云平台通常依赖稳定的网络连接，处理大规模本地数据 (如GB级影像) 时可能存在上传下载瓶颈，建议搭配本地IDE使用。</a:t>
            </a:r>
            <a:endParaRPr lang="en-US" sz="900" dirty="0"/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10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184709"/>
            <a:ext cx="3797503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2.3 工具选择决策树 (2025版)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48886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662526" y="295351"/>
            <a:ext cx="3534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Strategies for Tool Selection: Budget × Scenario × Skill</a:t>
            </a:r>
            <a:endParaRPr lang="en-US" sz="1200" i="1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86407" y="1433779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8198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8198" y="1595628"/>
            <a:ext cx="47549" cy="1057046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38451" y="1741018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47849" y="1698955"/>
            <a:ext cx="5468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零预算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238451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14" name="Text 11"/>
          <p:cNvSpPr txBox="1"/>
          <p:nvPr/>
        </p:nvSpPr>
        <p:spPr>
          <a:xfrm>
            <a:off x="2314346" y="2006194"/>
            <a:ext cx="1334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Antigravity + Trae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238451" y="2237537"/>
            <a:ext cx="1958645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Google与字节提供的免费神器，覆盖全流程需求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60443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60443" y="1595628"/>
            <a:ext cx="47549" cy="105704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5"/>
          <p:cNvSpPr txBox="1"/>
          <p:nvPr/>
        </p:nvSpPr>
        <p:spPr>
          <a:xfrm>
            <a:off x="4659782" y="1698955"/>
            <a:ext cx="9189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低预算 &lt;$20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59782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20" name="Text 17"/>
          <p:cNvSpPr txBox="1"/>
          <p:nvPr/>
        </p:nvSpPr>
        <p:spPr>
          <a:xfrm>
            <a:off x="4736592" y="2006194"/>
            <a:ext cx="1114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Windsurf ($15)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4659782" y="2237537"/>
            <a:ext cx="1968703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Cascade Flow带来极高性价比，适合学生党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81774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81774" y="1595628"/>
            <a:ext cx="47549" cy="105704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4" name="Text 21"/>
          <p:cNvSpPr txBox="1"/>
          <p:nvPr/>
        </p:nvSpPr>
        <p:spPr>
          <a:xfrm>
            <a:off x="7082028" y="1672285"/>
            <a:ext cx="9189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标准 $20-40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082028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26" name="Text 23"/>
          <p:cNvSpPr txBox="1"/>
          <p:nvPr/>
        </p:nvSpPr>
        <p:spPr>
          <a:xfrm>
            <a:off x="7157923" y="2006194"/>
            <a:ext cx="12198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 Pro ($20)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7082028" y="2237537"/>
            <a:ext cx="1930298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最成熟IDE + 免费强力CLI，行业标准配置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303106" y="1595628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303106" y="1595628"/>
            <a:ext cx="47549" cy="105704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7"/>
          <p:cNvSpPr txBox="1"/>
          <p:nvPr/>
        </p:nvSpPr>
        <p:spPr>
          <a:xfrm>
            <a:off x="9503359" y="1654505"/>
            <a:ext cx="86136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高端 $20-</a:t>
            </a: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  <a:sym typeface="+mn-ea"/>
              </a:rPr>
              <a:t>$</a:t>
            </a: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100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503359" y="1958645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32" name="Text 29"/>
          <p:cNvSpPr txBox="1"/>
          <p:nvPr/>
        </p:nvSpPr>
        <p:spPr>
          <a:xfrm>
            <a:off x="9580169" y="2006194"/>
            <a:ext cx="1143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Augment / Kiro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9503359" y="2237537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极致上下文与规范驱动开发，企业级首选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886407" y="3043123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38198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038198" y="3204972"/>
            <a:ext cx="47549" cy="1057046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7" name="Text 34"/>
          <p:cNvSpPr txBox="1"/>
          <p:nvPr/>
        </p:nvSpPr>
        <p:spPr>
          <a:xfrm>
            <a:off x="2238451" y="3308299"/>
            <a:ext cx="147127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数据脚本 &lt;500 Lines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238451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39" name="Text 36"/>
          <p:cNvSpPr txBox="1"/>
          <p:nvPr/>
        </p:nvSpPr>
        <p:spPr>
          <a:xfrm>
            <a:off x="2314346" y="3615538"/>
            <a:ext cx="12573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 + Jupyter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2238451" y="3847795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交互式分析的最佳拍档，快速验证假设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60443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60443" y="3204972"/>
            <a:ext cx="47549" cy="1057046"/>
          </a:xfrm>
          <a:prstGeom prst="rect">
            <a:avLst/>
          </a:prstGeom>
          <a:solidFill>
            <a:srgbClr val="6366F1"/>
          </a:solidFill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rcRect l="-1507" r="-1507"/>
          <a:stretch>
            <a:fillRect/>
          </a:stretch>
        </p:blipFill>
        <p:spPr>
          <a:xfrm>
            <a:off x="4659782" y="3350362"/>
            <a:ext cx="171907" cy="133502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4907585" y="3308299"/>
            <a:ext cx="6903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中型项目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4659782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46" name="Text 42"/>
          <p:cNvSpPr txBox="1"/>
          <p:nvPr/>
        </p:nvSpPr>
        <p:spPr>
          <a:xfrm>
            <a:off x="4736592" y="3615538"/>
            <a:ext cx="11622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Windsurf / Trae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7" name="Text 43"/>
          <p:cNvSpPr txBox="1"/>
          <p:nvPr/>
        </p:nvSpPr>
        <p:spPr>
          <a:xfrm>
            <a:off x="4659782" y="3847795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平衡上下文理解与成本，迭代速度快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6881774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881774" y="3204972"/>
            <a:ext cx="47549" cy="1057046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50" name="Text 46"/>
          <p:cNvSpPr txBox="1"/>
          <p:nvPr/>
        </p:nvSpPr>
        <p:spPr>
          <a:xfrm>
            <a:off x="7082028" y="3308299"/>
            <a:ext cx="1557223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大型系统 &gt;2000 Lines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7082028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52" name="Text 48"/>
          <p:cNvSpPr txBox="1"/>
          <p:nvPr/>
        </p:nvSpPr>
        <p:spPr>
          <a:xfrm>
            <a:off x="7157923" y="3615538"/>
            <a:ext cx="11430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Augment / Kiro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3" name="Text 49"/>
          <p:cNvSpPr txBox="1"/>
          <p:nvPr/>
        </p:nvSpPr>
        <p:spPr>
          <a:xfrm>
            <a:off x="7082028" y="3847795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超大上下文引擎或规范驱动，保障架构稳健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9303106" y="3204972"/>
            <a:ext cx="22768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9303106" y="3204972"/>
            <a:ext cx="47549" cy="1057046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03359" y="3332582"/>
            <a:ext cx="133502" cy="133502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9712757" y="3290519"/>
            <a:ext cx="6903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算法研究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8" name="Shape 53"/>
          <p:cNvSpPr/>
          <p:nvPr/>
        </p:nvSpPr>
        <p:spPr>
          <a:xfrm>
            <a:off x="9503359" y="3567989"/>
            <a:ext cx="1923898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59" name="Text 54"/>
          <p:cNvSpPr txBox="1"/>
          <p:nvPr/>
        </p:nvSpPr>
        <p:spPr>
          <a:xfrm>
            <a:off x="9580169" y="3615538"/>
            <a:ext cx="1867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Code + Antigravity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0" name="Text 55"/>
          <p:cNvSpPr txBox="1"/>
          <p:nvPr/>
        </p:nvSpPr>
        <p:spPr>
          <a:xfrm>
            <a:off x="9503359" y="3847795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深度推理与多模型协作，攻克复杂算法难题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1" name="Shape 56"/>
          <p:cNvSpPr/>
          <p:nvPr/>
        </p:nvSpPr>
        <p:spPr>
          <a:xfrm>
            <a:off x="1886407" y="4653382"/>
            <a:ext cx="9849002" cy="1380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2038198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2038198" y="4815230"/>
            <a:ext cx="47549" cy="1057046"/>
          </a:xfrm>
          <a:prstGeom prst="rect">
            <a:avLst/>
          </a:prstGeom>
          <a:solidFill>
            <a:srgbClr val="84CC16"/>
          </a:solidFill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>
            <a:fillRect/>
          </a:stretch>
        </p:blipFill>
        <p:spPr>
          <a:xfrm>
            <a:off x="2238451" y="5000854"/>
            <a:ext cx="123444" cy="133502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2438705" y="4958791"/>
            <a:ext cx="83301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零基础入门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6" name="Shape 60"/>
          <p:cNvSpPr/>
          <p:nvPr/>
        </p:nvSpPr>
        <p:spPr>
          <a:xfrm>
            <a:off x="2238451" y="5236769"/>
            <a:ext cx="2723998" cy="267005"/>
          </a:xfrm>
          <a:prstGeom prst="roundRect">
            <a:avLst>
              <a:gd name="adj" fmla="val 48924"/>
            </a:avLst>
          </a:prstGeom>
          <a:solidFill>
            <a:srgbClr val="F1F5F9"/>
          </a:solidFill>
        </p:spPr>
      </p:sp>
      <p:sp>
        <p:nvSpPr>
          <p:cNvPr id="67" name="Text 61"/>
          <p:cNvSpPr txBox="1"/>
          <p:nvPr/>
        </p:nvSpPr>
        <p:spPr>
          <a:xfrm>
            <a:off x="2314346" y="5284318"/>
            <a:ext cx="9336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Trae / Replit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8" name="Text 62"/>
          <p:cNvSpPr txBox="1"/>
          <p:nvPr/>
        </p:nvSpPr>
        <p:spPr>
          <a:xfrm>
            <a:off x="2238451" y="5547665"/>
            <a:ext cx="202539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中文友好 / 开箱即用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9" name="Shape 63"/>
          <p:cNvSpPr/>
          <p:nvPr/>
        </p:nvSpPr>
        <p:spPr>
          <a:xfrm>
            <a:off x="5266944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0" name="Shape 64"/>
          <p:cNvSpPr/>
          <p:nvPr/>
        </p:nvSpPr>
        <p:spPr>
          <a:xfrm>
            <a:off x="5266944" y="4815230"/>
            <a:ext cx="47549" cy="1057046"/>
          </a:xfrm>
          <a:prstGeom prst="rect">
            <a:avLst/>
          </a:prstGeom>
          <a:solidFill>
            <a:srgbClr val="EAB308"/>
          </a:solidFill>
        </p:spPr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5"/>
          <a:srcRect l="-2838" r="-2838"/>
          <a:stretch>
            <a:fillRect/>
          </a:stretch>
        </p:blipFill>
        <p:spPr>
          <a:xfrm>
            <a:off x="5467198" y="5000854"/>
            <a:ext cx="123444" cy="133502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5667451" y="4958791"/>
            <a:ext cx="9189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Python基础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3" name="Shape 66"/>
          <p:cNvSpPr/>
          <p:nvPr/>
        </p:nvSpPr>
        <p:spPr>
          <a:xfrm>
            <a:off x="5467198" y="5236769"/>
            <a:ext cx="2723998" cy="267005"/>
          </a:xfrm>
          <a:prstGeom prst="roundRect">
            <a:avLst>
              <a:gd name="adj" fmla="val 48924"/>
            </a:avLst>
          </a:prstGeom>
          <a:solidFill>
            <a:srgbClr val="F1F5F9"/>
          </a:solidFill>
        </p:spPr>
      </p:sp>
      <p:sp>
        <p:nvSpPr>
          <p:cNvPr id="74" name="Text 67"/>
          <p:cNvSpPr txBox="1"/>
          <p:nvPr/>
        </p:nvSpPr>
        <p:spPr>
          <a:xfrm>
            <a:off x="5544007" y="5284318"/>
            <a:ext cx="13240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Cursor / Windsurf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5" name="Text 68"/>
          <p:cNvSpPr txBox="1"/>
          <p:nvPr/>
        </p:nvSpPr>
        <p:spPr>
          <a:xfrm>
            <a:off x="5467198" y="5547665"/>
            <a:ext cx="229240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利用现有知识最大化效率，无缝迁移习惯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6" name="Shape 69"/>
          <p:cNvSpPr/>
          <p:nvPr/>
        </p:nvSpPr>
        <p:spPr>
          <a:xfrm>
            <a:off x="8496605" y="4815230"/>
            <a:ext cx="3076956" cy="1057046"/>
          </a:xfrm>
          <a:prstGeom prst="roundRect">
            <a:avLst>
              <a:gd name="adj" fmla="val 6235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7" name="Shape 70"/>
          <p:cNvSpPr/>
          <p:nvPr/>
        </p:nvSpPr>
        <p:spPr>
          <a:xfrm>
            <a:off x="8496605" y="4815230"/>
            <a:ext cx="47549" cy="1057046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6"/>
          <a:srcRect l="-837" r="-837"/>
          <a:stretch>
            <a:fillRect/>
          </a:stretch>
        </p:blipFill>
        <p:spPr>
          <a:xfrm>
            <a:off x="8695944" y="5000854"/>
            <a:ext cx="152705" cy="133502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8924544" y="4958791"/>
            <a:ext cx="7754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CLI爱好者</a:t>
            </a:r>
            <a:endParaRPr lang="en-US" sz="11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0" name="Shape 72"/>
          <p:cNvSpPr/>
          <p:nvPr/>
        </p:nvSpPr>
        <p:spPr>
          <a:xfrm>
            <a:off x="8695944" y="5236769"/>
            <a:ext cx="2723998" cy="267005"/>
          </a:xfrm>
          <a:prstGeom prst="roundRect">
            <a:avLst>
              <a:gd name="adj" fmla="val 48924"/>
            </a:avLst>
          </a:prstGeom>
          <a:solidFill>
            <a:srgbClr val="F1F5F9"/>
          </a:solidFill>
        </p:spPr>
      </p:sp>
      <p:sp>
        <p:nvSpPr>
          <p:cNvPr id="81" name="Text 73"/>
          <p:cNvSpPr txBox="1"/>
          <p:nvPr/>
        </p:nvSpPr>
        <p:spPr>
          <a:xfrm>
            <a:off x="8772754" y="5284318"/>
            <a:ext cx="15627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Claude Code / Gemini</a:t>
            </a:r>
            <a:endParaRPr lang="en-US" sz="1200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2" name="Text 74"/>
          <p:cNvSpPr txBox="1"/>
          <p:nvPr/>
        </p:nvSpPr>
        <p:spPr>
          <a:xfrm>
            <a:off x="8695944" y="5547665"/>
            <a:ext cx="229240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纯键盘操作的极致快感，黑客式开发体验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3" name="Shape 75"/>
          <p:cNvSpPr/>
          <p:nvPr/>
        </p:nvSpPr>
        <p:spPr>
          <a:xfrm>
            <a:off x="457200" y="1433779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0F172A"/>
          </a:solidFill>
        </p:spPr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9556" y="1705356"/>
            <a:ext cx="304495" cy="304495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942746" y="2085746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按预算</a:t>
            </a:r>
            <a:endParaRPr lang="en-US" sz="12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6" name="Text 77"/>
          <p:cNvSpPr txBox="1"/>
          <p:nvPr/>
        </p:nvSpPr>
        <p:spPr>
          <a:xfrm>
            <a:off x="901598" y="2371954"/>
            <a:ext cx="643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BUDGET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7" name="Shape 78"/>
          <p:cNvSpPr/>
          <p:nvPr/>
        </p:nvSpPr>
        <p:spPr>
          <a:xfrm>
            <a:off x="457200" y="3043123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1E293B"/>
          </a:solidFill>
        </p:spPr>
      </p:sp>
      <p:pic>
        <p:nvPicPr>
          <p:cNvPr id="88" name="Image 7" descr="preencoded.png"/>
          <p:cNvPicPr>
            <a:picLocks noChangeAspect="1"/>
          </p:cNvPicPr>
          <p:nvPr/>
        </p:nvPicPr>
        <p:blipFill>
          <a:blip r:embed="rId8"/>
          <a:srcRect l="-50" r="-50"/>
          <a:stretch>
            <a:fillRect/>
          </a:stretch>
        </p:blipFill>
        <p:spPr>
          <a:xfrm>
            <a:off x="1000354" y="3314700"/>
            <a:ext cx="342900" cy="304495"/>
          </a:xfrm>
          <a:prstGeom prst="rect">
            <a:avLst/>
          </a:prstGeom>
        </p:spPr>
      </p:pic>
      <p:sp>
        <p:nvSpPr>
          <p:cNvPr id="89" name="Text 79"/>
          <p:cNvSpPr txBox="1"/>
          <p:nvPr/>
        </p:nvSpPr>
        <p:spPr>
          <a:xfrm>
            <a:off x="942746" y="3696005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按场景</a:t>
            </a:r>
            <a:endParaRPr lang="en-US" sz="12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90" name="Text 80"/>
          <p:cNvSpPr txBox="1"/>
          <p:nvPr/>
        </p:nvSpPr>
        <p:spPr>
          <a:xfrm>
            <a:off x="838505" y="3981298"/>
            <a:ext cx="7763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SCENARIO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91" name="Shape 81"/>
          <p:cNvSpPr/>
          <p:nvPr/>
        </p:nvSpPr>
        <p:spPr>
          <a:xfrm>
            <a:off x="457200" y="4653382"/>
            <a:ext cx="1429207" cy="1380744"/>
          </a:xfrm>
          <a:prstGeom prst="roundRect">
            <a:avLst>
              <a:gd name="adj" fmla="val 5481"/>
            </a:avLst>
          </a:prstGeom>
          <a:solidFill>
            <a:srgbClr val="334155"/>
          </a:solidFill>
        </p:spPr>
      </p:sp>
      <p:pic>
        <p:nvPicPr>
          <p:cNvPr id="92" name="Image 8" descr="preencoded.png"/>
          <p:cNvPicPr>
            <a:picLocks noChangeAspect="1"/>
          </p:cNvPicPr>
          <p:nvPr/>
        </p:nvPicPr>
        <p:blipFill>
          <a:blip r:embed="rId9"/>
          <a:srcRect l="-90" r="-90"/>
          <a:stretch>
            <a:fillRect/>
          </a:stretch>
        </p:blipFill>
        <p:spPr>
          <a:xfrm>
            <a:off x="981151" y="4924044"/>
            <a:ext cx="381305" cy="304495"/>
          </a:xfrm>
          <a:prstGeom prst="rect">
            <a:avLst/>
          </a:prstGeom>
        </p:spPr>
      </p:pic>
      <p:sp>
        <p:nvSpPr>
          <p:cNvPr id="93" name="Text 82"/>
          <p:cNvSpPr txBox="1"/>
          <p:nvPr/>
        </p:nvSpPr>
        <p:spPr>
          <a:xfrm>
            <a:off x="942746" y="5305349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按基础</a:t>
            </a:r>
            <a:endParaRPr lang="en-US" sz="12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94" name="Text 83"/>
          <p:cNvSpPr txBox="1"/>
          <p:nvPr/>
        </p:nvSpPr>
        <p:spPr>
          <a:xfrm>
            <a:off x="757123" y="5591556"/>
            <a:ext cx="9290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SKILL LEVEL</a:t>
            </a:r>
            <a:endParaRPr lang="en-US" sz="10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11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161925"/>
            <a:ext cx="35839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Vibe Coding Meta-Meth</a:t>
            </a:r>
            <a:r>
              <a:rPr lang="en-US" sz="24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od </a:t>
            </a:r>
            <a:endParaRPr lang="en-US" sz="24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44696" y="255118"/>
            <a:ext cx="9144" cy="256946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45890" y="255118"/>
            <a:ext cx="2983687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道法术器：从思维到工具的完整方法论</a:t>
            </a:r>
            <a:endParaRPr lang="en-US" sz="13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F8FAFC"/>
          </a:solidFill>
          <a:ln w="50800">
            <a:solidFill>
              <a:srgbClr val="0F172A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1781251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94944" y="1278331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0F172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0100" y="1383487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09751" y="1228954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Noto Serif SC" pitchFamily="34" charset="-122"/>
                <a:cs typeface="Times New Roman Regular" panose="02020503050405090304" charset="0"/>
              </a:rPr>
              <a:t>道 Philosophy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Noto Serif SC" pitchFamily="34" charset="-122"/>
              <a:cs typeface="Times New Roman Regular" panose="0202050305040509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9751" y="1505102"/>
            <a:ext cx="13926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核心思维与第一性原理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1952244"/>
            <a:ext cx="75895" cy="758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3194" y="1890065"/>
            <a:ext cx="26334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凡是</a:t>
            </a:r>
            <a:r>
              <a:rPr lang="zh-CN" alt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你会</a:t>
            </a: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做的，就不要人工做 (AI First)。</a:t>
            </a:r>
            <a:r>
              <a:rPr lang="zh-CN" alt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凡是你不会做的</a:t>
            </a:r>
            <a:r>
              <a:rPr lang="en-US" altLang="zh-CN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，</a:t>
            </a:r>
            <a:r>
              <a:rPr lang="zh-CN" alt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让</a:t>
            </a:r>
            <a:r>
              <a:rPr lang="en-US" altLang="zh-CN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</a:t>
            </a:r>
            <a:r>
              <a:rPr lang="zh-CN" alt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代替搜索引擎</a:t>
            </a:r>
            <a:endParaRPr lang="en-US" altLang="zh-CN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246681"/>
            <a:ext cx="75895" cy="758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3194" y="2183587"/>
            <a:ext cx="25374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上下文是第一性要素 (Context is King)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541118"/>
            <a:ext cx="75895" cy="758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3194" y="2478024"/>
            <a:ext cx="30806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先结构后代码，规划优于实现 (Structure First)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4944" y="2834640"/>
            <a:ext cx="75895" cy="758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3194" y="2772461"/>
            <a:ext cx="22805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奥卡姆剃刀：如无必要，勿增代码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191402" y="990295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EFF6FF"/>
          </a:solidFill>
          <a:ln w="508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29146" y="1781251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6429146" y="1278331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rcRect l="-1282" r="-1282"/>
          <a:stretch>
            <a:fillRect/>
          </a:stretch>
        </p:blipFill>
        <p:spPr>
          <a:xfrm>
            <a:off x="6519672" y="1383487"/>
            <a:ext cx="219456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43954" y="1228954"/>
            <a:ext cx="1657807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Noto Serif SC" pitchFamily="34" charset="-122"/>
                <a:cs typeface="Times New Roman Regular" panose="02020503050405090304" charset="0"/>
              </a:rPr>
              <a:t>法 Methodology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Noto Serif SC" pitchFamily="34" charset="-122"/>
              <a:cs typeface="Times New Roman Regular" panose="02020503050405090304" charset="0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6943954" y="1505102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系统化的实施原则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1952244"/>
            <a:ext cx="75895" cy="758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597396" y="1890065"/>
            <a:ext cx="28428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一句话目标 + 非目标 (Explicit Boundaries)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246681"/>
            <a:ext cx="75895" cy="758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597396" y="2183587"/>
            <a:ext cx="27761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正交性设计，功能不重复 (Orthogonality)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541118"/>
            <a:ext cx="75895" cy="758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597396" y="2478024"/>
            <a:ext cx="28995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能抄不写，文档即上下文 (Docs as Context)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29146" y="2834640"/>
            <a:ext cx="75895" cy="758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597396" y="2772461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按职责拆模块，接口先行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457200" y="3829507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ECFDF5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94944" y="4619549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38" name="Shape 26"/>
          <p:cNvSpPr/>
          <p:nvPr/>
        </p:nvSpPr>
        <p:spPr>
          <a:xfrm>
            <a:off x="694944" y="4116629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10B981"/>
          </a:solidFill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0100" y="4221785"/>
            <a:ext cx="190195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209751" y="4067251"/>
            <a:ext cx="10671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Noto Serif SC" pitchFamily="34" charset="-122"/>
                <a:cs typeface="Times New Roman Regular" panose="02020503050405090304" charset="0"/>
              </a:rPr>
              <a:t>术 Tactics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Noto Serif SC" pitchFamily="34" charset="-122"/>
              <a:cs typeface="Times New Roman Regular" panose="02020503050405090304" charset="0"/>
            </a:endParaRPr>
          </a:p>
        </p:txBody>
      </p:sp>
      <p:sp>
        <p:nvSpPr>
          <p:cNvPr id="41" name="Text 28"/>
          <p:cNvSpPr txBox="1"/>
          <p:nvPr/>
        </p:nvSpPr>
        <p:spPr>
          <a:xfrm>
            <a:off x="1209751" y="4343400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具体的实战技巧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4791456"/>
            <a:ext cx="75895" cy="7589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63194" y="4728362"/>
            <a:ext cx="31857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明确写清：能改什么，不能改什么 (Constraints)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084978"/>
            <a:ext cx="75895" cy="7589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63194" y="5022799"/>
            <a:ext cx="24999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Debug只给：预期 vs 实际 + 最小复现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379415"/>
            <a:ext cx="75895" cy="75895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63194" y="5316322"/>
            <a:ext cx="218541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测试可交给 AI 生成，断言由人审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" y="5672938"/>
            <a:ext cx="75895" cy="7589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63194" y="5610758"/>
            <a:ext cx="23189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代码一多就切会话 (Reset Session)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0" name="Shape 33"/>
          <p:cNvSpPr/>
          <p:nvPr/>
        </p:nvSpPr>
        <p:spPr>
          <a:xfrm>
            <a:off x="6191402" y="3829507"/>
            <a:ext cx="5544007" cy="2648102"/>
          </a:xfrm>
          <a:prstGeom prst="roundRect">
            <a:avLst>
              <a:gd name="adj" fmla="val 1491"/>
            </a:avLst>
          </a:prstGeom>
          <a:solidFill>
            <a:srgbClr val="F5F3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6429146" y="4619549"/>
            <a:ext cx="5067605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52" name="Shape 35"/>
          <p:cNvSpPr/>
          <p:nvPr/>
        </p:nvSpPr>
        <p:spPr>
          <a:xfrm>
            <a:off x="6429146" y="4116629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8B5CF6"/>
          </a:solidFill>
        </p:spPr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10528" y="4221785"/>
            <a:ext cx="237744" cy="190195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6943954" y="4067251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 Regular" panose="02020503050405090304" charset="0"/>
                <a:ea typeface="Noto Serif SC" pitchFamily="34" charset="-122"/>
                <a:cs typeface="Times New Roman Regular" panose="02020503050405090304" charset="0"/>
              </a:rPr>
              <a:t>器 Tools</a:t>
            </a:r>
            <a:endParaRPr lang="en-US" sz="1500" b="1" dirty="0">
              <a:solidFill>
                <a:srgbClr val="1E293B"/>
              </a:solidFill>
              <a:latin typeface="Times New Roman Regular" panose="02020503050405090304" charset="0"/>
              <a:ea typeface="Noto Serif SC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37"/>
          <p:cNvSpPr txBox="1"/>
          <p:nvPr/>
        </p:nvSpPr>
        <p:spPr>
          <a:xfrm>
            <a:off x="6943954" y="4343400"/>
            <a:ext cx="10122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工具选择与组合</a:t>
            </a:r>
            <a:endParaRPr lang="en-US" sz="1000" dirty="0">
              <a:solidFill>
                <a:srgbClr val="64748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29146" y="4791456"/>
            <a:ext cx="75895" cy="7589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6597396" y="4728362"/>
            <a:ext cx="19760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IDE: Cursor / Windsurf / Kiro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9"/>
          <a:srcRect l="-335" r="-335"/>
          <a:stretch>
            <a:fillRect/>
          </a:stretch>
        </p:blipFill>
        <p:spPr>
          <a:xfrm>
            <a:off x="6429146" y="5084978"/>
            <a:ext cx="85954" cy="75895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6606540" y="5022799"/>
            <a:ext cx="20994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CLI: Claude Code / Gemini CLI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29146" y="5379415"/>
            <a:ext cx="75895" cy="75895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6597396" y="5316322"/>
            <a:ext cx="27477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Model: Claude 3.5 / GPT-4o / Gemini 2.5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1"/>
          <a:srcRect l="-258" r="-258"/>
          <a:stretch>
            <a:fillRect/>
          </a:stretch>
        </p:blipFill>
        <p:spPr>
          <a:xfrm>
            <a:off x="6429146" y="5672938"/>
            <a:ext cx="66751" cy="75895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6587338" y="5619902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详细对比见第二部分"工具全景图"</a:t>
            </a:r>
            <a:endParaRPr lang="en-US" sz="1000" i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4" name="Shape 42"/>
          <p:cNvSpPr/>
          <p:nvPr/>
        </p:nvSpPr>
        <p:spPr>
          <a:xfrm>
            <a:off x="5031029" y="3573475"/>
            <a:ext cx="2133295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278831" y="3715207"/>
            <a:ext cx="190195" cy="190195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5544922" y="3712464"/>
            <a:ext cx="14977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Meta-Methodology</a:t>
            </a:r>
            <a:endParaRPr lang="en-US" sz="13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742420" y="650049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12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451165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3.1 Prompt 工程：精准沟通的艺术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2080" y="190195"/>
            <a:ext cx="9144" cy="38130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526634" y="267005"/>
            <a:ext cx="27057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5W1H 结构化框架与科研场景实战模板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6425" y="1559814"/>
            <a:ext cx="236463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对比实验：AI 为何"听不懂"？</a:t>
            </a:r>
            <a:endParaRPr lang="en-US" sz="13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6425" y="1971294"/>
            <a:ext cx="5181905" cy="1248156"/>
          </a:xfrm>
          <a:prstGeom prst="roundRect">
            <a:avLst>
              <a:gd name="adj" fmla="val 4474"/>
            </a:avLst>
          </a:prstGeom>
          <a:solidFill>
            <a:srgbClr val="1E293B"/>
          </a:solidFill>
          <a:ln w="12700">
            <a:solidFill>
              <a:srgbClr val="FCA5A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6484" y="1981352"/>
            <a:ext cx="5162702" cy="342900"/>
          </a:xfrm>
          <a:prstGeom prst="rect">
            <a:avLst/>
          </a:prstGeom>
          <a:solidFill>
            <a:srgbClr val="FEE2E2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8099" y="2077364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47496" y="2041703"/>
            <a:ext cx="6976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模糊描述 (</a:t>
            </a:r>
            <a:endParaRPr lang="en-US" sz="1000" b="1" dirty="0">
              <a:solidFill>
                <a:srgbClr val="991B1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443685" y="2080108"/>
            <a:ext cx="7927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Vibe Coding</a:t>
            </a:r>
            <a:endParaRPr lang="en-US" sz="1000" b="1" dirty="0">
              <a:solidFill>
                <a:srgbClr val="991B1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2133143" y="2041703"/>
            <a:ext cx="4114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典型)</a:t>
            </a:r>
            <a:endParaRPr lang="en-US" sz="1000" b="1" dirty="0">
              <a:solidFill>
                <a:srgbClr val="991B1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675175" y="2081936"/>
            <a:ext cx="9720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>
                    <a:alpha val="75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Result: Confusion</a:t>
            </a:r>
            <a:endParaRPr lang="en-US" sz="900" b="1" dirty="0">
              <a:solidFill>
                <a:srgbClr val="991B1B">
                  <a:alpha val="75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38099" y="2457755"/>
            <a:ext cx="3456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User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82244" y="2457755"/>
            <a:ext cx="13167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Consolas" pitchFamily="34" charset="-122"/>
                <a:cs typeface="Times New Roman Regular" panose="02020503050405090304" charset="0"/>
              </a:rPr>
              <a:t>: "帮我分析这个数据"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Consolas" pitchFamily="34" charset="-122"/>
              <a:cs typeface="Times New Roman Regular" panose="02020503050405090304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38099" y="2712872"/>
            <a:ext cx="481248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 Thinking: - Which dimension? (Stats? Regression?) - Which tool? (Pandas? Numpy?) - Output format? (Print? CSV? Plot?)</a:t>
            </a:r>
            <a:endParaRPr lang="en-US" sz="1000" i="1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6425" y="3609899"/>
            <a:ext cx="5181905" cy="1438351"/>
          </a:xfrm>
          <a:prstGeom prst="roundRect">
            <a:avLst>
              <a:gd name="adj" fmla="val 3368"/>
            </a:avLst>
          </a:prstGeom>
          <a:solidFill>
            <a:srgbClr val="1E293B"/>
          </a:solidFill>
          <a:ln w="12700">
            <a:solidFill>
              <a:srgbClr val="86EFAC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6484" y="3619957"/>
            <a:ext cx="5162702" cy="342900"/>
          </a:xfrm>
          <a:prstGeom prst="rect">
            <a:avLst/>
          </a:prstGeom>
          <a:solidFill>
            <a:srgbClr val="DCFCE7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8099" y="3715969"/>
            <a:ext cx="133502" cy="1335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47496" y="3680308"/>
            <a:ext cx="6976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精准描述 (</a:t>
            </a:r>
            <a:endParaRPr lang="en-US" sz="1000" b="1" dirty="0">
              <a:solidFill>
                <a:srgbClr val="166534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1443685" y="3718712"/>
            <a:ext cx="1230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Prompt Engineering</a:t>
            </a:r>
            <a:endParaRPr lang="en-US" sz="1000" b="1" dirty="0">
              <a:solidFill>
                <a:srgbClr val="166534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2574798" y="3680308"/>
            <a:ext cx="1545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)</a:t>
            </a:r>
            <a:endParaRPr lang="en-US" sz="1000" b="1" dirty="0">
              <a:solidFill>
                <a:srgbClr val="166534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4808677" y="3720541"/>
            <a:ext cx="8385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>
                    <a:alpha val="75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Result: Success</a:t>
            </a:r>
            <a:endParaRPr lang="en-US" sz="900" b="1" dirty="0">
              <a:solidFill>
                <a:srgbClr val="166534">
                  <a:alpha val="75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638099" y="4095445"/>
            <a:ext cx="7360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User: "Read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1269949" y="4095445"/>
            <a:ext cx="516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data.csv</a:t>
            </a:r>
            <a:endParaRPr lang="en-US" sz="1000" dirty="0">
              <a:solidFill>
                <a:srgbClr val="93C5F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1682344" y="4095445"/>
            <a:ext cx="6309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, calculate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2207209" y="4095445"/>
            <a:ext cx="10972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Mean/Median/Std</a:t>
            </a:r>
            <a:endParaRPr lang="en-US" sz="1000" b="1" dirty="0">
              <a:solidFill>
                <a:srgbClr val="86EFA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3206648" y="4095445"/>
            <a:ext cx="1174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of 'pop' column. Use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4274668" y="4095445"/>
            <a:ext cx="650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BA74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Matplotlib</a:t>
            </a:r>
            <a:endParaRPr lang="en-US" sz="1000" dirty="0">
              <a:solidFill>
                <a:srgbClr val="FDBA74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638099" y="4095445"/>
            <a:ext cx="493593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to plot a bar chart. Save as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2013839" y="4195597"/>
            <a:ext cx="6592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output.png</a:t>
            </a:r>
            <a:endParaRPr lang="en-US" sz="1000" dirty="0">
              <a:solidFill>
                <a:srgbClr val="93C5F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4" name="Text 30"/>
          <p:cNvSpPr txBox="1"/>
          <p:nvPr/>
        </p:nvSpPr>
        <p:spPr>
          <a:xfrm>
            <a:off x="2570709" y="4195597"/>
            <a:ext cx="335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with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2801137" y="4195597"/>
            <a:ext cx="4782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300dpi</a:t>
            </a:r>
            <a:endParaRPr lang="en-US" sz="1000" b="1" dirty="0">
              <a:solidFill>
                <a:srgbClr val="86EFAC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3175127" y="4195597"/>
            <a:ext cx="1828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."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638099" y="4545330"/>
            <a:ext cx="477408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 Understanding: ✅ Input: data.csv | Task: Stats + Plot ✅ Stack: Matplotlib | Output: 300dpi PNG</a:t>
            </a:r>
            <a:endParaRPr lang="en-US" sz="1000" i="1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5996686" y="972515"/>
            <a:ext cx="5572354" cy="5639105"/>
          </a:xfrm>
          <a:prstGeom prst="roundRect">
            <a:avLst>
              <a:gd name="adj" fmla="val 3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188710" y="1165454"/>
            <a:ext cx="148864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5W1H 结构化框架</a:t>
            </a:r>
            <a:endParaRPr lang="en-US" sz="13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6188710" y="1454404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188710" y="1454404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2" name="Text 38"/>
          <p:cNvSpPr txBox="1"/>
          <p:nvPr/>
        </p:nvSpPr>
        <p:spPr>
          <a:xfrm>
            <a:off x="6348730" y="1565046"/>
            <a:ext cx="5568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WHAT</a:t>
            </a:r>
            <a:endParaRPr lang="en-US" sz="11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6348730" y="1784502"/>
            <a:ext cx="1838858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具体要做什么任务？Core function definition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8839556" y="1454404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8839556" y="1454404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6" name="Text 42"/>
          <p:cNvSpPr txBox="1"/>
          <p:nvPr/>
        </p:nvSpPr>
        <p:spPr>
          <a:xfrm>
            <a:off x="8999576" y="1565046"/>
            <a:ext cx="47091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WHY</a:t>
            </a:r>
            <a:endParaRPr lang="en-US" sz="11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7" name="Text 43"/>
          <p:cNvSpPr txBox="1"/>
          <p:nvPr/>
        </p:nvSpPr>
        <p:spPr>
          <a:xfrm>
            <a:off x="8999576" y="1784502"/>
            <a:ext cx="19339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业务背景是什么？Context for intent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6188710" y="2303882"/>
            <a:ext cx="2533802" cy="580644"/>
          </a:xfrm>
          <a:prstGeom prst="roundRect">
            <a:avLst>
              <a:gd name="adj" fmla="val 1549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188710" y="2303882"/>
            <a:ext cx="38405" cy="58064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0" name="Text 46"/>
          <p:cNvSpPr txBox="1"/>
          <p:nvPr/>
        </p:nvSpPr>
        <p:spPr>
          <a:xfrm>
            <a:off x="6348730" y="2414524"/>
            <a:ext cx="4800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WHO</a:t>
            </a:r>
            <a:endParaRPr lang="en-US" sz="11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1" name="Text 47"/>
          <p:cNvSpPr txBox="1"/>
          <p:nvPr/>
        </p:nvSpPr>
        <p:spPr>
          <a:xfrm>
            <a:off x="6348730" y="2633066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面向什么用户/读者？Style &amp; Depth level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8839556" y="2303882"/>
            <a:ext cx="2533802" cy="580644"/>
          </a:xfrm>
          <a:prstGeom prst="roundRect">
            <a:avLst>
              <a:gd name="adj" fmla="val 1549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8839556" y="2303882"/>
            <a:ext cx="38405" cy="58064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4" name="Text 50"/>
          <p:cNvSpPr txBox="1"/>
          <p:nvPr/>
        </p:nvSpPr>
        <p:spPr>
          <a:xfrm>
            <a:off x="8999576" y="2414524"/>
            <a:ext cx="57607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WHEN</a:t>
            </a:r>
            <a:endParaRPr lang="en-US" sz="11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51"/>
          <p:cNvSpPr txBox="1"/>
          <p:nvPr/>
        </p:nvSpPr>
        <p:spPr>
          <a:xfrm>
            <a:off x="8999576" y="2633066"/>
            <a:ext cx="20574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批处理还是实时？Performance &amp; Arch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6188710" y="3004312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6188710" y="3004312"/>
            <a:ext cx="38405" cy="7333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8" name="Text 54"/>
          <p:cNvSpPr txBox="1"/>
          <p:nvPr/>
        </p:nvSpPr>
        <p:spPr>
          <a:xfrm>
            <a:off x="6348730" y="3114954"/>
            <a:ext cx="6711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WHERE</a:t>
            </a:r>
            <a:endParaRPr lang="en-US" sz="11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6348730" y="3334410"/>
            <a:ext cx="20866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数据源与输出位置？I/O Path definition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8839556" y="3004312"/>
            <a:ext cx="2533802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1" name="Shape 57"/>
          <p:cNvSpPr/>
          <p:nvPr/>
        </p:nvSpPr>
        <p:spPr>
          <a:xfrm>
            <a:off x="8839556" y="3004312"/>
            <a:ext cx="38405" cy="733349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2" name="Text 58"/>
          <p:cNvSpPr txBox="1"/>
          <p:nvPr/>
        </p:nvSpPr>
        <p:spPr>
          <a:xfrm>
            <a:off x="8999576" y="3114954"/>
            <a:ext cx="4800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HOW</a:t>
            </a:r>
            <a:endParaRPr lang="en-US" sz="1100" b="1" dirty="0">
              <a:solidFill>
                <a:srgbClr val="166534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3" name="Text 59"/>
          <p:cNvSpPr txBox="1"/>
          <p:nvPr/>
        </p:nvSpPr>
        <p:spPr>
          <a:xfrm>
            <a:off x="8999576" y="3334410"/>
            <a:ext cx="12390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技术约束与质量要求？Libs/Specs/Precision</a:t>
            </a:r>
            <a:endParaRPr lang="en-US" sz="9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3"/>
          <a:srcRect t="-2725" b="-2725"/>
          <a:stretch>
            <a:fillRect/>
          </a:stretch>
        </p:blipFill>
        <p:spPr>
          <a:xfrm>
            <a:off x="6188710" y="4031183"/>
            <a:ext cx="142646" cy="171907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6408166" y="3990950"/>
            <a:ext cx="146944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科研场景通用模板</a:t>
            </a:r>
            <a:endParaRPr lang="en-US" sz="13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6" name="Shape 61"/>
          <p:cNvSpPr/>
          <p:nvPr/>
        </p:nvSpPr>
        <p:spPr>
          <a:xfrm>
            <a:off x="6188710" y="4280814"/>
            <a:ext cx="5181905" cy="2143354"/>
          </a:xfrm>
          <a:prstGeom prst="roundRect">
            <a:avLst>
              <a:gd name="adj" fmla="val 1517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6579159" y="4605426"/>
            <a:ext cx="28309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任务描述 (Task)：[Verb] + [Object] + [Purpose]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8" name="Text 63"/>
          <p:cNvSpPr txBox="1"/>
          <p:nvPr/>
        </p:nvSpPr>
        <p:spPr>
          <a:xfrm>
            <a:off x="6579159" y="4863287"/>
            <a:ext cx="27267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数据背景 (Context)：Source / Scale / Format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9" name="Text 64"/>
          <p:cNvSpPr txBox="1"/>
          <p:nvPr/>
        </p:nvSpPr>
        <p:spPr>
          <a:xfrm>
            <a:off x="6579159" y="5121148"/>
            <a:ext cx="30028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处理步骤 (Steps)：Step 1... Step 2... (Logic Chain)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0" name="Text 65"/>
          <p:cNvSpPr txBox="1"/>
          <p:nvPr/>
        </p:nvSpPr>
        <p:spPr>
          <a:xfrm>
            <a:off x="6579159" y="5378094"/>
            <a:ext cx="2945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输出要求 (Output)：Format / Precision / Metrics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1" name="Text 66"/>
          <p:cNvSpPr txBox="1"/>
          <p:nvPr/>
        </p:nvSpPr>
        <p:spPr>
          <a:xfrm>
            <a:off x="6579159" y="5635955"/>
            <a:ext cx="32406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技术约束 (Constraints)：Required Libs / Coding Style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2" name="Text 67"/>
          <p:cNvSpPr txBox="1"/>
          <p:nvPr/>
        </p:nvSpPr>
        <p:spPr>
          <a:xfrm>
            <a:off x="6579159" y="5893816"/>
            <a:ext cx="24505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测试验证 (Test)：Provide Mini Test Case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7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06395" y="3307232"/>
            <a:ext cx="181051" cy="181051"/>
          </a:xfrm>
          <a:prstGeom prst="rect">
            <a:avLst/>
          </a:prstGeom>
        </p:spPr>
      </p:pic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13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09398"/>
            <a:ext cx="38962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规范驱动开发（SDD）总览</a:t>
            </a:r>
            <a:endParaRPr lang="en-US" sz="2400" b="1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886554" y="295351"/>
            <a:ext cx="25630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核心原则、基本流程与三层实践路径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752551"/>
          </a:xfrm>
          <a:prstGeom prst="roundRect">
            <a:avLst>
              <a:gd name="adj" fmla="val 18457"/>
            </a:avLst>
          </a:prstGeom>
          <a:solidFill>
            <a:srgbClr val="F1F5F9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752551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743407" y="1152144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8700" y="1141171"/>
            <a:ext cx="8028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核心原则</a:t>
            </a:r>
            <a:endParaRPr lang="en-US" sz="1300" b="1" dirty="0">
              <a:solidFill>
                <a:srgbClr val="0F172A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43407" y="1420978"/>
            <a:ext cx="48490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 (规范) 是项目的"源头真理"，Code (代码) 只是规范的"实现产物"。</a:t>
            </a:r>
            <a:endParaRPr lang="en-US" sz="12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99094" y="1154887"/>
            <a:ext cx="3209544" cy="418795"/>
          </a:xfrm>
          <a:prstGeom prst="roundRect">
            <a:avLst>
              <a:gd name="adj" fmla="val 396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60943" y="1287475"/>
            <a:ext cx="6336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修改需求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9109253" y="1306678"/>
            <a:ext cx="105156" cy="1143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327794" y="1239926"/>
            <a:ext cx="705002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413748" y="1287475"/>
            <a:ext cx="3675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先改</a:t>
            </a:r>
            <a:endParaRPr lang="en-US" sz="10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9680753" y="1287475"/>
            <a:ext cx="3675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</a:t>
            </a:r>
            <a:endParaRPr lang="en-US" sz="10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10147097" y="1306678"/>
            <a:ext cx="105156" cy="1143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366553" y="1287475"/>
            <a:ext cx="3675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再让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0632643" y="1287475"/>
            <a:ext cx="2532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0780776" y="1287475"/>
            <a:ext cx="3675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更新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1047781" y="1287475"/>
            <a:ext cx="4050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Code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57200" y="1889760"/>
            <a:ext cx="3657600" cy="2946400"/>
          </a:xfrm>
          <a:prstGeom prst="roundRect">
            <a:avLst>
              <a:gd name="adj" fmla="val 7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9049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rcRect t="-2725" b="-2725"/>
          <a:stretch>
            <a:fillRect/>
          </a:stretch>
        </p:blipFill>
        <p:spPr>
          <a:xfrm>
            <a:off x="718718" y="2137867"/>
            <a:ext cx="142646" cy="17190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394253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059669"/>
          </a:solidFill>
        </p:spPr>
      </p:sp>
      <p:sp>
        <p:nvSpPr>
          <p:cNvPr id="28" name="Text 22"/>
          <p:cNvSpPr txBox="1"/>
          <p:nvPr/>
        </p:nvSpPr>
        <p:spPr>
          <a:xfrm>
            <a:off x="3485693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Level 1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619049" y="2480767"/>
            <a:ext cx="174376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Spec-First规范优先</a:t>
            </a:r>
            <a:endParaRPr lang="en-US" sz="1500" b="1" dirty="0">
              <a:solidFill>
                <a:srgbClr val="065F46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619049" y="2775204"/>
            <a:ext cx="3170225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一次性任务的理想起点。先写清楚要求，再让 AI 生成，生成后规范可归档。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19049" y="361884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3742284"/>
            <a:ext cx="105156" cy="1143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4205" y="3752342"/>
            <a:ext cx="13075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适用：&lt;200 行小脚本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3971798"/>
            <a:ext cx="105156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24205" y="3980942"/>
            <a:ext cx="231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比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853135" y="3980942"/>
            <a:ext cx="764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Vibe Coding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1511503" y="3980942"/>
            <a:ext cx="6217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质量更高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4267200" y="1889760"/>
            <a:ext cx="3657600" cy="2946400"/>
          </a:xfrm>
          <a:prstGeom prst="roundRect">
            <a:avLst>
              <a:gd name="adj" fmla="val 7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429354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/>
          <a:srcRect t="-842" b="-842"/>
          <a:stretch>
            <a:fillRect/>
          </a:stretch>
        </p:blipFill>
        <p:spPr>
          <a:xfrm>
            <a:off x="4505249" y="2137867"/>
            <a:ext cx="190195" cy="171907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204558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</p:spPr>
      </p:sp>
      <p:sp>
        <p:nvSpPr>
          <p:cNvPr id="42" name="Text 33"/>
          <p:cNvSpPr txBox="1"/>
          <p:nvPr/>
        </p:nvSpPr>
        <p:spPr>
          <a:xfrm>
            <a:off x="7295998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Level 2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4429354" y="2480767"/>
            <a:ext cx="21534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Spec-Anchored规范锚定</a:t>
            </a:r>
            <a:endParaRPr lang="en-US" sz="1500" b="1" dirty="0">
              <a:solidFill>
                <a:srgbClr val="1E40A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4" name="Text 35"/>
          <p:cNvSpPr txBox="1"/>
          <p:nvPr/>
        </p:nvSpPr>
        <p:spPr>
          <a:xfrm>
            <a:off x="4429354" y="2775204"/>
            <a:ext cx="3398825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工程化标准。规范与代码同步更新，作为长期维护的锚点，需 Git 管理。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4429354" y="361884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3742284"/>
            <a:ext cx="105156" cy="1143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4533595" y="3752342"/>
            <a:ext cx="14118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适用：500-2000 行项目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3971798"/>
            <a:ext cx="105156" cy="1143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4533595" y="3980942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团队协作与长期维护必备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8077200" y="1889760"/>
            <a:ext cx="3657600" cy="2946400"/>
          </a:xfrm>
          <a:prstGeom prst="roundRect">
            <a:avLst>
              <a:gd name="adj" fmla="val 781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8238744" y="205191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CE7F3"/>
          </a:solidFill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7"/>
          <a:srcRect t="-2725" b="-2725"/>
          <a:stretch>
            <a:fillRect/>
          </a:stretch>
        </p:blipFill>
        <p:spPr>
          <a:xfrm>
            <a:off x="8339328" y="2137867"/>
            <a:ext cx="142646" cy="171907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11013948" y="2051914"/>
            <a:ext cx="562356" cy="228600"/>
          </a:xfrm>
          <a:prstGeom prst="roundRect">
            <a:avLst>
              <a:gd name="adj" fmla="val 400000"/>
            </a:avLst>
          </a:prstGeom>
          <a:solidFill>
            <a:srgbClr val="DB2777"/>
          </a:solidFill>
        </p:spPr>
      </p:sp>
      <p:sp>
        <p:nvSpPr>
          <p:cNvPr id="54" name="Text 42"/>
          <p:cNvSpPr txBox="1"/>
          <p:nvPr/>
        </p:nvSpPr>
        <p:spPr>
          <a:xfrm>
            <a:off x="11105388" y="2093976"/>
            <a:ext cx="472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Level 3</a:t>
            </a:r>
            <a:endParaRPr lang="en-US" sz="900" b="1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43"/>
          <p:cNvSpPr txBox="1"/>
          <p:nvPr/>
        </p:nvSpPr>
        <p:spPr>
          <a:xfrm>
            <a:off x="8238744" y="2480767"/>
            <a:ext cx="23344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D174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Spec-as-Source规范即源码</a:t>
            </a:r>
            <a:endParaRPr lang="en-US" sz="1500" b="1" dirty="0">
              <a:solidFill>
                <a:srgbClr val="9D174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6" name="Text 44"/>
          <p:cNvSpPr txBox="1"/>
          <p:nvPr/>
        </p:nvSpPr>
        <p:spPr>
          <a:xfrm>
            <a:off x="8238744" y="2775204"/>
            <a:ext cx="3398825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极致自动化。只编辑规范，代码完全自动生成且不可手动修改，保证绝对一致。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8238744" y="3618840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3742284"/>
            <a:ext cx="105156" cy="1143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8343900" y="3752342"/>
            <a:ext cx="14310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适用：结构化/重复逻辑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3971798"/>
            <a:ext cx="105156" cy="114300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343900" y="3980942"/>
            <a:ext cx="10881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100% 一致性保障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2" name="Shape 48"/>
          <p:cNvSpPr/>
          <p:nvPr/>
        </p:nvSpPr>
        <p:spPr>
          <a:xfrm>
            <a:off x="456565" y="5249012"/>
            <a:ext cx="11277295" cy="448056"/>
          </a:xfrm>
          <a:prstGeom prst="roundRect">
            <a:avLst>
              <a:gd name="adj" fmla="val 34737"/>
            </a:avLst>
          </a:prstGeom>
          <a:solidFill>
            <a:srgbClr val="F8FAFC"/>
          </a:solidFill>
        </p:spPr>
      </p:sp>
      <p:sp>
        <p:nvSpPr>
          <p:cNvPr id="64" name="Text 50"/>
          <p:cNvSpPr txBox="1"/>
          <p:nvPr/>
        </p:nvSpPr>
        <p:spPr>
          <a:xfrm>
            <a:off x="685165" y="5398059"/>
            <a:ext cx="650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核心收益</a:t>
            </a:r>
            <a:endParaRPr lang="en-US" sz="1000" b="1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9"/>
          <a:srcRect l="-837" r="-837"/>
          <a:stretch>
            <a:fillRect/>
          </a:stretch>
        </p:blipFill>
        <p:spPr>
          <a:xfrm>
            <a:off x="1610538" y="5409032"/>
            <a:ext cx="152705" cy="133502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1762328" y="5392572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少走弯路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615463" y="5409032"/>
            <a:ext cx="133502" cy="133502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2748966" y="5392572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可复现性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>
            <a:fillRect/>
          </a:stretch>
        </p:blipFill>
        <p:spPr>
          <a:xfrm>
            <a:off x="3602101" y="5409032"/>
            <a:ext cx="171907" cy="133502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3774008" y="5392572"/>
            <a:ext cx="7891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协作无障碍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764303" y="5409032"/>
            <a:ext cx="133502" cy="133502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4897806" y="5392572"/>
            <a:ext cx="7891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长期可维护</a:t>
            </a:r>
            <a:endParaRPr lang="en-US" sz="1000" dirty="0">
              <a:solidFill>
                <a:srgbClr val="47556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14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76824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Level 1: Spec-First (规范优先)</a:t>
            </a:r>
            <a:endParaRPr lang="en-US" sz="2100" dirty="0">
              <a:solidFill>
                <a:srgbClr val="FFFFFF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71416" y="267005"/>
            <a:ext cx="9144" cy="228600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7" name="Text 5"/>
          <p:cNvSpPr txBox="1"/>
          <p:nvPr/>
        </p:nvSpPr>
        <p:spPr>
          <a:xfrm>
            <a:off x="4785970" y="295351"/>
            <a:ext cx="2953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D1FAE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快速、高效、可追溯的入门级实践</a:t>
            </a:r>
            <a:endParaRPr lang="zh-CN" altLang="en-US" sz="1200" dirty="0">
              <a:solidFill>
                <a:srgbClr val="D1FAE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944575"/>
            <a:ext cx="4267505" cy="1943100"/>
          </a:xfrm>
          <a:prstGeom prst="roundRect">
            <a:avLst>
              <a:gd name="adj" fmla="val 23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8874" y="1114654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17474" y="1076249"/>
            <a:ext cx="1420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Standard Workflow</a:t>
            </a:r>
            <a:endParaRPr lang="en-US" sz="12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001975"/>
            <a:ext cx="4267505" cy="1238098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8874" y="3171139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7474" y="3133649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Applicable Scenarios</a:t>
            </a:r>
            <a:endParaRPr lang="en-US" sz="12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88874" y="3453689"/>
            <a:ext cx="1772107" cy="286207"/>
          </a:xfrm>
          <a:prstGeom prst="roundRect">
            <a:avLst>
              <a:gd name="adj" fmla="val 42599"/>
            </a:avLst>
          </a:prstGeom>
          <a:solidFill>
            <a:srgbClr val="ECFDF5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680314" y="3529584"/>
            <a:ext cx="95098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1306" y="3499409"/>
            <a:ext cx="150693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Small Scripts (&lt;200 lines)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426818" y="3453689"/>
            <a:ext cx="1723644" cy="286207"/>
          </a:xfrm>
          <a:prstGeom prst="roundRect">
            <a:avLst>
              <a:gd name="adj" fmla="val 42599"/>
            </a:avLst>
          </a:prstGeom>
          <a:solidFill>
            <a:srgbClr val="ECFDF5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2518258" y="3529584"/>
            <a:ext cx="114300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709367" y="3499409"/>
            <a:ext cx="144018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One-off Data Processing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88874" y="3815791"/>
            <a:ext cx="1895551" cy="286207"/>
          </a:xfrm>
          <a:prstGeom prst="roundRect">
            <a:avLst>
              <a:gd name="adj" fmla="val 42599"/>
            </a:avLst>
          </a:prstGeom>
          <a:solidFill>
            <a:srgbClr val="ECFDF5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80314" y="3891686"/>
            <a:ext cx="114300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0509" y="3860597"/>
            <a:ext cx="162123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Quick Prototype Validation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2553919" y="3815791"/>
            <a:ext cx="1895551" cy="286207"/>
          </a:xfrm>
          <a:prstGeom prst="roundRect">
            <a:avLst>
              <a:gd name="adj" fmla="val 42599"/>
            </a:avLst>
          </a:prstGeom>
          <a:solidFill>
            <a:srgbClr val="ECFDF5"/>
          </a:solidFill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1554" b="-1554"/>
          <a:stretch>
            <a:fillRect/>
          </a:stretch>
        </p:blipFill>
        <p:spPr>
          <a:xfrm>
            <a:off x="2645359" y="3891686"/>
            <a:ext cx="161849" cy="1335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883103" y="3860597"/>
            <a:ext cx="157368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Learning New Tech Stacks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57200" y="4354373"/>
            <a:ext cx="2076602" cy="819302"/>
          </a:xfrm>
          <a:prstGeom prst="roundRect">
            <a:avLst>
              <a:gd name="adj" fmla="val 10382"/>
            </a:avLst>
          </a:prstGeom>
          <a:solidFill>
            <a:srgbClr val="F0FDF4"/>
          </a:solidFill>
        </p:spPr>
      </p:sp>
      <p:sp>
        <p:nvSpPr>
          <p:cNvPr id="27" name="Shape 19"/>
          <p:cNvSpPr/>
          <p:nvPr/>
        </p:nvSpPr>
        <p:spPr>
          <a:xfrm>
            <a:off x="457200" y="4354373"/>
            <a:ext cx="28346" cy="819302"/>
          </a:xfrm>
          <a:prstGeom prst="rect">
            <a:avLst/>
          </a:prstGeom>
          <a:solidFill>
            <a:srgbClr val="22C55E"/>
          </a:solidFill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08076" y="4493362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17474" y="4486046"/>
            <a:ext cx="3703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Pros</a:t>
            </a:r>
            <a:endParaRPr lang="en-US" sz="1000" dirty="0">
              <a:solidFill>
                <a:srgbClr val="065F46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608076" y="4701845"/>
            <a:ext cx="17126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Higher quality than pure chat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608076" y="4880153"/>
            <a:ext cx="15700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Documented and traceable</a:t>
            </a:r>
            <a:endParaRPr lang="en-US" sz="1000" dirty="0">
              <a:solidFill>
                <a:srgbClr val="047857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2651760" y="4354373"/>
            <a:ext cx="2076602" cy="819302"/>
          </a:xfrm>
          <a:prstGeom prst="roundRect">
            <a:avLst>
              <a:gd name="adj" fmla="val 10382"/>
            </a:avLst>
          </a:prstGeom>
          <a:solidFill>
            <a:srgbClr val="FFF1F2"/>
          </a:solidFill>
        </p:spPr>
      </p:sp>
      <p:sp>
        <p:nvSpPr>
          <p:cNvPr id="33" name="Shape 24"/>
          <p:cNvSpPr/>
          <p:nvPr/>
        </p:nvSpPr>
        <p:spPr>
          <a:xfrm>
            <a:off x="2651760" y="4354373"/>
            <a:ext cx="28346" cy="819302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801722" y="4493362"/>
            <a:ext cx="133502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012034" y="4486046"/>
            <a:ext cx="4078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Cons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2801722" y="4701845"/>
            <a:ext cx="15700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Spec can become outdated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2801722" y="4880153"/>
            <a:ext cx="15608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Not for complex iterations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4907585" y="944575"/>
            <a:ext cx="6829654" cy="4524451"/>
          </a:xfrm>
          <a:prstGeom prst="roundRect">
            <a:avLst>
              <a:gd name="adj" fmla="val 425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907585" y="944575"/>
            <a:ext cx="6829654" cy="37124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0" name="Shape 30"/>
          <p:cNvSpPr/>
          <p:nvPr/>
        </p:nvSpPr>
        <p:spPr>
          <a:xfrm>
            <a:off x="4907585" y="1306678"/>
            <a:ext cx="6829654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1" name="Text 31"/>
          <p:cNvSpPr txBox="1"/>
          <p:nvPr/>
        </p:nvSpPr>
        <p:spPr>
          <a:xfrm>
            <a:off x="5059375" y="1039673"/>
            <a:ext cx="23801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📄 spec_poi_density.md (Example Spec)</a:t>
            </a:r>
            <a:endParaRPr lang="en-US" sz="1000" dirty="0">
              <a:solidFill>
                <a:srgbClr val="94A3B8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11080699" y="1057046"/>
            <a:ext cx="5907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Markdown</a:t>
            </a:r>
            <a:endParaRPr lang="en-US" sz="9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Text 33"/>
          <p:cNvSpPr txBox="1"/>
          <p:nvPr/>
        </p:nvSpPr>
        <p:spPr>
          <a:xfrm>
            <a:off x="5059375" y="1453896"/>
            <a:ext cx="21643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 Feature: POI Kernel Density Analysis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4" name="Text 34"/>
          <p:cNvSpPr txBox="1"/>
          <p:nvPr/>
        </p:nvSpPr>
        <p:spPr>
          <a:xfrm>
            <a:off x="5059375" y="1723644"/>
            <a:ext cx="65836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## 1. Requirements Overview Calculate kernel density of urban POIs, generate heatmap for spatial distribution visualization.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Text 35"/>
          <p:cNvSpPr txBox="1"/>
          <p:nvPr/>
        </p:nvSpPr>
        <p:spPr>
          <a:xfrm>
            <a:off x="5059375" y="2032711"/>
            <a:ext cx="65745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## 2. Input Data - pois.geojson: GeoDataFrame, Point Geometry, EPSG:4326 - boundary.shp: Study Area Boundary Polygon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5059375" y="2341778"/>
            <a:ext cx="632673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## 3. Output Deliverables - density.tif: GeoTIFF Density Raster (Float32) - heatmap.png: Visual Heatmap (300dpi, with legend)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7" name="Text 37"/>
          <p:cNvSpPr txBox="1"/>
          <p:nvPr/>
        </p:nvSpPr>
        <p:spPr>
          <a:xfrm>
            <a:off x="5059375" y="2844698"/>
            <a:ext cx="620329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## 4. Algorithms &amp; Parameters - Method: Gaussian Kernel Density Estimation - Bandwidth: Use Scott's rule adaptive calculation - Resolution: 100 meters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5059375" y="3347618"/>
            <a:ext cx="647943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## 5. Code Requirements - Function Signature: calculate_kde(gdf, bandwidth=None) -&gt; raster - Must include Google-style docstrings - Unit test coverage &gt; 80%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4907585" y="5609742"/>
            <a:ext cx="6829654" cy="780898"/>
          </a:xfrm>
          <a:prstGeom prst="roundRect">
            <a:avLst>
              <a:gd name="adj" fmla="val 1142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5031029" y="5771591"/>
            <a:ext cx="133502" cy="171907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5278831" y="5752389"/>
            <a:ext cx="5669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Key Tip</a:t>
            </a:r>
            <a:endParaRPr lang="en-US" sz="1000" dirty="0">
              <a:solidFill>
                <a:srgbClr val="92400E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2" name="Text 41"/>
          <p:cNvSpPr txBox="1"/>
          <p:nvPr/>
        </p:nvSpPr>
        <p:spPr>
          <a:xfrm>
            <a:off x="5278831" y="5971845"/>
            <a:ext cx="6106363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The clearer the Spec (especially input/output formats and core algorithm parameters), the higher the usability of AI-generated code, reducing Debug time.</a:t>
            </a:r>
            <a:endParaRPr lang="en-US" sz="900" dirty="0">
              <a:solidFill>
                <a:srgbClr val="B4530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588874" y="139628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662940" y="1410005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</a:t>
            </a:r>
            <a:endParaRPr lang="en-US" sz="900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44"/>
          <p:cNvSpPr txBox="1"/>
          <p:nvPr/>
        </p:nvSpPr>
        <p:spPr>
          <a:xfrm>
            <a:off x="889711" y="1418234"/>
            <a:ext cx="17702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Define Requirements &amp; Goals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6" name="Shape 45"/>
          <p:cNvSpPr/>
          <p:nvPr/>
        </p:nvSpPr>
        <p:spPr>
          <a:xfrm>
            <a:off x="588874" y="1681582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662940" y="1695298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</a:t>
            </a:r>
            <a:endParaRPr lang="en-US" sz="900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8" name="Text 47"/>
          <p:cNvSpPr txBox="1"/>
          <p:nvPr/>
        </p:nvSpPr>
        <p:spPr>
          <a:xfrm>
            <a:off x="889711" y="1704442"/>
            <a:ext cx="13889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Write Spec Document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2173529" y="1704442"/>
            <a:ext cx="7982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(Markdown)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588874" y="196778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662940" y="1981505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3</a:t>
            </a:r>
            <a:endParaRPr lang="en-US" sz="900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2" name="Text 51"/>
          <p:cNvSpPr txBox="1"/>
          <p:nvPr/>
        </p:nvSpPr>
        <p:spPr>
          <a:xfrm>
            <a:off x="889711" y="1989734"/>
            <a:ext cx="19988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AI Generates Code Based on Spec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3" name="Shape 52"/>
          <p:cNvSpPr/>
          <p:nvPr/>
        </p:nvSpPr>
        <p:spPr>
          <a:xfrm>
            <a:off x="588874" y="2253082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662940" y="2266798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4</a:t>
            </a:r>
            <a:endParaRPr lang="en-US" sz="900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5" name="Text 54"/>
          <p:cNvSpPr txBox="1"/>
          <p:nvPr/>
        </p:nvSpPr>
        <p:spPr>
          <a:xfrm>
            <a:off x="889711" y="2275942"/>
            <a:ext cx="19796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Manual Review &amp; Simple Testing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6" name="Shape 55"/>
          <p:cNvSpPr/>
          <p:nvPr/>
        </p:nvSpPr>
        <p:spPr>
          <a:xfrm>
            <a:off x="588874" y="253928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662940" y="2553005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803D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5</a:t>
            </a:r>
            <a:endParaRPr lang="en-US" sz="900" dirty="0">
              <a:solidFill>
                <a:srgbClr val="15803D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8" name="Text 57"/>
          <p:cNvSpPr txBox="1"/>
          <p:nvPr/>
        </p:nvSpPr>
        <p:spPr>
          <a:xfrm>
            <a:off x="889711" y="2561234"/>
            <a:ext cx="17318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Task Complete, Archive Spec</a:t>
            </a:r>
            <a:endParaRPr lang="en-US" sz="1000" dirty="0">
              <a:solidFill>
                <a:srgbClr val="334155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15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478779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2: Spec-Anchored（规范锚定）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91886" y="267005"/>
            <a:ext cx="9144" cy="22860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7" name="Text 5"/>
          <p:cNvSpPr txBox="1"/>
          <p:nvPr/>
        </p:nvSpPr>
        <p:spPr>
          <a:xfrm>
            <a:off x="5806440" y="295351"/>
            <a:ext cx="1953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长期维护项目的工程化标准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3095" y="990295"/>
            <a:ext cx="11125505" cy="1514246"/>
          </a:xfrm>
          <a:prstGeom prst="roundRect">
            <a:avLst>
              <a:gd name="adj" fmla="val 4557"/>
            </a:avLst>
          </a:prstGeom>
          <a:solidFill>
            <a:srgbClr val="EFF6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3095" y="990295"/>
            <a:ext cx="57607" cy="1514246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95198" y="1181405"/>
            <a:ext cx="15270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23798" y="1143000"/>
            <a:ext cx="2105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锚定流程：Spec作为长期锚点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1723644"/>
            <a:ext cx="1676095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3" name="Shape 10"/>
          <p:cNvSpPr/>
          <p:nvPr/>
        </p:nvSpPr>
        <p:spPr>
          <a:xfrm>
            <a:off x="5289804" y="1723644"/>
            <a:ext cx="1676095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4" name="Shape 11"/>
          <p:cNvSpPr/>
          <p:nvPr/>
        </p:nvSpPr>
        <p:spPr>
          <a:xfrm>
            <a:off x="8292694" y="1723644"/>
            <a:ext cx="1676095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5" name="Shape 12"/>
          <p:cNvSpPr/>
          <p:nvPr/>
        </p:nvSpPr>
        <p:spPr>
          <a:xfrm>
            <a:off x="533400" y="2593975"/>
            <a:ext cx="5429885" cy="4165600"/>
          </a:xfrm>
          <a:prstGeom prst="roundRect">
            <a:avLst>
              <a:gd name="adj" fmla="val 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771754" y="3298952"/>
            <a:ext cx="49533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Shape 14"/>
          <p:cNvSpPr/>
          <p:nvPr/>
        </p:nvSpPr>
        <p:spPr>
          <a:xfrm>
            <a:off x="771754" y="283169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707" y="2917647"/>
            <a:ext cx="171907" cy="17190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6269" y="2906674"/>
            <a:ext cx="16404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适用场景与核心实践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1754" y="3496462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46074" y="3487318"/>
            <a:ext cx="16002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中型项目 (500-2000行)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46074" y="3736950"/>
            <a:ext cx="29891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代码量超出记忆范围，需要文档作为外部记忆。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t="-180" b="-180"/>
          <a:stretch>
            <a:fillRect/>
          </a:stretch>
        </p:blipFill>
        <p:spPr>
          <a:xfrm>
            <a:off x="771754" y="4113682"/>
            <a:ext cx="19019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83564" y="4104538"/>
            <a:ext cx="10387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团队协作项目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83564" y="4354170"/>
            <a:ext cx="36274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多人开发时，Spec是唯一的共识来源，避免"Vibe"不一致。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71754" y="4730902"/>
            <a:ext cx="152705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46074" y="4721758"/>
            <a:ext cx="10387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长期维护项目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46074" y="4971390"/>
            <a:ext cx="31802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3个月后重看代码，Spec比注释更易理解业务逻辑。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71754" y="5158943"/>
            <a:ext cx="4953305" cy="1086307"/>
          </a:xfrm>
          <a:prstGeom prst="roundRect">
            <a:avLst>
              <a:gd name="adj" fmla="val 5907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33602" y="5339994"/>
            <a:ext cx="9701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三大核心实践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33602" y="5648147"/>
            <a:ext cx="1181405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65276" y="5749646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197864" y="5718556"/>
            <a:ext cx="87873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双向同步更新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198218" y="5648147"/>
            <a:ext cx="13149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2328977" y="5749646"/>
            <a:ext cx="114300" cy="13350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2443277" y="5718556"/>
            <a:ext cx="104058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Spec纳入Git管理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3601822" y="5648147"/>
            <a:ext cx="14292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732581" y="5749646"/>
            <a:ext cx="133502" cy="13350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866083" y="5718556"/>
            <a:ext cx="112654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评审查Spec一致性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233160" y="2593975"/>
            <a:ext cx="5429885" cy="4165600"/>
          </a:xfrm>
          <a:prstGeom prst="roundRect">
            <a:avLst>
              <a:gd name="adj" fmla="val 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471209" y="3298952"/>
            <a:ext cx="49533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32"/>
          <p:cNvSpPr/>
          <p:nvPr/>
        </p:nvSpPr>
        <p:spPr>
          <a:xfrm>
            <a:off x="6471209" y="283169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2E8F0"/>
          </a:solidFill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6547104" y="2917647"/>
            <a:ext cx="190195" cy="1719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935724" y="2906674"/>
            <a:ext cx="18790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Bank 体系架构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6471209" y="3174644"/>
            <a:ext cx="27578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通过结构化文档体系，为AI建立"长期记忆"。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471209" y="3354857"/>
            <a:ext cx="4953305" cy="3258007"/>
          </a:xfrm>
          <a:prstGeom prst="roundRect">
            <a:avLst>
              <a:gd name="adj" fmla="val 657"/>
            </a:avLst>
          </a:prstGeom>
          <a:solidFill>
            <a:srgbClr val="1E293B"/>
          </a:solidFill>
        </p:spPr>
      </p:sp>
      <p:sp>
        <p:nvSpPr>
          <p:cNvPr id="47" name="Shape 36"/>
          <p:cNvSpPr/>
          <p:nvPr/>
        </p:nvSpPr>
        <p:spPr>
          <a:xfrm>
            <a:off x="10216591" y="3507562"/>
            <a:ext cx="1057046" cy="276149"/>
          </a:xfrm>
          <a:prstGeom prst="roundRect">
            <a:avLst>
              <a:gd name="adj" fmla="val 45672"/>
            </a:avLst>
          </a:prstGeom>
          <a:solidFill>
            <a:srgbClr val="059669"/>
          </a:solidFill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 t="-524" b="-524"/>
          <a:stretch>
            <a:fillRect/>
          </a:stretch>
        </p:blipFill>
        <p:spPr>
          <a:xfrm>
            <a:off x="10338206" y="3582543"/>
            <a:ext cx="152705" cy="12344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566806" y="3553282"/>
            <a:ext cx="6729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Context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6699809" y="3621862"/>
            <a:ext cx="7699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6699809" y="3855034"/>
            <a:ext cx="3511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6947611" y="3855034"/>
            <a:ext cx="10936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8089697" y="3864178"/>
            <a:ext cx="1002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 上下文核心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6699809" y="4088206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7112203" y="4088206"/>
            <a:ext cx="13414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8503006" y="4098265"/>
            <a:ext cx="7168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项目宪法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6699809" y="4321378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7112203" y="4321378"/>
            <a:ext cx="13414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8503006" y="4331437"/>
            <a:ext cx="7168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架构设计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6699809" y="4554550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7112203" y="4554550"/>
            <a:ext cx="16751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coding-standards.md</a:t>
            </a:r>
            <a:endParaRPr lang="en-US" sz="1000" dirty="0"/>
          </a:p>
        </p:txBody>
      </p:sp>
      <p:sp>
        <p:nvSpPr>
          <p:cNvPr id="62" name="Text 50"/>
          <p:cNvSpPr txBox="1"/>
          <p:nvPr/>
        </p:nvSpPr>
        <p:spPr>
          <a:xfrm>
            <a:off x="8833104" y="4564609"/>
            <a:ext cx="7168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编码规范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6699809" y="4787722"/>
            <a:ext cx="1892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64" name="Text 52"/>
          <p:cNvSpPr txBox="1"/>
          <p:nvPr/>
        </p:nvSpPr>
        <p:spPr>
          <a:xfrm>
            <a:off x="6699809" y="5020894"/>
            <a:ext cx="3511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6947611" y="5020894"/>
            <a:ext cx="5989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1000" dirty="0"/>
          </a:p>
        </p:txBody>
      </p:sp>
      <p:sp>
        <p:nvSpPr>
          <p:cNvPr id="66" name="Text 54"/>
          <p:cNvSpPr txBox="1"/>
          <p:nvPr/>
        </p:nvSpPr>
        <p:spPr>
          <a:xfrm>
            <a:off x="7595006" y="5030953"/>
            <a:ext cx="7168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功能规范</a:t>
            </a:r>
            <a:endParaRPr lang="en-US" sz="1000" dirty="0"/>
          </a:p>
        </p:txBody>
      </p:sp>
      <p:sp>
        <p:nvSpPr>
          <p:cNvPr id="67" name="Text 55"/>
          <p:cNvSpPr txBox="1"/>
          <p:nvPr/>
        </p:nvSpPr>
        <p:spPr>
          <a:xfrm>
            <a:off x="6699809" y="5254066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68" name="Text 56"/>
          <p:cNvSpPr txBox="1"/>
          <p:nvPr/>
        </p:nvSpPr>
        <p:spPr>
          <a:xfrm>
            <a:off x="7112203" y="5254066"/>
            <a:ext cx="10936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feature-001/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6699809" y="5487238"/>
            <a:ext cx="683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7277710" y="5487238"/>
            <a:ext cx="13414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sp>
        <p:nvSpPr>
          <p:cNvPr id="71" name="Text 59"/>
          <p:cNvSpPr txBox="1"/>
          <p:nvPr/>
        </p:nvSpPr>
        <p:spPr>
          <a:xfrm>
            <a:off x="6699809" y="5720410"/>
            <a:ext cx="68397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</a:t>
            </a:r>
            <a:endParaRPr lang="en-US" sz="1000" dirty="0"/>
          </a:p>
        </p:txBody>
      </p:sp>
      <p:sp>
        <p:nvSpPr>
          <p:cNvPr id="72" name="Text 60"/>
          <p:cNvSpPr txBox="1"/>
          <p:nvPr/>
        </p:nvSpPr>
        <p:spPr>
          <a:xfrm>
            <a:off x="7277710" y="5720410"/>
            <a:ext cx="7699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tests.md</a:t>
            </a:r>
            <a:endParaRPr lang="en-US" sz="1000" dirty="0"/>
          </a:p>
        </p:txBody>
      </p:sp>
      <p:sp>
        <p:nvSpPr>
          <p:cNvPr id="73" name="Text 61"/>
          <p:cNvSpPr txBox="1"/>
          <p:nvPr/>
        </p:nvSpPr>
        <p:spPr>
          <a:xfrm>
            <a:off x="6699809" y="5953582"/>
            <a:ext cx="5221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7112203" y="5953582"/>
            <a:ext cx="10936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feature-002/</a:t>
            </a:r>
            <a:endParaRPr lang="en-US" sz="1000" dirty="0"/>
          </a:p>
        </p:txBody>
      </p:sp>
      <p:sp>
        <p:nvSpPr>
          <p:cNvPr id="75" name="Text 63"/>
          <p:cNvSpPr txBox="1"/>
          <p:nvPr/>
        </p:nvSpPr>
        <p:spPr>
          <a:xfrm>
            <a:off x="6699809" y="6187669"/>
            <a:ext cx="3511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1000" dirty="0"/>
          </a:p>
        </p:txBody>
      </p:sp>
      <p:sp>
        <p:nvSpPr>
          <p:cNvPr id="76" name="Text 64"/>
          <p:cNvSpPr txBox="1"/>
          <p:nvPr/>
        </p:nvSpPr>
        <p:spPr>
          <a:xfrm>
            <a:off x="6947611" y="6187669"/>
            <a:ext cx="4370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77" name="Text 65"/>
          <p:cNvSpPr txBox="1"/>
          <p:nvPr/>
        </p:nvSpPr>
        <p:spPr>
          <a:xfrm>
            <a:off x="7429500" y="6196813"/>
            <a:ext cx="14694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源代码 (基于Spec实现)</a:t>
            </a:r>
            <a:endParaRPr lang="en-US" sz="1000" dirty="0"/>
          </a:p>
        </p:txBody>
      </p:sp>
      <p:sp>
        <p:nvSpPr>
          <p:cNvPr id="79" name="Text 67"/>
          <p:cNvSpPr txBox="1"/>
          <p:nvPr/>
        </p:nvSpPr>
        <p:spPr>
          <a:xfrm>
            <a:off x="1345082" y="2015338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需求变更</a:t>
            </a:r>
            <a:endParaRPr lang="en-US" sz="1000" dirty="0"/>
          </a:p>
        </p:txBody>
      </p:sp>
      <p:sp>
        <p:nvSpPr>
          <p:cNvPr id="80" name="Text 68"/>
          <p:cNvSpPr txBox="1"/>
          <p:nvPr/>
        </p:nvSpPr>
        <p:spPr>
          <a:xfrm>
            <a:off x="1222553" y="2210105"/>
            <a:ext cx="8860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发现新需求/Bug</a:t>
            </a:r>
            <a:endParaRPr lang="en-US" sz="900" dirty="0"/>
          </a:p>
        </p:txBody>
      </p:sp>
      <p:sp>
        <p:nvSpPr>
          <p:cNvPr id="81" name="Shape 69"/>
          <p:cNvSpPr/>
          <p:nvPr/>
        </p:nvSpPr>
        <p:spPr>
          <a:xfrm>
            <a:off x="1419149" y="152430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82" name="Image 10" descr="preencoded.png"/>
          <p:cNvPicPr>
            <a:picLocks noChangeAspect="1"/>
          </p:cNvPicPr>
          <p:nvPr/>
        </p:nvPicPr>
        <p:blipFill>
          <a:blip r:embed="rId11"/>
          <a:srcRect t="-2222" b="-2222"/>
          <a:stretch>
            <a:fillRect/>
          </a:stretch>
        </p:blipFill>
        <p:spPr>
          <a:xfrm>
            <a:off x="1557223" y="1638605"/>
            <a:ext cx="123444" cy="171907"/>
          </a:xfrm>
          <a:prstGeom prst="rect">
            <a:avLst/>
          </a:prstGeom>
        </p:spPr>
      </p:pic>
      <p:sp>
        <p:nvSpPr>
          <p:cNvPr id="83" name="Text 70"/>
          <p:cNvSpPr txBox="1"/>
          <p:nvPr/>
        </p:nvSpPr>
        <p:spPr>
          <a:xfrm>
            <a:off x="4348886" y="2015338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更新Spec</a:t>
            </a:r>
            <a:endParaRPr lang="en-US" sz="1000" dirty="0"/>
          </a:p>
        </p:txBody>
      </p:sp>
      <p:sp>
        <p:nvSpPr>
          <p:cNvPr id="84" name="Text 71"/>
          <p:cNvSpPr txBox="1"/>
          <p:nvPr/>
        </p:nvSpPr>
        <p:spPr>
          <a:xfrm>
            <a:off x="4393692" y="2210105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修改文档</a:t>
            </a:r>
            <a:endParaRPr lang="en-US" sz="900" dirty="0"/>
          </a:p>
        </p:txBody>
      </p:sp>
      <p:sp>
        <p:nvSpPr>
          <p:cNvPr id="85" name="Shape 72"/>
          <p:cNvSpPr/>
          <p:nvPr/>
        </p:nvSpPr>
        <p:spPr>
          <a:xfrm>
            <a:off x="4422953" y="1524305"/>
            <a:ext cx="400507" cy="400507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86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537253" y="1638605"/>
            <a:ext cx="171907" cy="171907"/>
          </a:xfrm>
          <a:prstGeom prst="rect">
            <a:avLst/>
          </a:prstGeom>
        </p:spPr>
      </p:pic>
      <p:sp>
        <p:nvSpPr>
          <p:cNvPr id="87" name="Text 73"/>
          <p:cNvSpPr txBox="1"/>
          <p:nvPr/>
        </p:nvSpPr>
        <p:spPr>
          <a:xfrm>
            <a:off x="7275881" y="2015338"/>
            <a:ext cx="808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AI更新代码</a:t>
            </a:r>
            <a:endParaRPr lang="en-US" sz="1000" dirty="0"/>
          </a:p>
        </p:txBody>
      </p:sp>
      <p:sp>
        <p:nvSpPr>
          <p:cNvPr id="88" name="Text 74"/>
          <p:cNvSpPr txBox="1"/>
          <p:nvPr/>
        </p:nvSpPr>
        <p:spPr>
          <a:xfrm>
            <a:off x="7343546" y="2210105"/>
            <a:ext cx="6574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基于新Spec</a:t>
            </a:r>
            <a:endParaRPr lang="en-US" sz="900" dirty="0"/>
          </a:p>
        </p:txBody>
      </p:sp>
      <p:sp>
        <p:nvSpPr>
          <p:cNvPr id="89" name="Shape 75"/>
          <p:cNvSpPr/>
          <p:nvPr/>
        </p:nvSpPr>
        <p:spPr>
          <a:xfrm>
            <a:off x="7425842" y="152430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90" name="Image 12" descr="preencoded.png"/>
          <p:cNvPicPr>
            <a:picLocks noChangeAspect="1"/>
          </p:cNvPicPr>
          <p:nvPr/>
        </p:nvPicPr>
        <p:blipFill>
          <a:blip r:embed="rId13"/>
          <a:srcRect t="-1310" b="-1310"/>
          <a:stretch>
            <a:fillRect/>
          </a:stretch>
        </p:blipFill>
        <p:spPr>
          <a:xfrm>
            <a:off x="7521854" y="1638605"/>
            <a:ext cx="209398" cy="171907"/>
          </a:xfrm>
          <a:prstGeom prst="rect">
            <a:avLst/>
          </a:prstGeom>
        </p:spPr>
      </p:pic>
      <p:sp>
        <p:nvSpPr>
          <p:cNvPr id="91" name="Text 76"/>
          <p:cNvSpPr txBox="1"/>
          <p:nvPr/>
        </p:nvSpPr>
        <p:spPr>
          <a:xfrm>
            <a:off x="10287000" y="2015338"/>
            <a:ext cx="7891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一致性审查</a:t>
            </a:r>
            <a:endParaRPr lang="en-US" sz="1000" dirty="0"/>
          </a:p>
        </p:txBody>
      </p:sp>
      <p:sp>
        <p:nvSpPr>
          <p:cNvPr id="92" name="Text 77"/>
          <p:cNvSpPr txBox="1"/>
          <p:nvPr/>
        </p:nvSpPr>
        <p:spPr>
          <a:xfrm>
            <a:off x="10289743" y="2210105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确保符合Spec</a:t>
            </a:r>
            <a:endParaRPr lang="en-US" sz="900" dirty="0"/>
          </a:p>
        </p:txBody>
      </p:sp>
      <p:sp>
        <p:nvSpPr>
          <p:cNvPr id="93" name="Shape 78"/>
          <p:cNvSpPr/>
          <p:nvPr/>
        </p:nvSpPr>
        <p:spPr>
          <a:xfrm>
            <a:off x="10429646" y="152430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94" name="Image 13" descr="preencoded.png"/>
          <p:cNvPicPr>
            <a:picLocks noChangeAspect="1"/>
          </p:cNvPicPr>
          <p:nvPr/>
        </p:nvPicPr>
        <p:blipFill>
          <a:blip r:embed="rId14"/>
          <a:srcRect t="-2725" b="-2725"/>
          <a:stretch>
            <a:fillRect/>
          </a:stretch>
        </p:blipFill>
        <p:spPr>
          <a:xfrm>
            <a:off x="10558577" y="1638605"/>
            <a:ext cx="142646" cy="171907"/>
          </a:xfrm>
          <a:prstGeom prst="rect">
            <a:avLst/>
          </a:prstGeom>
        </p:spPr>
      </p:pic>
      <p:sp>
        <p:nvSpPr>
          <p:cNvPr id="100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16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831843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491124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3: Spec-as-Source（规范即源码）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17159" y="267005"/>
            <a:ext cx="9144" cy="228600"/>
          </a:xfrm>
          <a:prstGeom prst="rect">
            <a:avLst/>
          </a:prstGeom>
          <a:solidFill>
            <a:srgbClr val="BE185D"/>
          </a:solidFill>
        </p:spPr>
      </p:sp>
      <p:sp>
        <p:nvSpPr>
          <p:cNvPr id="7" name="Text 5"/>
          <p:cNvSpPr txBox="1"/>
          <p:nvPr/>
        </p:nvSpPr>
        <p:spPr>
          <a:xfrm>
            <a:off x="5931713" y="295351"/>
            <a:ext cx="24103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BCFE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极致自动化：只改规范，不碰代码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752551"/>
          </a:xfrm>
          <a:prstGeom prst="roundRect">
            <a:avLst>
              <a:gd name="adj" fmla="val 18457"/>
            </a:avLst>
          </a:prstGeom>
          <a:solidFill>
            <a:srgbClr val="FDF2F8"/>
          </a:solidFill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752551"/>
          </a:xfrm>
          <a:prstGeom prst="rect">
            <a:avLst/>
          </a:prstGeom>
          <a:solidFill>
            <a:srgbClr val="831843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6773" y="1152144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44575" y="1112825"/>
            <a:ext cx="80284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3184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核心流程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6773" y="1420978"/>
            <a:ext cx="59006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将Spec视为源代码，生成的代码视为编译产物（Build Artifact），禁止人工修改生成的代码。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60513" y="1162202"/>
            <a:ext cx="3800246" cy="409651"/>
          </a:xfrm>
          <a:prstGeom prst="roundRect">
            <a:avLst>
              <a:gd name="adj" fmla="val 41528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82128" y="1222553"/>
            <a:ext cx="866851" cy="286207"/>
          </a:xfrm>
          <a:prstGeom prst="roundRect">
            <a:avLst>
              <a:gd name="adj" fmla="val 42599"/>
            </a:avLst>
          </a:prstGeom>
          <a:solidFill>
            <a:srgbClr val="FCE7F3"/>
          </a:solidFill>
        </p:spPr>
      </p:sp>
      <p:sp>
        <p:nvSpPr>
          <p:cNvPr id="15" name="Text 12"/>
          <p:cNvSpPr txBox="1"/>
          <p:nvPr/>
        </p:nvSpPr>
        <p:spPr>
          <a:xfrm>
            <a:off x="7973568" y="1287475"/>
            <a:ext cx="7836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85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只编辑 Spec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836762" y="1303934"/>
            <a:ext cx="105156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032443" y="1222553"/>
            <a:ext cx="886054" cy="286207"/>
          </a:xfrm>
          <a:prstGeom prst="roundRect">
            <a:avLst>
              <a:gd name="adj" fmla="val 42599"/>
            </a:avLst>
          </a:prstGeom>
          <a:solidFill>
            <a:srgbClr val="F1F5F9"/>
          </a:solidFill>
        </p:spPr>
      </p:sp>
      <p:sp>
        <p:nvSpPr>
          <p:cNvPr id="18" name="Text 14"/>
          <p:cNvSpPr txBox="1"/>
          <p:nvPr/>
        </p:nvSpPr>
        <p:spPr>
          <a:xfrm>
            <a:off x="9123883" y="1287475"/>
            <a:ext cx="7927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自动生成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10000793" y="1303934"/>
            <a:ext cx="105156" cy="1234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197389" y="1222553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1F5F9"/>
          </a:solidFill>
        </p:spPr>
      </p:sp>
      <p:sp>
        <p:nvSpPr>
          <p:cNvPr id="21" name="Text 16"/>
          <p:cNvSpPr txBox="1"/>
          <p:nvPr/>
        </p:nvSpPr>
        <p:spPr>
          <a:xfrm>
            <a:off x="10288829" y="1287475"/>
            <a:ext cx="11548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代码标记为"只读"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1893722"/>
            <a:ext cx="4438498" cy="2314346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049" y="2310689"/>
            <a:ext cx="4114800" cy="19202"/>
          </a:xfrm>
          <a:prstGeom prst="rect">
            <a:avLst/>
          </a:prstGeom>
          <a:solidFill>
            <a:srgbClr val="FCE7F3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049" y="2063801"/>
            <a:ext cx="161849" cy="1618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80898" y="2025396"/>
            <a:ext cx="76809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2405786"/>
            <a:ext cx="123444" cy="1234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3407" y="2415845"/>
            <a:ext cx="37225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高度结构化代码：数据模型定义、API接口定义、CRUD操作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2651760"/>
            <a:ext cx="123444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3407" y="2661818"/>
            <a:ext cx="30467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重复性逻辑：配置管理、样板代码（Boilerplate）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2897734"/>
            <a:ext cx="123444" cy="1234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3407" y="2907792"/>
            <a:ext cx="27130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一致性要求极高：多端数据同步、协议解析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>
            <a:fillRect/>
          </a:stretch>
        </p:blipFill>
        <p:spPr>
          <a:xfrm>
            <a:off x="619049" y="3159252"/>
            <a:ext cx="123444" cy="1234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43407" y="3168396"/>
            <a:ext cx="28465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>
                    <a:alpha val="7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不适用：复杂的自定义业务逻辑、探索性算法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57200" y="4322369"/>
            <a:ext cx="4438498" cy="2314346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19049" y="4739335"/>
            <a:ext cx="4114800" cy="19202"/>
          </a:xfrm>
          <a:prstGeom prst="rect">
            <a:avLst/>
          </a:prstGeom>
          <a:solidFill>
            <a:srgbClr val="FCE7F3"/>
          </a:solidFill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19049" y="4492447"/>
            <a:ext cx="161849" cy="161849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80898" y="4454042"/>
            <a:ext cx="92080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工具与评估</a:t>
            </a:r>
            <a:endParaRPr lang="en-US" sz="12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9049" y="4834433"/>
            <a:ext cx="123444" cy="12344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43407" y="4844491"/>
            <a:ext cx="37133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工具支持：Kiro（内置模式）、自定义脚本（监听文件变化）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619049" y="5126126"/>
            <a:ext cx="1000354" cy="237744"/>
          </a:xfrm>
          <a:prstGeom prst="roundRect">
            <a:avLst>
              <a:gd name="adj" fmla="val 92308"/>
            </a:avLst>
          </a:prstGeom>
          <a:solidFill>
            <a:srgbClr val="DBEAFE"/>
          </a:solidFill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694944" y="5185562"/>
            <a:ext cx="105156" cy="1143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75995" y="5157216"/>
            <a:ext cx="7525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一致性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1701698" y="5126126"/>
            <a:ext cx="809244" cy="237744"/>
          </a:xfrm>
          <a:prstGeom prst="roundRect">
            <a:avLst>
              <a:gd name="adj" fmla="val 92308"/>
            </a:avLst>
          </a:prstGeom>
          <a:solidFill>
            <a:srgbClr val="DBEAFE"/>
          </a:solidFill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777594" y="5185562"/>
            <a:ext cx="114300" cy="1143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967789" y="5157216"/>
            <a:ext cx="5532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修改极简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619049" y="5404104"/>
            <a:ext cx="1037844" cy="237744"/>
          </a:xfrm>
          <a:prstGeom prst="roundRect">
            <a:avLst>
              <a:gd name="adj" fmla="val 92308"/>
            </a:avLst>
          </a:prstGeom>
          <a:solidFill>
            <a:srgbClr val="FFF1F2"/>
          </a:solidFill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94944" y="5463540"/>
            <a:ext cx="114300" cy="11430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886054" y="5435194"/>
            <a:ext cx="7818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123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需工具链支持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5077663" y="1893722"/>
            <a:ext cx="6657746" cy="4743907"/>
          </a:xfrm>
          <a:prstGeom prst="roundRect">
            <a:avLst>
              <a:gd name="adj" fmla="val 464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5077663" y="1893722"/>
            <a:ext cx="6657746" cy="5806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1" name="Shape 36"/>
          <p:cNvSpPr/>
          <p:nvPr/>
        </p:nvSpPr>
        <p:spPr>
          <a:xfrm>
            <a:off x="5077663" y="2465222"/>
            <a:ext cx="6657746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1"/>
          <a:srcRect l="-133" r="-133"/>
          <a:stretch>
            <a:fillRect/>
          </a:stretch>
        </p:blipFill>
        <p:spPr>
          <a:xfrm>
            <a:off x="5191963" y="1993392"/>
            <a:ext cx="85954" cy="11430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5353812" y="1997964"/>
            <a:ext cx="1666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data_models.yaml (Spec)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11087100" y="1969618"/>
            <a:ext cx="533095" cy="190195"/>
          </a:xfrm>
          <a:prstGeom prst="roundRect">
            <a:avLst>
              <a:gd name="adj" fmla="val 96154"/>
            </a:avLst>
          </a:prstGeom>
          <a:solidFill>
            <a:srgbClr val="DB2777"/>
          </a:solidFill>
        </p:spPr>
      </p:sp>
      <p:sp>
        <p:nvSpPr>
          <p:cNvPr id="55" name="Text 39"/>
          <p:cNvSpPr txBox="1"/>
          <p:nvPr/>
        </p:nvSpPr>
        <p:spPr>
          <a:xfrm>
            <a:off x="11162995" y="1997964"/>
            <a:ext cx="4672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Editable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5191963" y="2217420"/>
            <a:ext cx="7296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fields: - id: UUID, primary_key - email: String, unique, required methods: - validate_email(): bool</a:t>
            </a:r>
            <a:endParaRPr lang="en-US" sz="900" dirty="0"/>
          </a:p>
        </p:txBody>
      </p:sp>
      <p:sp>
        <p:nvSpPr>
          <p:cNvPr id="57" name="Shape 41"/>
          <p:cNvSpPr/>
          <p:nvPr/>
        </p:nvSpPr>
        <p:spPr>
          <a:xfrm>
            <a:off x="5077663" y="2469794"/>
            <a:ext cx="6657746" cy="75895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58" name="Shape 42"/>
          <p:cNvSpPr/>
          <p:nvPr/>
        </p:nvSpPr>
        <p:spPr>
          <a:xfrm>
            <a:off x="5184648" y="2919679"/>
            <a:ext cx="6448349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>
            <a:fillRect/>
          </a:stretch>
        </p:blipFill>
        <p:spPr>
          <a:xfrm>
            <a:off x="5184648" y="2673706"/>
            <a:ext cx="105156" cy="1143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5365699" y="2678278"/>
            <a:ext cx="1534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(Generated)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10696651" y="2652674"/>
            <a:ext cx="933602" cy="190195"/>
          </a:xfrm>
          <a:prstGeom prst="roundRect">
            <a:avLst>
              <a:gd name="adj" fmla="val 96154"/>
            </a:avLst>
          </a:prstGeom>
          <a:solidFill>
            <a:srgbClr val="BE185D"/>
          </a:solidFill>
        </p:spPr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>
            <a:fillRect/>
          </a:stretch>
        </p:blipFill>
        <p:spPr>
          <a:xfrm>
            <a:off x="10772546" y="2697480"/>
            <a:ext cx="85954" cy="95098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895990" y="2684678"/>
            <a:ext cx="73426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EDIT</a:t>
            </a:r>
            <a:endParaRPr lang="en-US" sz="800" dirty="0"/>
          </a:p>
        </p:txBody>
      </p:sp>
      <p:sp>
        <p:nvSpPr>
          <p:cNvPr id="64" name="Text 46"/>
          <p:cNvSpPr txBox="1"/>
          <p:nvPr/>
        </p:nvSpPr>
        <p:spPr>
          <a:xfrm>
            <a:off x="5282489" y="3008376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Text 47"/>
          <p:cNvSpPr txBox="1"/>
          <p:nvPr/>
        </p:nvSpPr>
        <p:spPr>
          <a:xfrm>
            <a:off x="5447081" y="3008376"/>
            <a:ext cx="288310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AUTO-GENERATED FROM data_models.yaml</a:t>
            </a:r>
            <a:endParaRPr lang="en-US" sz="900" dirty="0"/>
          </a:p>
        </p:txBody>
      </p:sp>
      <p:sp>
        <p:nvSpPr>
          <p:cNvPr id="66" name="Text 48"/>
          <p:cNvSpPr txBox="1"/>
          <p:nvPr/>
        </p:nvSpPr>
        <p:spPr>
          <a:xfrm>
            <a:off x="5282489" y="3179369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49"/>
          <p:cNvSpPr txBox="1"/>
          <p:nvPr/>
        </p:nvSpPr>
        <p:spPr>
          <a:xfrm>
            <a:off x="5447081" y="3179369"/>
            <a:ext cx="24441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 NOT EDIT THIS FILE MANUALLY</a:t>
            </a:r>
            <a:endParaRPr lang="en-US" sz="900" dirty="0"/>
          </a:p>
        </p:txBody>
      </p:sp>
      <p:sp>
        <p:nvSpPr>
          <p:cNvPr id="68" name="Text 50"/>
          <p:cNvSpPr txBox="1"/>
          <p:nvPr/>
        </p:nvSpPr>
        <p:spPr>
          <a:xfrm>
            <a:off x="5282489" y="3349447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Text 51"/>
          <p:cNvSpPr txBox="1"/>
          <p:nvPr/>
        </p:nvSpPr>
        <p:spPr>
          <a:xfrm>
            <a:off x="5282489" y="3520440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0" name="Text 52"/>
          <p:cNvSpPr txBox="1"/>
          <p:nvPr/>
        </p:nvSpPr>
        <p:spPr>
          <a:xfrm>
            <a:off x="5447081" y="3520440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71" name="Text 53"/>
          <p:cNvSpPr txBox="1"/>
          <p:nvPr/>
        </p:nvSpPr>
        <p:spPr>
          <a:xfrm>
            <a:off x="5740603" y="3520440"/>
            <a:ext cx="90159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dataclasses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6548018" y="3520440"/>
            <a:ext cx="53949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73" name="Text 55"/>
          <p:cNvSpPr txBox="1"/>
          <p:nvPr/>
        </p:nvSpPr>
        <p:spPr>
          <a:xfrm>
            <a:off x="6988759" y="3520440"/>
            <a:ext cx="75895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5282489" y="369143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Text 57"/>
          <p:cNvSpPr txBox="1"/>
          <p:nvPr/>
        </p:nvSpPr>
        <p:spPr>
          <a:xfrm>
            <a:off x="5447081" y="369143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5740603" y="369143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6034126" y="3691433"/>
            <a:ext cx="53949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78" name="Text 60"/>
          <p:cNvSpPr txBox="1"/>
          <p:nvPr/>
        </p:nvSpPr>
        <p:spPr>
          <a:xfrm>
            <a:off x="6474866" y="369143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5282489" y="3861511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5282489" y="4032504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5447081" y="4032504"/>
            <a:ext cx="8348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5282489" y="4203497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83" name="Text 65"/>
          <p:cNvSpPr txBox="1"/>
          <p:nvPr/>
        </p:nvSpPr>
        <p:spPr>
          <a:xfrm>
            <a:off x="5447081" y="4203497"/>
            <a:ext cx="4636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900" dirty="0"/>
          </a:p>
        </p:txBody>
      </p:sp>
      <p:sp>
        <p:nvSpPr>
          <p:cNvPr id="84" name="Text 66"/>
          <p:cNvSpPr txBox="1"/>
          <p:nvPr/>
        </p:nvSpPr>
        <p:spPr>
          <a:xfrm>
            <a:off x="5814670" y="4203497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85" name="Text 67"/>
          <p:cNvSpPr txBox="1"/>
          <p:nvPr/>
        </p:nvSpPr>
        <p:spPr>
          <a:xfrm>
            <a:off x="6108192" y="4203497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</p:txBody>
      </p:sp>
      <p:sp>
        <p:nvSpPr>
          <p:cNvPr id="86" name="Text 68"/>
          <p:cNvSpPr txBox="1"/>
          <p:nvPr/>
        </p:nvSpPr>
        <p:spPr>
          <a:xfrm>
            <a:off x="5282489" y="4373575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87" name="Text 69"/>
          <p:cNvSpPr txBox="1"/>
          <p:nvPr/>
        </p:nvSpPr>
        <p:spPr>
          <a:xfrm>
            <a:off x="5447081" y="4373575"/>
            <a:ext cx="6821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UUID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5209337" y="4544568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89" name="Text 71"/>
          <p:cNvSpPr txBox="1"/>
          <p:nvPr/>
        </p:nvSpPr>
        <p:spPr>
          <a:xfrm>
            <a:off x="5447081" y="4544568"/>
            <a:ext cx="8348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</a:t>
            </a:r>
            <a:endParaRPr lang="en-US" sz="900" dirty="0"/>
          </a:p>
        </p:txBody>
      </p:sp>
      <p:sp>
        <p:nvSpPr>
          <p:cNvPr id="90" name="Text 72"/>
          <p:cNvSpPr txBox="1"/>
          <p:nvPr/>
        </p:nvSpPr>
        <p:spPr>
          <a:xfrm>
            <a:off x="5209337" y="4715561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91" name="Text 73"/>
          <p:cNvSpPr txBox="1"/>
          <p:nvPr/>
        </p:nvSpPr>
        <p:spPr>
          <a:xfrm>
            <a:off x="5209337" y="4885639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2" name="Text 74"/>
          <p:cNvSpPr txBox="1"/>
          <p:nvPr/>
        </p:nvSpPr>
        <p:spPr>
          <a:xfrm>
            <a:off x="5447081" y="4885639"/>
            <a:ext cx="3209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900" dirty="0"/>
          </a:p>
        </p:txBody>
      </p:sp>
      <p:sp>
        <p:nvSpPr>
          <p:cNvPr id="93" name="Text 75"/>
          <p:cNvSpPr txBox="1"/>
          <p:nvPr/>
        </p:nvSpPr>
        <p:spPr>
          <a:xfrm>
            <a:off x="5667451" y="4885639"/>
            <a:ext cx="112014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</a:t>
            </a:r>
            <a:endParaRPr lang="en-US" sz="900" dirty="0"/>
          </a:p>
        </p:txBody>
      </p:sp>
      <p:sp>
        <p:nvSpPr>
          <p:cNvPr id="94" name="Text 76"/>
          <p:cNvSpPr txBox="1"/>
          <p:nvPr/>
        </p:nvSpPr>
        <p:spPr>
          <a:xfrm>
            <a:off x="6695237" y="4885639"/>
            <a:ext cx="11969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bool:</a:t>
            </a:r>
            <a:endParaRPr lang="en-US" sz="900" dirty="0"/>
          </a:p>
        </p:txBody>
      </p:sp>
      <p:sp>
        <p:nvSpPr>
          <p:cNvPr id="95" name="Text 77"/>
          <p:cNvSpPr txBox="1"/>
          <p:nvPr/>
        </p:nvSpPr>
        <p:spPr>
          <a:xfrm>
            <a:off x="5209337" y="5056632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96" name="Text 78"/>
          <p:cNvSpPr txBox="1"/>
          <p:nvPr/>
        </p:nvSpPr>
        <p:spPr>
          <a:xfrm>
            <a:off x="5447081" y="5056632"/>
            <a:ext cx="12728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"""验证邮箱格式"""</a:t>
            </a:r>
            <a:endParaRPr lang="en-US" sz="900" dirty="0"/>
          </a:p>
        </p:txBody>
      </p:sp>
      <p:sp>
        <p:nvSpPr>
          <p:cNvPr id="97" name="Text 79"/>
          <p:cNvSpPr txBox="1"/>
          <p:nvPr/>
        </p:nvSpPr>
        <p:spPr>
          <a:xfrm>
            <a:off x="5209337" y="5227625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98" name="Text 80"/>
          <p:cNvSpPr txBox="1"/>
          <p:nvPr/>
        </p:nvSpPr>
        <p:spPr>
          <a:xfrm>
            <a:off x="5447081" y="5227625"/>
            <a:ext cx="146304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AI生成的验证逻辑...</a:t>
            </a:r>
            <a:endParaRPr lang="en-US" sz="900" dirty="0"/>
          </a:p>
        </p:txBody>
      </p:sp>
      <p:sp>
        <p:nvSpPr>
          <p:cNvPr id="99" name="Shape 8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2" name="Shape 84"/>
          <p:cNvSpPr/>
          <p:nvPr/>
        </p:nvSpPr>
        <p:spPr>
          <a:xfrm>
            <a:off x="8291779" y="2387498"/>
            <a:ext cx="228600" cy="228600"/>
          </a:xfrm>
          <a:prstGeom prst="ellipse">
            <a:avLst/>
          </a:prstGeom>
          <a:solidFill>
            <a:srgbClr val="FFFFFF"/>
          </a:solidFill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3" name="Image 16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>
            <a:fillRect/>
          </a:stretch>
        </p:blipFill>
        <p:spPr>
          <a:xfrm>
            <a:off x="8353958" y="2435047"/>
            <a:ext cx="105156" cy="133502"/>
          </a:xfrm>
          <a:prstGeom prst="rect">
            <a:avLst/>
          </a:prstGeom>
        </p:spPr>
      </p:pic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17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161849"/>
            <a:ext cx="413400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Bank体系与术语表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65978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974336" y="267005"/>
            <a:ext cx="2867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消除歧义、保障一致性的项目知识库结构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3866998" cy="5067605"/>
          </a:xfrm>
          <a:prstGeom prst="roundRect">
            <a:avLst>
              <a:gd name="adj" fmla="val 4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9" y="1504188"/>
            <a:ext cx="3543300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1403" r="-1403"/>
          <a:stretch>
            <a:fillRect/>
          </a:stretch>
        </p:blipFill>
        <p:spPr>
          <a:xfrm>
            <a:off x="619049" y="1198778"/>
            <a:ext cx="209398" cy="1810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8446" y="1152144"/>
            <a:ext cx="124267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项目目录结构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33200" r="-33200"/>
          <a:stretch>
            <a:fillRect/>
          </a:stretch>
        </p:blipFill>
        <p:spPr>
          <a:xfrm>
            <a:off x="619049" y="1682496"/>
            <a:ext cx="190195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86054" y="1665122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23955" r="-23955"/>
          <a:stretch>
            <a:fillRect/>
          </a:stretch>
        </p:blipFill>
        <p:spPr>
          <a:xfrm>
            <a:off x="771754" y="1928470"/>
            <a:ext cx="190195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37844" y="1910182"/>
            <a:ext cx="10314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047342" y="1912925"/>
            <a:ext cx="857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AI上下文核心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60934" r="-60934"/>
          <a:stretch>
            <a:fillRect/>
          </a:stretch>
        </p:blipFill>
        <p:spPr>
          <a:xfrm>
            <a:off x="923544" y="2173529"/>
            <a:ext cx="190195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90549" y="2156155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432304" y="2158898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项目宪法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l="-60934" r="-60934"/>
          <a:stretch>
            <a:fillRect/>
          </a:stretch>
        </p:blipFill>
        <p:spPr>
          <a:xfrm>
            <a:off x="923544" y="2419502"/>
            <a:ext cx="190195" cy="1143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90549" y="2401214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2432304" y="2403958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架构设计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l="-60934" r="-60934"/>
          <a:stretch>
            <a:fillRect/>
          </a:stretch>
        </p:blipFill>
        <p:spPr>
          <a:xfrm>
            <a:off x="923544" y="2664562"/>
            <a:ext cx="190195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90549" y="2646274"/>
            <a:ext cx="9546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glossary.md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2121408" y="2649017"/>
            <a:ext cx="523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术语表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l="-60934" r="-60934"/>
          <a:stretch>
            <a:fillRect/>
          </a:stretch>
        </p:blipFill>
        <p:spPr>
          <a:xfrm>
            <a:off x="923544" y="2909621"/>
            <a:ext cx="190195" cy="1143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90549" y="2892247"/>
            <a:ext cx="1573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coding-standards.md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 l="-33200" r="-33200"/>
          <a:stretch>
            <a:fillRect/>
          </a:stretch>
        </p:blipFill>
        <p:spPr>
          <a:xfrm>
            <a:off x="771754" y="3155594"/>
            <a:ext cx="190195" cy="1143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37844" y="3137306"/>
            <a:ext cx="5641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580998" y="3140050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功能规范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2"/>
          <a:srcRect l="-33200" r="-33200"/>
          <a:stretch>
            <a:fillRect/>
          </a:stretch>
        </p:blipFill>
        <p:spPr>
          <a:xfrm>
            <a:off x="923544" y="3400654"/>
            <a:ext cx="190195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190549" y="3383280"/>
            <a:ext cx="10314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feature-001/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6"/>
          <a:srcRect l="-60934" r="-60934"/>
          <a:stretch>
            <a:fillRect/>
          </a:stretch>
        </p:blipFill>
        <p:spPr>
          <a:xfrm>
            <a:off x="1076249" y="3645713"/>
            <a:ext cx="190195" cy="1143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343254" y="3628339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rcRect l="-60934" r="-60934"/>
          <a:stretch>
            <a:fillRect/>
          </a:stretch>
        </p:blipFill>
        <p:spPr>
          <a:xfrm>
            <a:off x="1076249" y="3891686"/>
            <a:ext cx="190195" cy="1143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343254" y="3873398"/>
            <a:ext cx="8028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6"/>
          <a:srcRect l="-60934" r="-60934"/>
          <a:stretch>
            <a:fillRect/>
          </a:stretch>
        </p:blipFill>
        <p:spPr>
          <a:xfrm>
            <a:off x="1076249" y="4136746"/>
            <a:ext cx="190195" cy="11430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343254" y="4119372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tests.md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619049" y="5658307"/>
            <a:ext cx="3543300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9049" y="5757977"/>
            <a:ext cx="114300" cy="1143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771754" y="5753405"/>
            <a:ext cx="27532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提示：将此目录添加到 .gitignore 但包含在AI上下文中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4714646" y="1636776"/>
            <a:ext cx="6858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Shape 29"/>
          <p:cNvSpPr/>
          <p:nvPr/>
        </p:nvSpPr>
        <p:spPr>
          <a:xfrm>
            <a:off x="4714646" y="1426464"/>
            <a:ext cx="2143354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4714646" y="1160374"/>
            <a:ext cx="171907" cy="15270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4886554" y="1121969"/>
            <a:ext cx="2086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constitution.md </a:t>
            </a:r>
            <a:endParaRPr lang="en-US" sz="1200" dirty="0"/>
          </a:p>
        </p:txBody>
      </p:sp>
      <p:sp>
        <p:nvSpPr>
          <p:cNvPr id="47" name="Shape 31"/>
          <p:cNvSpPr/>
          <p:nvPr/>
        </p:nvSpPr>
        <p:spPr>
          <a:xfrm>
            <a:off x="10830154" y="1230782"/>
            <a:ext cx="743407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</p:spPr>
      </p:sp>
      <p:sp>
        <p:nvSpPr>
          <p:cNvPr id="48" name="Text 32"/>
          <p:cNvSpPr txBox="1"/>
          <p:nvPr/>
        </p:nvSpPr>
        <p:spPr>
          <a:xfrm>
            <a:off x="10921594" y="1260958"/>
            <a:ext cx="6428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最高优先级</a:t>
            </a:r>
            <a:endParaRPr lang="en-US" sz="800" dirty="0"/>
          </a:p>
        </p:txBody>
      </p:sp>
      <p:sp>
        <p:nvSpPr>
          <p:cNvPr id="49" name="Shape 33"/>
          <p:cNvSpPr/>
          <p:nvPr/>
        </p:nvSpPr>
        <p:spPr>
          <a:xfrm>
            <a:off x="4714646" y="1721815"/>
            <a:ext cx="6858000" cy="1600200"/>
          </a:xfrm>
          <a:prstGeom prst="roundRect">
            <a:avLst>
              <a:gd name="adj" fmla="val 2041"/>
            </a:avLst>
          </a:prstGeom>
          <a:solidFill>
            <a:srgbClr val="1E293B"/>
          </a:solidFill>
        </p:spPr>
      </p:sp>
      <p:sp>
        <p:nvSpPr>
          <p:cNvPr id="50" name="Text 34"/>
          <p:cNvSpPr txBox="1"/>
          <p:nvPr/>
        </p:nvSpPr>
        <p:spPr>
          <a:xfrm>
            <a:off x="4837176" y="1800403"/>
            <a:ext cx="33147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项目宪法：城市POI分析系统 ## 核心原则（不可违背） 1.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8060436" y="1800403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数据优先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8517636" y="1800403"/>
            <a:ext cx="21241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：基于真实数据，严禁捏造虚假坐标 2.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10552176" y="1862633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可复现性</a:t>
            </a:r>
            <a:endParaRPr lang="en-US" sz="900" dirty="0"/>
          </a:p>
        </p:txBody>
      </p:sp>
      <p:sp>
        <p:nvSpPr>
          <p:cNvPr id="54" name="Text 38"/>
          <p:cNvSpPr txBox="1"/>
          <p:nvPr/>
        </p:nvSpPr>
        <p:spPr>
          <a:xfrm>
            <a:off x="4837176" y="1835963"/>
            <a:ext cx="661111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：每个处理步骤必须提供复现脚本 3.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6739001" y="1928495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4837176" y="2034540"/>
            <a:ext cx="661111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：正确性 &gt; 速度，宁可报错也不要静默失败 ## 技术栈（不可随意更改） - Python 3.9+ - 核心库：geopandas, rasterio, matplotlib ## 禁止事项 - ❌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8980322" y="2143303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禁止使用全局变量</a:t>
            </a:r>
            <a:endParaRPr lang="en-US" sz="900" dirty="0"/>
          </a:p>
        </p:txBody>
      </p:sp>
      <p:sp>
        <p:nvSpPr>
          <p:cNvPr id="58" name="Text 42"/>
          <p:cNvSpPr txBox="1"/>
          <p:nvPr/>
        </p:nvSpPr>
        <p:spPr>
          <a:xfrm>
            <a:off x="9894722" y="2143303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❌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4837176" y="2205533"/>
            <a:ext cx="655350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禁止 from module import *</a:t>
            </a:r>
            <a:endParaRPr lang="en-US" sz="900" dirty="0"/>
          </a:p>
        </p:txBody>
      </p:sp>
      <p:sp>
        <p:nvSpPr>
          <p:cNvPr id="60" name="Shape 44"/>
          <p:cNvSpPr/>
          <p:nvPr/>
        </p:nvSpPr>
        <p:spPr>
          <a:xfrm>
            <a:off x="4552798" y="3600907"/>
            <a:ext cx="7181698" cy="2457907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1" name="Shape 45"/>
          <p:cNvSpPr/>
          <p:nvPr/>
        </p:nvSpPr>
        <p:spPr>
          <a:xfrm>
            <a:off x="4714646" y="4246474"/>
            <a:ext cx="6858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Shape 46"/>
          <p:cNvSpPr/>
          <p:nvPr/>
        </p:nvSpPr>
        <p:spPr>
          <a:xfrm>
            <a:off x="4714646" y="4036162"/>
            <a:ext cx="1657807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9"/>
          <a:srcRect t="-43" b="-43"/>
          <a:stretch>
            <a:fillRect/>
          </a:stretch>
        </p:blipFill>
        <p:spPr>
          <a:xfrm>
            <a:off x="4714646" y="3770071"/>
            <a:ext cx="133502" cy="1527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4848149" y="3731666"/>
            <a:ext cx="16386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glossary.md</a:t>
            </a:r>
            <a:endParaRPr lang="en-US" sz="1200" dirty="0"/>
          </a:p>
        </p:txBody>
      </p:sp>
      <p:sp>
        <p:nvSpPr>
          <p:cNvPr id="65" name="Shape 48"/>
          <p:cNvSpPr/>
          <p:nvPr/>
        </p:nvSpPr>
        <p:spPr>
          <a:xfrm>
            <a:off x="10942625" y="3840480"/>
            <a:ext cx="638251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</p:spPr>
      </p:sp>
      <p:sp>
        <p:nvSpPr>
          <p:cNvPr id="66" name="Text 49"/>
          <p:cNvSpPr txBox="1"/>
          <p:nvPr/>
        </p:nvSpPr>
        <p:spPr>
          <a:xfrm>
            <a:off x="11034065" y="3870655"/>
            <a:ext cx="5285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消除歧义</a:t>
            </a:r>
            <a:endParaRPr lang="en-US" sz="800" dirty="0"/>
          </a:p>
        </p:txBody>
      </p:sp>
      <p:sp>
        <p:nvSpPr>
          <p:cNvPr id="67" name="Shape 50"/>
          <p:cNvSpPr/>
          <p:nvPr/>
        </p:nvSpPr>
        <p:spPr>
          <a:xfrm>
            <a:off x="4714646" y="4331513"/>
            <a:ext cx="6858000" cy="1600200"/>
          </a:xfrm>
          <a:prstGeom prst="roundRect">
            <a:avLst>
              <a:gd name="adj" fmla="val 2041"/>
            </a:avLst>
          </a:prstGeom>
          <a:solidFill>
            <a:srgbClr val="1E293B"/>
          </a:solidFill>
        </p:spPr>
      </p:sp>
      <p:sp>
        <p:nvSpPr>
          <p:cNvPr id="68" name="Text 51"/>
          <p:cNvSpPr txBox="1"/>
          <p:nvPr/>
        </p:nvSpPr>
        <p:spPr>
          <a:xfrm>
            <a:off x="4837176" y="4473245"/>
            <a:ext cx="52578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术语表 ## 建筑密度（Building Density） **定义**：单位面积内的建筑物数量 **公式**：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4837176" y="4473245"/>
            <a:ext cx="594360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density = count(buildings) / area(km²)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4837176" y="4644238"/>
            <a:ext cx="662940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**单位**：个/km² **注意**：≠ 建筑覆盖率（后者是面积比，Area Ratio） ## 核密度估计（KDE） **定义**：基于核函数的空间密度估计 **实现**：scipy.stats.gaussian_kde **参数**：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4837176" y="4842815"/>
            <a:ext cx="656356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bandwidth（带宽）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5725719" y="4916018"/>
            <a:ext cx="19623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，默认使用 Scott's rule 自适应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18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89611"/>
            <a:ext cx="40544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对比实验：同一任务的两种路径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1695" y="491033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1076249" y="520294"/>
            <a:ext cx="26865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vs Spec-First 实战数据对比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7295" cy="533095"/>
          </a:xfrm>
          <a:prstGeom prst="roundRect">
            <a:avLst>
              <a:gd name="adj" fmla="val 245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1046074"/>
            <a:ext cx="800100" cy="267005"/>
          </a:xfrm>
          <a:prstGeom prst="roundRect">
            <a:avLst>
              <a:gd name="adj" fmla="val 48924"/>
            </a:avLst>
          </a:prstGeom>
          <a:solidFill>
            <a:srgbClr val="CBD5E1"/>
          </a:solidFill>
        </p:spPr>
      </p:sp>
      <p:sp>
        <p:nvSpPr>
          <p:cNvPr id="10" name="Text 8"/>
          <p:cNvSpPr txBox="1"/>
          <p:nvPr/>
        </p:nvSpPr>
        <p:spPr>
          <a:xfrm>
            <a:off x="817474" y="1095451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任务目标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92224" y="1107338"/>
            <a:ext cx="142646" cy="14264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934870" y="1089965"/>
            <a:ext cx="25950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计算城市路网 15分钟可达范围 (等时圈)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t="-556" b="-556"/>
          <a:stretch>
            <a:fillRect/>
          </a:stretch>
        </p:blipFill>
        <p:spPr>
          <a:xfrm>
            <a:off x="4799686" y="1107338"/>
            <a:ext cx="123444" cy="14264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23130" y="1089965"/>
            <a:ext cx="18617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输入：路网 SHP + 起点坐标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428" r="-428"/>
          <a:stretch>
            <a:fillRect/>
          </a:stretch>
        </p:blipFill>
        <p:spPr>
          <a:xfrm>
            <a:off x="7056425" y="1107338"/>
            <a:ext cx="161849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18274" y="1089965"/>
            <a:ext cx="20427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输出：GeoDataFrame (Polygon)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1596542"/>
            <a:ext cx="5486400" cy="4334256"/>
          </a:xfrm>
          <a:prstGeom prst="roundRect">
            <a:avLst>
              <a:gd name="adj" fmla="val 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" y="1605686"/>
            <a:ext cx="5467198" cy="609905"/>
          </a:xfrm>
          <a:prstGeom prst="rect">
            <a:avLst/>
          </a:prstGeom>
          <a:solidFill>
            <a:srgbClr val="FFF7ED"/>
          </a:solidFill>
          <a:ln w="50800">
            <a:solidFill>
              <a:srgbClr val="F9731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9224" y="1724558"/>
            <a:ext cx="176022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方式 A：Vibe Coding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" y="1977847"/>
            <a:ext cx="1374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2410C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"边聊边改，直觉驱动"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80" r="-80"/>
          <a:stretch>
            <a:fillRect/>
          </a:stretch>
        </p:blipFill>
        <p:spPr>
          <a:xfrm>
            <a:off x="5465369" y="1810512"/>
            <a:ext cx="2862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5451" y="2416759"/>
            <a:ext cx="20939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生成代码v1 (AI用了直线距离 ❌)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095451" y="2759659"/>
            <a:ext cx="25511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改用路网距离 (未用NetworkX ❌)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95451" y="3102559"/>
            <a:ext cx="22750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引入NetworkX (忽略限速 ❌)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95451" y="3445459"/>
            <a:ext cx="22466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加入限速属性 (运行极慢 ⚠️)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95451" y="3788359"/>
            <a:ext cx="22658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经过 7 轮对话迭代，代码结构混乱...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9224" y="3962095"/>
            <a:ext cx="5105095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734617" y="40937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1977847" y="41605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780337" y="437540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总耗时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4303166" y="40937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4443984" y="4160520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109314" y="4375404"/>
            <a:ext cx="7525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DEBUG次数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831543" y="46497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1659636" y="4930445"/>
            <a:ext cx="6958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文档完整性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251960" y="4649724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4496105" y="4716475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200754" y="4930445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49224" y="5336438"/>
            <a:ext cx="5105095" cy="400507"/>
          </a:xfrm>
          <a:prstGeom prst="roundRect">
            <a:avLst>
              <a:gd name="adj" fmla="val 32616"/>
            </a:avLst>
          </a:prstGeom>
          <a:solidFill>
            <a:srgbClr val="F97316"/>
          </a:solidFill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 l="-3526" r="-3526"/>
          <a:stretch>
            <a:fillRect/>
          </a:stretch>
        </p:blipFill>
        <p:spPr>
          <a:xfrm>
            <a:off x="2422246" y="5464454"/>
            <a:ext cx="152705" cy="14264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2650846" y="5427878"/>
            <a:ext cx="1442923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勉强可用，难以维护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248095" y="1596542"/>
            <a:ext cx="5486400" cy="4334256"/>
          </a:xfrm>
          <a:prstGeom prst="roundRect">
            <a:avLst>
              <a:gd name="adj" fmla="val 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258154" y="1605686"/>
            <a:ext cx="5467198" cy="609905"/>
          </a:xfrm>
          <a:prstGeom prst="rect">
            <a:avLst/>
          </a:prstGeom>
          <a:solidFill>
            <a:srgbClr val="ECFDF5"/>
          </a:solidFill>
          <a:ln w="50800">
            <a:solidFill>
              <a:srgbClr val="059669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441034" y="1724558"/>
            <a:ext cx="158922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方式 B：Spec-First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6441034" y="1977847"/>
            <a:ext cx="1374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47857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"先写规范，契约驱动"</a:t>
            </a:r>
            <a:endParaRPr lang="en-US" sz="1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rcRect l="-133" r="-133"/>
          <a:stretch>
            <a:fillRect/>
          </a:stretch>
        </p:blipFill>
        <p:spPr>
          <a:xfrm>
            <a:off x="11371478" y="1810512"/>
            <a:ext cx="171907" cy="2286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886346" y="2416759"/>
            <a:ext cx="146578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编写 Spec 文档 (5分钟)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886346" y="2759659"/>
            <a:ext cx="19513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AI一次性生成完整代码 (2分钟)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6886346" y="3102559"/>
            <a:ext cx="20180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运行单元测试：通过 ✅ (1分钟)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6886346" y="3445459"/>
            <a:ext cx="19129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AI补充 README 文档 (2分钟)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886346" y="3788359"/>
            <a:ext cx="17510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最终验收，无重大逻辑错误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441034" y="3962095"/>
            <a:ext cx="5105095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525512" y="40937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46"/>
          <p:cNvSpPr txBox="1"/>
          <p:nvPr/>
        </p:nvSpPr>
        <p:spPr>
          <a:xfrm>
            <a:off x="7769657" y="41605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7571232" y="437540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总耗时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10094976" y="40937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10235794" y="4160520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次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9900209" y="4375404"/>
            <a:ext cx="7525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DEBUG次数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7623353" y="46497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</a:t>
            </a:r>
            <a:endParaRPr lang="en-US" sz="1600" dirty="0"/>
          </a:p>
        </p:txBody>
      </p:sp>
      <p:sp>
        <p:nvSpPr>
          <p:cNvPr id="60" name="Text 52"/>
          <p:cNvSpPr txBox="1"/>
          <p:nvPr/>
        </p:nvSpPr>
        <p:spPr>
          <a:xfrm>
            <a:off x="7451446" y="4930445"/>
            <a:ext cx="6958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文档完整性</a:t>
            </a:r>
            <a:endParaRPr lang="en-US" sz="900" dirty="0"/>
          </a:p>
        </p:txBody>
      </p:sp>
      <p:sp>
        <p:nvSpPr>
          <p:cNvPr id="61" name="Text 53"/>
          <p:cNvSpPr txBox="1"/>
          <p:nvPr/>
        </p:nvSpPr>
        <p:spPr>
          <a:xfrm>
            <a:off x="10042855" y="4649724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90</a:t>
            </a:r>
            <a:endParaRPr lang="en-US" sz="1600" dirty="0"/>
          </a:p>
        </p:txBody>
      </p:sp>
      <p:sp>
        <p:nvSpPr>
          <p:cNvPr id="62" name="Text 54"/>
          <p:cNvSpPr txBox="1"/>
          <p:nvPr/>
        </p:nvSpPr>
        <p:spPr>
          <a:xfrm>
            <a:off x="10287000" y="4716475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9991649" y="4930445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6441034" y="5336438"/>
            <a:ext cx="5105095" cy="400507"/>
          </a:xfrm>
          <a:prstGeom prst="roundRect">
            <a:avLst>
              <a:gd name="adj" fmla="val 32616"/>
            </a:avLst>
          </a:prstGeom>
          <a:solidFill>
            <a:srgbClr val="059669"/>
          </a:solidFill>
        </p:spPr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7"/>
          <a:srcRect l="-428" r="-428"/>
          <a:stretch>
            <a:fillRect/>
          </a:stretch>
        </p:blipFill>
        <p:spPr>
          <a:xfrm>
            <a:off x="8355787" y="5464454"/>
            <a:ext cx="161849" cy="142646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8594446" y="5427878"/>
            <a:ext cx="11475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高质量，可复现</a:t>
            </a:r>
            <a:endParaRPr lang="en-US" sz="1100" dirty="0"/>
          </a:p>
        </p:txBody>
      </p:sp>
      <p:sp>
        <p:nvSpPr>
          <p:cNvPr id="67" name="Shape 58"/>
          <p:cNvSpPr/>
          <p:nvPr/>
        </p:nvSpPr>
        <p:spPr>
          <a:xfrm>
            <a:off x="457200" y="6156960"/>
            <a:ext cx="10913745" cy="476250"/>
          </a:xfrm>
          <a:prstGeom prst="roundRect">
            <a:avLst>
              <a:gd name="adj" fmla="val 30710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5800" y="6298387"/>
            <a:ext cx="142646" cy="190195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942746" y="6307531"/>
            <a:ext cx="4077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关键洞察：投入 5分钟 写Spec，能在开发中节省 6倍 时间。</a:t>
            </a:r>
            <a:endParaRPr lang="en-US" sz="1200" dirty="0"/>
          </a:p>
        </p:txBody>
      </p:sp>
      <p:sp>
        <p:nvSpPr>
          <p:cNvPr id="70" name="Text 60"/>
          <p:cNvSpPr txBox="1"/>
          <p:nvPr/>
        </p:nvSpPr>
        <p:spPr>
          <a:xfrm>
            <a:off x="9599371" y="6316675"/>
            <a:ext cx="20153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EFFICIENCY BOOST: 600%</a:t>
            </a:r>
            <a:endParaRPr lang="en-US" sz="1000" dirty="0"/>
          </a:p>
        </p:txBody>
      </p:sp>
      <p:sp>
        <p:nvSpPr>
          <p:cNvPr id="71" name="Shape 61"/>
          <p:cNvSpPr/>
          <p:nvPr/>
        </p:nvSpPr>
        <p:spPr>
          <a:xfrm>
            <a:off x="763524" y="241675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843991" y="2447849"/>
            <a:ext cx="1335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63"/>
          <p:cNvSpPr/>
          <p:nvPr/>
        </p:nvSpPr>
        <p:spPr>
          <a:xfrm>
            <a:off x="763524" y="27596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2817266"/>
            <a:ext cx="75895" cy="95098"/>
          </a:xfrm>
          <a:prstGeom prst="rect">
            <a:avLst/>
          </a:prstGeom>
        </p:spPr>
      </p:pic>
      <p:sp>
        <p:nvSpPr>
          <p:cNvPr id="75" name="Shape 64"/>
          <p:cNvSpPr/>
          <p:nvPr/>
        </p:nvSpPr>
        <p:spPr>
          <a:xfrm>
            <a:off x="763524" y="31025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3160166"/>
            <a:ext cx="75895" cy="95098"/>
          </a:xfrm>
          <a:prstGeom prst="rect">
            <a:avLst/>
          </a:prstGeom>
        </p:spPr>
      </p:pic>
      <p:sp>
        <p:nvSpPr>
          <p:cNvPr id="77" name="Shape 65"/>
          <p:cNvSpPr/>
          <p:nvPr/>
        </p:nvSpPr>
        <p:spPr>
          <a:xfrm>
            <a:off x="763524" y="3445459"/>
            <a:ext cx="209398" cy="209398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830275" y="3503066"/>
            <a:ext cx="75895" cy="95098"/>
          </a:xfrm>
          <a:prstGeom prst="rect">
            <a:avLst/>
          </a:prstGeom>
        </p:spPr>
      </p:pic>
      <p:sp>
        <p:nvSpPr>
          <p:cNvPr id="79" name="Shape 66"/>
          <p:cNvSpPr/>
          <p:nvPr/>
        </p:nvSpPr>
        <p:spPr>
          <a:xfrm>
            <a:off x="763524" y="3788359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831190" y="3819449"/>
            <a:ext cx="1527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6555334" y="24167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12026" y="2474366"/>
            <a:ext cx="95098" cy="95098"/>
          </a:xfrm>
          <a:prstGeom prst="rect">
            <a:avLst/>
          </a:prstGeom>
        </p:spPr>
      </p:pic>
      <p:sp>
        <p:nvSpPr>
          <p:cNvPr id="83" name="Shape 69"/>
          <p:cNvSpPr/>
          <p:nvPr/>
        </p:nvSpPr>
        <p:spPr>
          <a:xfrm>
            <a:off x="6555334" y="27596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4" name="Image 12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>
            <a:fillRect/>
          </a:stretch>
        </p:blipFill>
        <p:spPr>
          <a:xfrm>
            <a:off x="6597396" y="2817266"/>
            <a:ext cx="123444" cy="95098"/>
          </a:xfrm>
          <a:prstGeom prst="rect">
            <a:avLst/>
          </a:prstGeom>
        </p:spPr>
      </p:pic>
      <p:sp>
        <p:nvSpPr>
          <p:cNvPr id="85" name="Shape 70"/>
          <p:cNvSpPr/>
          <p:nvPr/>
        </p:nvSpPr>
        <p:spPr>
          <a:xfrm>
            <a:off x="6555334" y="31025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>
            <a:fillRect/>
          </a:stretch>
        </p:blipFill>
        <p:spPr>
          <a:xfrm>
            <a:off x="6616598" y="3160166"/>
            <a:ext cx="85954" cy="95098"/>
          </a:xfrm>
          <a:prstGeom prst="rect">
            <a:avLst/>
          </a:prstGeom>
        </p:spPr>
      </p:pic>
      <p:sp>
        <p:nvSpPr>
          <p:cNvPr id="87" name="Shape 71"/>
          <p:cNvSpPr/>
          <p:nvPr/>
        </p:nvSpPr>
        <p:spPr>
          <a:xfrm>
            <a:off x="6555334" y="34454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>
            <a:fillRect/>
          </a:stretch>
        </p:blipFill>
        <p:spPr>
          <a:xfrm>
            <a:off x="6616598" y="3503066"/>
            <a:ext cx="85954" cy="95098"/>
          </a:xfrm>
          <a:prstGeom prst="rect">
            <a:avLst/>
          </a:prstGeom>
        </p:spPr>
      </p:pic>
      <p:sp>
        <p:nvSpPr>
          <p:cNvPr id="89" name="Shape 72"/>
          <p:cNvSpPr/>
          <p:nvPr/>
        </p:nvSpPr>
        <p:spPr>
          <a:xfrm>
            <a:off x="6555334" y="3788359"/>
            <a:ext cx="209398" cy="209398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>
            <a:fillRect/>
          </a:stretch>
        </p:blipFill>
        <p:spPr>
          <a:xfrm>
            <a:off x="6616598" y="3845966"/>
            <a:ext cx="85954" cy="95098"/>
          </a:xfrm>
          <a:prstGeom prst="rect">
            <a:avLst/>
          </a:prstGeom>
        </p:spPr>
      </p:pic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05374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4.1 上下文管理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61488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75127" y="267005"/>
            <a:ext cx="1781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分层引用让AI“看全局”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744675"/>
            <a:ext cx="4238244" cy="1914754"/>
          </a:xfrm>
          <a:prstGeom prst="roundRect">
            <a:avLst>
              <a:gd name="adj" fmla="val 2851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9244" y="1944929"/>
            <a:ext cx="400507" cy="400507"/>
          </a:xfrm>
          <a:prstGeom prst="ellipse">
            <a:avLst/>
          </a:prstGeom>
          <a:solidFill>
            <a:srgbClr val="FEE2E2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23544" y="2059229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9244" y="2457907"/>
            <a:ext cx="2048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核心挑战：上下文溢出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809951"/>
            <a:ext cx="3453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场景：1000行以上的项目，AI无法一次性读取所有代码。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3076956"/>
            <a:ext cx="390083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错误做法： 把所有代码一股脑塞给AI。会导致窗口溢出，AI产生“幻觉”或“失忆”。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9905" y="3886200"/>
            <a:ext cx="4238244" cy="1914754"/>
          </a:xfrm>
          <a:prstGeom prst="roundRect">
            <a:avLst>
              <a:gd name="adj" fmla="val 285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" y="4086454"/>
            <a:ext cx="400507" cy="400507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3544" y="4200754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9244" y="4598518"/>
            <a:ext cx="2429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核心原则：最小充分上下文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9244" y="4951476"/>
            <a:ext cx="38405" cy="190195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19" name="Text 15"/>
          <p:cNvSpPr txBox="1"/>
          <p:nvPr/>
        </p:nvSpPr>
        <p:spPr>
          <a:xfrm>
            <a:off x="961949" y="4969764"/>
            <a:ext cx="16532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"Minimal Sufficient Context"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" y="5217566"/>
            <a:ext cx="392917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正确策略： 像做手术一样精准。只提供当前任务必须要用到的文档、接口定义和代码片段。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227625" y="1636776"/>
            <a:ext cx="382950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分层上下文策略 (Layered Context)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227625" y="2178101"/>
            <a:ext cx="6362395" cy="647395"/>
          </a:xfrm>
          <a:prstGeom prst="roundRect">
            <a:avLst>
              <a:gd name="adj" fmla="val 16617"/>
            </a:avLst>
          </a:prstGeom>
          <a:solidFill>
            <a:srgbClr val="F1F5F9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27625" y="2178101"/>
            <a:ext cx="57607" cy="64739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24" name="Text 20"/>
          <p:cNvSpPr txBox="1"/>
          <p:nvPr/>
        </p:nvSpPr>
        <p:spPr>
          <a:xfrm>
            <a:off x="6351422" y="2269541"/>
            <a:ext cx="251094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项目宪法 (Project Constitution)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351422" y="2539289"/>
            <a:ext cx="38221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始终包含：技术栈、编码规范、禁止事项（如 constitution.md）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530" b="-530"/>
          <a:stretch>
            <a:fillRect/>
          </a:stretch>
        </p:blipFill>
        <p:spPr>
          <a:xfrm>
            <a:off x="11182198" y="2358238"/>
            <a:ext cx="247802" cy="286207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227625" y="2916936"/>
            <a:ext cx="6362395" cy="647395"/>
          </a:xfrm>
          <a:prstGeom prst="roundRect">
            <a:avLst>
              <a:gd name="adj" fmla="val 16617"/>
            </a:avLst>
          </a:prstGeom>
          <a:solidFill>
            <a:srgbClr val="EFF6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227625" y="2916936"/>
            <a:ext cx="57607" cy="64739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4"/>
          <p:cNvSpPr txBox="1"/>
          <p:nvPr/>
        </p:nvSpPr>
        <p:spPr>
          <a:xfrm>
            <a:off x="6351422" y="3008376"/>
            <a:ext cx="189189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模块架构 (Architecture)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351422" y="3278124"/>
            <a:ext cx="39456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按需加载：模块职责、接口定义、数据流向（如 architecture.md）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66" r="-266"/>
          <a:stretch>
            <a:fillRect/>
          </a:stretch>
        </p:blipFill>
        <p:spPr>
          <a:xfrm>
            <a:off x="11106302" y="3097987"/>
            <a:ext cx="323698" cy="28620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227625" y="3655771"/>
            <a:ext cx="6362395" cy="647395"/>
          </a:xfrm>
          <a:prstGeom prst="roundRect">
            <a:avLst>
              <a:gd name="adj" fmla="val 16617"/>
            </a:avLst>
          </a:prstGeom>
          <a:solidFill>
            <a:srgbClr val="F0F9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27625" y="3655771"/>
            <a:ext cx="57607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4" name="Text 28"/>
          <p:cNvSpPr txBox="1"/>
          <p:nvPr/>
        </p:nvSpPr>
        <p:spPr>
          <a:xfrm>
            <a:off x="6351422" y="3747211"/>
            <a:ext cx="181599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9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文件级代码 (File Level)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351422" y="4017874"/>
            <a:ext cx="26883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精确定位：当前任务直接相关的具体源码文件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1118" r="-1118"/>
          <a:stretch>
            <a:fillRect/>
          </a:stretch>
        </p:blipFill>
        <p:spPr>
          <a:xfrm>
            <a:off x="11210544" y="3836822"/>
            <a:ext cx="219456" cy="286207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227625" y="4394606"/>
            <a:ext cx="6362395" cy="647395"/>
          </a:xfrm>
          <a:prstGeom prst="roundRect">
            <a:avLst>
              <a:gd name="adj" fmla="val 16617"/>
            </a:avLst>
          </a:prstGeom>
          <a:solidFill>
            <a:srgbClr val="F0FDFA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227625" y="4394606"/>
            <a:ext cx="57607" cy="647395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9" name="Text 32"/>
          <p:cNvSpPr txBox="1"/>
          <p:nvPr/>
        </p:nvSpPr>
        <p:spPr>
          <a:xfrm>
            <a:off x="6351422" y="4486046"/>
            <a:ext cx="16824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函数/类定义 (Details)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351422" y="4756709"/>
            <a:ext cx="2955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细节操作：具体需要修改或参考的函数块、类方法</a:t>
            </a:r>
            <a:endParaRPr lang="en-US" sz="1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607" r="-607"/>
          <a:stretch>
            <a:fillRect/>
          </a:stretch>
        </p:blipFill>
        <p:spPr>
          <a:xfrm>
            <a:off x="11067898" y="4575658"/>
            <a:ext cx="362102" cy="286207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5227625" y="5277917"/>
            <a:ext cx="6362395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rcRect l="-1773" r="-1773"/>
          <a:stretch>
            <a:fillRect/>
          </a:stretch>
        </p:blipFill>
        <p:spPr>
          <a:xfrm>
            <a:off x="5351069" y="5506517"/>
            <a:ext cx="133502" cy="171907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5598871" y="5402275"/>
            <a:ext cx="587227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实战技巧：在 Cursor 等工具中，通过组合不同层级的引用（如 @constitution + @file），构建精准的上下文环境。</a:t>
            </a:r>
            <a:endParaRPr lang="en-US" sz="1000" dirty="0"/>
          </a:p>
        </p:txBody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4930445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4.1 Cursor @引用系统：高效实操示例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3819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952744" y="267005"/>
            <a:ext cx="23052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AI 拥有精准的上下文感知能力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5325" y="1507414"/>
            <a:ext cx="299283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高效提示词构建：上下文 + 任务 + 约束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5630" y="1948815"/>
            <a:ext cx="4200525" cy="1214755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93C5FD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5384" y="1958213"/>
            <a:ext cx="4181551" cy="304495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2644" b="-2644"/>
          <a:stretch>
            <a:fillRect/>
          </a:stretch>
        </p:blipFill>
        <p:spPr>
          <a:xfrm>
            <a:off x="719684" y="2046910"/>
            <a:ext cx="142646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38225" y="2012163"/>
            <a:ext cx="19357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构建上下文 (Context Building)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52748" y="2013991"/>
            <a:ext cx="923544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</p:spPr>
      </p:sp>
      <p:sp>
        <p:nvSpPr>
          <p:cNvPr id="14" name="Text 11"/>
          <p:cNvSpPr txBox="1"/>
          <p:nvPr/>
        </p:nvSpPr>
        <p:spPr>
          <a:xfrm>
            <a:off x="3829558" y="2042338"/>
            <a:ext cx="857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The "Memory"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11200" y="2385060"/>
            <a:ext cx="220980" cy="143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31850" y="2376805"/>
            <a:ext cx="2229485" cy="151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.ai-context/constitution.md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11454" y="2154098"/>
            <a:ext cx="2574036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0: Project Constitution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2470" y="2566035"/>
            <a:ext cx="220980" cy="143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31850" y="2566035"/>
            <a:ext cx="1800860" cy="178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specs/kde/requirements.md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02564" y="2877439"/>
            <a:ext cx="3259836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1: Feature Requirements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16915" y="2748280"/>
            <a:ext cx="220980" cy="143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1375" y="2748280"/>
            <a:ext cx="1904365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code:calculate_density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189732" y="2961615"/>
            <a:ext cx="1478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3: Target Function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rcRect l="-760" r="-760"/>
          <a:stretch>
            <a:fillRect/>
          </a:stretch>
        </p:blipFill>
        <p:spPr>
          <a:xfrm>
            <a:off x="2618892" y="3181680"/>
            <a:ext cx="152705" cy="171907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95630" y="3521710"/>
            <a:ext cx="4200525" cy="2022475"/>
          </a:xfrm>
          <a:prstGeom prst="roundRect">
            <a:avLst>
              <a:gd name="adj" fmla="val 4343"/>
            </a:avLst>
          </a:prstGeom>
          <a:solidFill>
            <a:srgbClr val="1E293B"/>
          </a:solidFill>
          <a:ln w="12700">
            <a:solidFill>
              <a:srgbClr val="6EE7B7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5384" y="3530981"/>
            <a:ext cx="4181551" cy="304495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719684" y="3619678"/>
            <a:ext cx="142646" cy="1335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38225" y="3584931"/>
            <a:ext cx="18790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执行指令 (Execution Prompt)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847846" y="3586759"/>
            <a:ext cx="828446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</p:spPr>
      </p:sp>
      <p:sp>
        <p:nvSpPr>
          <p:cNvPr id="30" name="Text 25"/>
          <p:cNvSpPr txBox="1"/>
          <p:nvPr/>
        </p:nvSpPr>
        <p:spPr>
          <a:xfrm>
            <a:off x="3924656" y="3615106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The "Action"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11454" y="3958006"/>
            <a:ext cx="13926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依据上述规范，请优化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997354" y="4011346"/>
            <a:ext cx="1002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calculate_density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905100" y="3958006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函数性能：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3552495" y="3958006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Objectives: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711454" y="4011346"/>
            <a:ext cx="3697834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Optimize processing time for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2620035" y="4097147"/>
            <a:ext cx="7068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 points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3325901" y="4097147"/>
            <a:ext cx="307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&lt;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3593871" y="4097147"/>
            <a:ext cx="2212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711454" y="4450207"/>
            <a:ext cx="344088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Replace loops with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719455" y="4274820"/>
            <a:ext cx="1443355" cy="133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scipy.spatial.cKDTree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2086712" y="4258793"/>
            <a:ext cx="6976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Maintain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2763825" y="4267683"/>
            <a:ext cx="4215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711454" y="4943323"/>
            <a:ext cx="3850538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Hints &amp; Google Style Docstring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028294" y="5293919"/>
            <a:ext cx="32506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 combines: Project Rules + Feature Specs + Code Logic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036515" y="990295"/>
            <a:ext cx="6629400" cy="5639105"/>
          </a:xfrm>
          <a:prstGeom prst="roundRect">
            <a:avLst>
              <a:gd name="adj" fmla="val 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98364" y="2115922"/>
            <a:ext cx="171907" cy="171907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5446166" y="2075688"/>
            <a:ext cx="146944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常用引用指令速查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5198364" y="2403043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198364" y="2403043"/>
            <a:ext cx="28346" cy="3236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0" name="Shape 44"/>
          <p:cNvSpPr/>
          <p:nvPr/>
        </p:nvSpPr>
        <p:spPr>
          <a:xfrm>
            <a:off x="5341925" y="2464308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</p:spPr>
      </p:sp>
      <p:sp>
        <p:nvSpPr>
          <p:cNvPr id="51" name="Text 45"/>
          <p:cNvSpPr txBox="1"/>
          <p:nvPr/>
        </p:nvSpPr>
        <p:spPr>
          <a:xfrm>
            <a:off x="5498287" y="2498141"/>
            <a:ext cx="3529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6027725" y="2491740"/>
            <a:ext cx="18918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引用完整文件e.g., @data_loader.py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5198364" y="2788006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5198364" y="2788006"/>
            <a:ext cx="28346" cy="3236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5" name="Shape 49"/>
          <p:cNvSpPr/>
          <p:nvPr/>
        </p:nvSpPr>
        <p:spPr>
          <a:xfrm>
            <a:off x="5341925" y="2848356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</p:spPr>
      </p:sp>
      <p:sp>
        <p:nvSpPr>
          <p:cNvPr id="56" name="Text 50"/>
          <p:cNvSpPr txBox="1"/>
          <p:nvPr/>
        </p:nvSpPr>
        <p:spPr>
          <a:xfrm>
            <a:off x="5427878" y="2883103"/>
            <a:ext cx="4864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@folder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6027725" y="2876702"/>
            <a:ext cx="27203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引用文件夹结构（不含全内容）e.g., @src/analysis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198364" y="3172054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5198364" y="3172054"/>
            <a:ext cx="28346" cy="3236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0" name="Shape 54"/>
          <p:cNvSpPr/>
          <p:nvPr/>
        </p:nvSpPr>
        <p:spPr>
          <a:xfrm>
            <a:off x="5341925" y="3233318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</p:spPr>
      </p:sp>
      <p:sp>
        <p:nvSpPr>
          <p:cNvPr id="61" name="Text 55"/>
          <p:cNvSpPr txBox="1"/>
          <p:nvPr/>
        </p:nvSpPr>
        <p:spPr>
          <a:xfrm>
            <a:off x="5462626" y="3267151"/>
            <a:ext cx="419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@code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6027725" y="3260750"/>
            <a:ext cx="29397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引用特定函数或类（精准上下文）e.g., @calculate_kde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5198364" y="3557016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5198364" y="3557016"/>
            <a:ext cx="28346" cy="3236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5" name="Shape 59"/>
          <p:cNvSpPr/>
          <p:nvPr/>
        </p:nvSpPr>
        <p:spPr>
          <a:xfrm>
            <a:off x="5341925" y="3617366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</p:spPr>
      </p:sp>
      <p:sp>
        <p:nvSpPr>
          <p:cNvPr id="66" name="Text 60"/>
          <p:cNvSpPr txBox="1"/>
          <p:nvPr/>
        </p:nvSpPr>
        <p:spPr>
          <a:xfrm>
            <a:off x="5466283" y="3652114"/>
            <a:ext cx="409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@docs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6027725" y="3644798"/>
            <a:ext cx="25017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引用已索引的文档库e.g., @Pandas (No switch)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5198364" y="3941064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63"/>
          <p:cNvSpPr/>
          <p:nvPr/>
        </p:nvSpPr>
        <p:spPr>
          <a:xfrm>
            <a:off x="5198364" y="3941064"/>
            <a:ext cx="28346" cy="3236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0" name="Shape 64"/>
          <p:cNvSpPr/>
          <p:nvPr/>
        </p:nvSpPr>
        <p:spPr>
          <a:xfrm>
            <a:off x="5341925" y="4002329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</p:spPr>
      </p:sp>
      <p:sp>
        <p:nvSpPr>
          <p:cNvPr id="71" name="Text 65"/>
          <p:cNvSpPr txBox="1"/>
          <p:nvPr/>
        </p:nvSpPr>
        <p:spPr>
          <a:xfrm>
            <a:off x="5475427" y="4036162"/>
            <a:ext cx="391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6027725" y="4029761"/>
            <a:ext cx="24441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让 AI 联网搜索特定 URLe.g., @https://stack...</a:t>
            </a:r>
            <a:endParaRPr lang="en-US" sz="900" dirty="0"/>
          </a:p>
        </p:txBody>
      </p:sp>
      <p:sp>
        <p:nvSpPr>
          <p:cNvPr id="73" name="Shape 67"/>
          <p:cNvSpPr/>
          <p:nvPr/>
        </p:nvSpPr>
        <p:spPr>
          <a:xfrm>
            <a:off x="5198364" y="4325112"/>
            <a:ext cx="6305702" cy="323698"/>
          </a:xfrm>
          <a:prstGeom prst="roundRect">
            <a:avLst>
              <a:gd name="adj" fmla="val 49850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4" name="Shape 68"/>
          <p:cNvSpPr/>
          <p:nvPr/>
        </p:nvSpPr>
        <p:spPr>
          <a:xfrm>
            <a:off x="5198364" y="4325112"/>
            <a:ext cx="28346" cy="32369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75" name="Shape 69"/>
          <p:cNvSpPr/>
          <p:nvPr/>
        </p:nvSpPr>
        <p:spPr>
          <a:xfrm>
            <a:off x="5341925" y="4386377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F3E8FF"/>
          </a:solidFill>
        </p:spPr>
      </p:sp>
      <p:sp>
        <p:nvSpPr>
          <p:cNvPr id="76" name="Text 70"/>
          <p:cNvSpPr txBox="1"/>
          <p:nvPr/>
        </p:nvSpPr>
        <p:spPr>
          <a:xfrm>
            <a:off x="5511089" y="4420210"/>
            <a:ext cx="324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@git</a:t>
            </a:r>
            <a:endParaRPr lang="en-US" sz="900" dirty="0"/>
          </a:p>
        </p:txBody>
      </p:sp>
      <p:sp>
        <p:nvSpPr>
          <p:cNvPr id="77" name="Text 71"/>
          <p:cNvSpPr txBox="1"/>
          <p:nvPr/>
        </p:nvSpPr>
        <p:spPr>
          <a:xfrm>
            <a:off x="6027725" y="4413809"/>
            <a:ext cx="24633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 Git 提交记录或差异e.g., @diff (Changes)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5198364" y="4763110"/>
            <a:ext cx="6305702" cy="780898"/>
          </a:xfrm>
          <a:prstGeom prst="roundRect">
            <a:avLst>
              <a:gd name="adj" fmla="val 1142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5299862" y="4900270"/>
            <a:ext cx="105156" cy="133502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5480914" y="4864608"/>
            <a:ext cx="17318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 (Best Practices)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5299862" y="5107838"/>
            <a:ext cx="31053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• Avoid @Folder Abuse: Large folders consume Context Window.</a:t>
            </a:r>
            <a:endParaRPr lang="en-US" sz="900" dirty="0"/>
          </a:p>
        </p:txBody>
      </p:sp>
      <p:sp>
        <p:nvSpPr>
          <p:cNvPr id="82" name="Text 75"/>
          <p:cNvSpPr txBox="1"/>
          <p:nvPr/>
        </p:nvSpPr>
        <p:spPr>
          <a:xfrm>
            <a:off x="5299862" y="5294376"/>
            <a:ext cx="2438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• The "Combo": Always include @constitution.md.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21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320680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4.2 结构化Debug工作流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0540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219956" y="267005"/>
            <a:ext cx="25338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告别"盲目修复"，让AI成为诊断专家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09905" y="1133856"/>
            <a:ext cx="4196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传统Debug：直接甩报错给AI → 瞎猜原因 → 越修越乱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248595" y="1067105"/>
            <a:ext cx="1333195" cy="323698"/>
          </a:xfrm>
          <a:prstGeom prst="roundRect">
            <a:avLst>
              <a:gd name="adj" fmla="val 2824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410444" y="1169518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20756" y="1133856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结构化四步法</a:t>
            </a:r>
            <a:endParaRPr lang="en-US" sz="1000" b="1" dirty="0">
              <a:solidFill>
                <a:srgbClr val="1D4ED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9905" y="4496105"/>
            <a:ext cx="10972800" cy="1904695"/>
          </a:xfrm>
          <a:prstGeom prst="roundRect">
            <a:avLst>
              <a:gd name="adj" fmla="val 2400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100" y="4678985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47902" y="4629607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专家级提示词</a:t>
            </a:r>
            <a:endParaRPr lang="en-US" sz="1300" b="1" dirty="0">
              <a:solidFill>
                <a:srgbClr val="60A5F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00100" y="5020056"/>
            <a:ext cx="191018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"不要直接问AI怎么办，而是让AI帮你分析原因 + 设计方案。"</a:t>
            </a:r>
            <a:endParaRPr lang="en-US" sz="1000" i="1" dirty="0">
              <a:solidFill>
                <a:schemeClr val="bg1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00100" y="5533949"/>
            <a:ext cx="1904695" cy="743407"/>
          </a:xfrm>
          <a:prstGeom prst="roundRect">
            <a:avLst>
              <a:gd name="adj" fmla="val 63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923544" y="5676595"/>
            <a:ext cx="105156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67105" y="5648249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预期效果</a:t>
            </a:r>
            <a:endParaRPr lang="en-US" sz="900" b="1" dirty="0">
              <a:solidFill>
                <a:srgbClr val="34D399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524305" y="5658307"/>
            <a:ext cx="5907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(Expected)</a:t>
            </a:r>
            <a:endParaRPr lang="en-US" sz="900" b="1" dirty="0">
              <a:solidFill>
                <a:srgbClr val="34D399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923544" y="5838444"/>
            <a:ext cx="16962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获得带逻辑推理的分析，而非盲目的代码补丁。</a:t>
            </a:r>
            <a:endParaRPr lang="en-US" sz="900" dirty="0">
              <a:solidFill>
                <a:schemeClr val="bg1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0500055" y="4543654"/>
            <a:ext cx="10579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 Regular" panose="02020503050405090304" charset="0"/>
                <a:ea typeface="ui-sans-serif" pitchFamily="34" charset="-122"/>
                <a:cs typeface="Times New Roman Regular" panose="02020503050405090304" charset="0"/>
              </a:rPr>
              <a:t>Prompt Template</a:t>
            </a:r>
            <a:endParaRPr lang="en-US" sz="900" dirty="0">
              <a:solidFill>
                <a:srgbClr val="E2E8F0"/>
              </a:solidFill>
              <a:latin typeface="Times New Roman Regular" panose="02020503050405090304" charset="0"/>
              <a:ea typeface="ui-sans-serif" pitchFamily="34" charset="-122"/>
              <a:cs typeface="Times New Roman Regular" panose="02020503050405090304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3124505" y="4733849"/>
            <a:ext cx="14273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@debug_report.md</a:t>
            </a:r>
            <a:endParaRPr lang="en-US" sz="1000" dirty="0">
              <a:solidFill>
                <a:srgbClr val="34D399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4440326" y="4730750"/>
            <a:ext cx="131307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# 引用你的症状报告</a:t>
            </a:r>
            <a:endParaRPr lang="en-US" sz="1000" dirty="0">
              <a:solidFill>
                <a:srgbClr val="34D399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3124505" y="5063947"/>
            <a:ext cx="8209483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1. Analyze（分析）: 请根据报告，列出导致此错误的 3个最可能原因，并按可能性排序。 2. Diagnose（诊断）: 对于每个可能原因，给出 验证步骤（如打印变量、检查特定行）。 3. Fix（修复）: 确认原因后，请设计一个 最小改动 的修复方案，并解释为什么选择它。 # 注意：不要直接重写整个文件，先分析。</a:t>
            </a:r>
            <a:endParaRPr lang="en-US" sz="1000" dirty="0">
              <a:solidFill>
                <a:srgbClr val="E2E8F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09905" y="1543507"/>
            <a:ext cx="2628900" cy="2723998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65353" y="2166214"/>
            <a:ext cx="232440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Shape 24"/>
          <p:cNvSpPr/>
          <p:nvPr/>
        </p:nvSpPr>
        <p:spPr>
          <a:xfrm>
            <a:off x="765353" y="174650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4444"/>
          </a:solidFill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 l="-837" r="-837"/>
          <a:stretch>
            <a:fillRect/>
          </a:stretch>
        </p:blipFill>
        <p:spPr>
          <a:xfrm>
            <a:off x="842162" y="1832458"/>
            <a:ext cx="152705" cy="13350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65353" y="2289658"/>
            <a:ext cx="163494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编写Debug Report：收集症状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765353" y="2548433"/>
            <a:ext cx="120609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记录复现步骤 (1-2-3)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765353" y="2808122"/>
            <a:ext cx="14730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确认环境信息 &amp; 已排除项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1165860" y="1718158"/>
            <a:ext cx="4764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STEP 1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1165860" y="186080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问题定位</a:t>
            </a:r>
            <a:endParaRPr lang="en-US" sz="12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2396642" y="3968496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Time: 2min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3390595" y="1543507"/>
            <a:ext cx="2628900" cy="2723998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546958" y="2166214"/>
            <a:ext cx="232440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Shape 33"/>
          <p:cNvSpPr/>
          <p:nvPr/>
        </p:nvSpPr>
        <p:spPr>
          <a:xfrm>
            <a:off x="3546958" y="174650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59E0B"/>
          </a:solidFill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32911" y="1832458"/>
            <a:ext cx="133502" cy="13350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3546958" y="2289658"/>
            <a:ext cx="14154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让AI列出 3个最可能原因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3546958" y="2548433"/>
            <a:ext cx="166329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请求"诊断步骤"而非直接修复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3546958" y="2808122"/>
            <a:ext cx="119695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执行诊断，锁定真凶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44" name="Text 37"/>
          <p:cNvSpPr txBox="1"/>
          <p:nvPr/>
        </p:nvSpPr>
        <p:spPr>
          <a:xfrm>
            <a:off x="3947465" y="1718158"/>
            <a:ext cx="4764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STEP 2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3947465" y="186080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根因分析</a:t>
            </a:r>
            <a:endParaRPr lang="en-US" sz="12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5177333" y="3968496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Time: 1min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6172200" y="1543507"/>
            <a:ext cx="2628900" cy="2723998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328562" y="2166214"/>
            <a:ext cx="232440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Shape 42"/>
          <p:cNvSpPr/>
          <p:nvPr/>
        </p:nvSpPr>
        <p:spPr>
          <a:xfrm>
            <a:off x="6328562" y="174650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13602" y="1832458"/>
            <a:ext cx="133502" cy="13350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6328562" y="2289658"/>
            <a:ext cx="14154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生成 多个修复方案 (A/B)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2" name="Text 44"/>
          <p:cNvSpPr txBox="1"/>
          <p:nvPr/>
        </p:nvSpPr>
        <p:spPr>
          <a:xfrm>
            <a:off x="6328562" y="2548433"/>
            <a:ext cx="17583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对比 Pros &amp; Cons （影响范围）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6328562" y="2808122"/>
            <a:ext cx="131125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选择副作用最小的方案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6728155" y="1718158"/>
            <a:ext cx="4764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STEP 3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6728155" y="186080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修复设计</a:t>
            </a:r>
            <a:endParaRPr lang="en-US" sz="12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6" name="Text 48"/>
          <p:cNvSpPr txBox="1"/>
          <p:nvPr/>
        </p:nvSpPr>
        <p:spPr>
          <a:xfrm>
            <a:off x="7958938" y="3968496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Time: 1min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8953805" y="1543507"/>
            <a:ext cx="2628900" cy="2723998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9109253" y="2166214"/>
            <a:ext cx="232440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Shape 51"/>
          <p:cNvSpPr/>
          <p:nvPr/>
        </p:nvSpPr>
        <p:spPr>
          <a:xfrm>
            <a:off x="9109253" y="174650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</p:spPr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95206" y="1832458"/>
            <a:ext cx="133502" cy="133502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9109253" y="2289658"/>
            <a:ext cx="143469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逐个文件修改（原子化）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62" name="Text 53"/>
          <p:cNvSpPr txBox="1"/>
          <p:nvPr/>
        </p:nvSpPr>
        <p:spPr>
          <a:xfrm>
            <a:off x="9109253" y="2548433"/>
            <a:ext cx="137800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运行 回归测试 防止倒退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9109253" y="2808122"/>
            <a:ext cx="131125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更新文档（如果需要）</a:t>
            </a:r>
            <a:endParaRPr lang="en-US" sz="900" dirty="0">
              <a:solidFill>
                <a:srgbClr val="64748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64" name="Text 55"/>
          <p:cNvSpPr txBox="1"/>
          <p:nvPr/>
        </p:nvSpPr>
        <p:spPr>
          <a:xfrm>
            <a:off x="9509760" y="1718158"/>
            <a:ext cx="4764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STEP 4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9509760" y="186080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实施验证</a:t>
            </a:r>
            <a:endParaRPr lang="en-US" sz="12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6" name="Text 57"/>
          <p:cNvSpPr txBox="1"/>
          <p:nvPr/>
        </p:nvSpPr>
        <p:spPr>
          <a:xfrm>
            <a:off x="10740542" y="3968496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Time: 1min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22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0925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4.3 版本控制与实验管理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79476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08399" y="267005"/>
            <a:ext cx="24103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科研场景下的代码管理与实验追踪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5333695" cy="2829154"/>
          </a:xfrm>
          <a:prstGeom prst="roundRect">
            <a:avLst>
              <a:gd name="adj" fmla="val 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4" y="1484986"/>
            <a:ext cx="50099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2725" b="-2725"/>
          <a:stretch>
            <a:fillRect/>
          </a:stretch>
        </p:blipFill>
        <p:spPr>
          <a:xfrm>
            <a:off x="771754" y="1192378"/>
            <a:ext cx="142646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1152144"/>
            <a:ext cx="205008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Git工作流（科研适配版）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8446" y="1746504"/>
            <a:ext cx="38405" cy="1809598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</p:spPr>
      </p:sp>
      <p:sp>
        <p:nvSpPr>
          <p:cNvPr id="13" name="Shape 10"/>
          <p:cNvSpPr/>
          <p:nvPr/>
        </p:nvSpPr>
        <p:spPr>
          <a:xfrm>
            <a:off x="1000354" y="1651406"/>
            <a:ext cx="4781398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31113" y="1756562"/>
            <a:ext cx="37947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main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309567" y="1749247"/>
            <a:ext cx="14346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稳定版（论文投稿代码）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00354" y="2181758"/>
            <a:ext cx="4781398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31113" y="2286000"/>
            <a:ext cx="3035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28D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18558" y="2278685"/>
            <a:ext cx="8257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日常开发分支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190549" y="2711196"/>
            <a:ext cx="4591202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22222" y="2815438"/>
            <a:ext cx="4078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exp/*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132174" y="2798978"/>
            <a:ext cx="7772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实验分支 (如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809744" y="2836469"/>
            <a:ext cx="8915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exp/attention-v1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608930" y="2798978"/>
            <a:ext cx="1399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9905" y="3962095"/>
            <a:ext cx="5333695" cy="2667305"/>
          </a:xfrm>
          <a:prstGeom prst="roundRect">
            <a:avLst>
              <a:gd name="adj" fmla="val 9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1754" y="4457700"/>
            <a:ext cx="50099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 t="-1310" b="-1310"/>
          <a:stretch>
            <a:fillRect/>
          </a:stretch>
        </p:blipFill>
        <p:spPr>
          <a:xfrm>
            <a:off x="771754" y="4164178"/>
            <a:ext cx="209398" cy="17190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81151" y="4124858"/>
            <a:ext cx="206014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AI辅助 Commit Message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71754" y="4547311"/>
            <a:ext cx="5009998" cy="780898"/>
          </a:xfrm>
          <a:prstGeom prst="roundRect">
            <a:avLst>
              <a:gd name="adj" fmla="val 85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72338" y="4750105"/>
            <a:ext cx="295899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"我修改了注意力模块并修复了内存泄漏，请生成符合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3733495" y="4778705"/>
            <a:ext cx="12344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Conventional Commits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872490" y="4829810"/>
            <a:ext cx="2747645" cy="391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规范的提交信息。"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71754" y="5477256"/>
            <a:ext cx="5009998" cy="990295"/>
          </a:xfrm>
          <a:prstGeom prst="roundRect">
            <a:avLst>
              <a:gd name="adj" fmla="val 5327"/>
            </a:avLst>
          </a:prstGeom>
          <a:solidFill>
            <a:srgbClr val="1E293B"/>
          </a:solidFill>
        </p:spPr>
      </p:sp>
      <p:sp>
        <p:nvSpPr>
          <p:cNvPr id="33" name="Shape 29"/>
          <p:cNvSpPr/>
          <p:nvPr/>
        </p:nvSpPr>
        <p:spPr>
          <a:xfrm>
            <a:off x="771754" y="5477256"/>
            <a:ext cx="38405" cy="99029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4" name="Text 30"/>
          <p:cNvSpPr txBox="1"/>
          <p:nvPr/>
        </p:nvSpPr>
        <p:spPr>
          <a:xfrm>
            <a:off x="923544" y="5609844"/>
            <a:ext cx="22201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feat(model): add hierarchical attention module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23544" y="5820156"/>
            <a:ext cx="2039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fix(data): resolve data loader memory leak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23544" y="6029554"/>
            <a:ext cx="1924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- Implement HierarchicalAttention class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923544" y="6200546"/>
            <a:ext cx="17529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- Add garbage collection after epoch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48095" y="990295"/>
            <a:ext cx="5333695" cy="5639105"/>
          </a:xfrm>
          <a:prstGeom prst="roundRect">
            <a:avLst>
              <a:gd name="adj" fmla="val 2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09944" y="1484986"/>
            <a:ext cx="50099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9944" y="1192378"/>
            <a:ext cx="171907" cy="171907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581851" y="1152144"/>
            <a:ext cx="124084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实验追踪系统 (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7689190" y="1181405"/>
            <a:ext cx="13258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Weights &amp; Biases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8885225" y="1152144"/>
            <a:ext cx="19293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409944" y="1623060"/>
            <a:ext cx="5082235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不再依赖Excel记录实验结果，使用专业工具自动追踪超参数与指标，实现实验的可复现与可视化对比。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409944" y="2123237"/>
            <a:ext cx="5009998" cy="743407"/>
          </a:xfrm>
          <a:prstGeom prst="roundRect">
            <a:avLst>
              <a:gd name="adj" fmla="val 94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15100" y="2264054"/>
            <a:ext cx="133502" cy="133502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6724498" y="2228393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AI集成指令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515100" y="2446934"/>
            <a:ext cx="4849063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"@wandb_init.py 请在训练脚本中添加W&amp;B记录代码，自动记录超参数（lr, batch_size）和训练曲线（loss, accuracy）。"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409944" y="3056839"/>
            <a:ext cx="5009998" cy="3419856"/>
          </a:xfrm>
          <a:prstGeom prst="roundRect">
            <a:avLst>
              <a:gd name="adj" fmla="val 4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41618" y="3224174"/>
            <a:ext cx="133502" cy="133502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751015" y="3187598"/>
            <a:ext cx="9317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自动记录维度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541618" y="3484778"/>
            <a:ext cx="2343607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627571" y="3589934"/>
            <a:ext cx="112837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HYPERPARAMETERS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6627571" y="3749954"/>
            <a:ext cx="11914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lr, batch_size, optimizer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8953805" y="3484778"/>
            <a:ext cx="2343607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038844" y="3589934"/>
            <a:ext cx="8421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 SPECS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9038844" y="3749954"/>
            <a:ext cx="14767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GPU usage, RAM, Python ver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6541618" y="4064508"/>
            <a:ext cx="2343607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627571" y="4168750"/>
            <a:ext cx="54681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METRICS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6627571" y="4328770"/>
            <a:ext cx="14200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Train/Val Loss, Accuracy, F1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8953805" y="4064508"/>
            <a:ext cx="2343607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9038844" y="4168750"/>
            <a:ext cx="6519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ARTIFACTS</a:t>
            </a:r>
            <a:endParaRPr lang="en-US" sz="800" dirty="0"/>
          </a:p>
        </p:txBody>
      </p:sp>
      <p:sp>
        <p:nvSpPr>
          <p:cNvPr id="63" name="Text 56"/>
          <p:cNvSpPr txBox="1"/>
          <p:nvPr/>
        </p:nvSpPr>
        <p:spPr>
          <a:xfrm>
            <a:off x="9038844" y="4328770"/>
            <a:ext cx="13057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Model (.pt), Log files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6541618" y="4907585"/>
            <a:ext cx="4753051" cy="1429207"/>
          </a:xfrm>
          <a:prstGeom prst="roundRect">
            <a:avLst>
              <a:gd name="adj" fmla="val 1706"/>
            </a:avLst>
          </a:prstGeom>
          <a:solidFill>
            <a:srgbClr val="F1F5F9"/>
          </a:solidFill>
        </p:spPr>
      </p:sp>
      <p:sp>
        <p:nvSpPr>
          <p:cNvPr id="65" name="Shape 58"/>
          <p:cNvSpPr/>
          <p:nvPr/>
        </p:nvSpPr>
        <p:spPr>
          <a:xfrm>
            <a:off x="6541618" y="4907585"/>
            <a:ext cx="28346" cy="1429207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66" name="Text 59"/>
          <p:cNvSpPr txBox="1"/>
          <p:nvPr/>
        </p:nvSpPr>
        <p:spPr>
          <a:xfrm>
            <a:off x="6684264" y="5041087"/>
            <a:ext cx="7242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import wandb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6684264" y="5212080"/>
            <a:ext cx="23052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wandb.init(project="urban-flow-pred", config={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6684264" y="5383987"/>
            <a:ext cx="11338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"learning_rate": 0.001,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6684264" y="5554980"/>
            <a:ext cx="1362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"architecture": "ResNet-50"</a:t>
            </a:r>
            <a:endParaRPr lang="en-US" sz="900" dirty="0"/>
          </a:p>
        </p:txBody>
      </p:sp>
      <p:sp>
        <p:nvSpPr>
          <p:cNvPr id="70" name="Text 63"/>
          <p:cNvSpPr txBox="1"/>
          <p:nvPr/>
        </p:nvSpPr>
        <p:spPr>
          <a:xfrm>
            <a:off x="6684264" y="5726887"/>
            <a:ext cx="1810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})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6684264" y="5897880"/>
            <a:ext cx="1295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... inside training loop ...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6684264" y="6069787"/>
            <a:ext cx="2039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wandb.log({"loss": loss, "accuracy": acc})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741578" y="1763878"/>
            <a:ext cx="152705" cy="152705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  <p:sp>
        <p:nvSpPr>
          <p:cNvPr id="74" name="Shape 67"/>
          <p:cNvSpPr/>
          <p:nvPr/>
        </p:nvSpPr>
        <p:spPr>
          <a:xfrm>
            <a:off x="741578" y="2293315"/>
            <a:ext cx="152705" cy="152705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  <p:sp>
        <p:nvSpPr>
          <p:cNvPr id="75" name="Shape 68"/>
          <p:cNvSpPr/>
          <p:nvPr/>
        </p:nvSpPr>
        <p:spPr>
          <a:xfrm>
            <a:off x="741578" y="2823667"/>
            <a:ext cx="152705" cy="152705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23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60604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4.4 关键技巧速查表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30921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623767" y="267005"/>
            <a:ext cx="2171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提升AI编程质量的6大实战锦囊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740664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3B82F6"/>
          </a:solidFill>
        </p:spPr>
      </p:sp>
      <p:sp>
        <p:nvSpPr>
          <p:cNvPr id="11" name="Text 9"/>
          <p:cNvSpPr txBox="1"/>
          <p:nvPr/>
        </p:nvSpPr>
        <p:spPr>
          <a:xfrm>
            <a:off x="815645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41502" y="104607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分步描述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00830" y="1093622"/>
            <a:ext cx="133502" cy="13350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664" y="1405433"/>
            <a:ext cx="114300" cy="1143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4964" y="1396289"/>
            <a:ext cx="31299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将复杂任务拆解为逻辑链条，避免AI"一口气吃成胖子"。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40664" y="1631290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EFF6FF"/>
          </a:solidFill>
        </p:spPr>
      </p:sp>
      <p:sp>
        <p:nvSpPr>
          <p:cNvPr id="17" name="Shape 13"/>
          <p:cNvSpPr/>
          <p:nvPr/>
        </p:nvSpPr>
        <p:spPr>
          <a:xfrm>
            <a:off x="740664" y="1631290"/>
            <a:ext cx="28346" cy="16386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4"/>
          <p:cNvSpPr txBox="1"/>
          <p:nvPr/>
        </p:nvSpPr>
        <p:spPr>
          <a:xfrm>
            <a:off x="845820" y="2232050"/>
            <a:ext cx="752551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BAD VS GOOD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" y="2374697"/>
            <a:ext cx="9912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 "Data Analysis"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" y="2523744"/>
            <a:ext cx="24103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 "Step 1: Read CSV; Step 2: Stats; Step 3: Plot"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317797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49470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19"/>
          <p:cNvSpPr/>
          <p:nvPr/>
        </p:nvSpPr>
        <p:spPr>
          <a:xfrm>
            <a:off x="4449470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10B981"/>
          </a:solidFill>
        </p:spPr>
      </p:sp>
      <p:sp>
        <p:nvSpPr>
          <p:cNvPr id="24" name="Text 20"/>
          <p:cNvSpPr txBox="1"/>
          <p:nvPr/>
        </p:nvSpPr>
        <p:spPr>
          <a:xfrm>
            <a:off x="4523537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750308" y="1046074"/>
            <a:ext cx="15627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提供示例 (Few-shot)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7647127" y="1093622"/>
            <a:ext cx="95098" cy="133502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9470" y="1405433"/>
            <a:ext cx="114300" cy="1143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63770" y="1396289"/>
            <a:ext cx="300654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给出输入输出的具体样例，让AI通过模仿来理解格式。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449470" y="1631290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ECFDF5"/>
          </a:solidFill>
        </p:spPr>
      </p:sp>
      <p:sp>
        <p:nvSpPr>
          <p:cNvPr id="30" name="Shape 24"/>
          <p:cNvSpPr/>
          <p:nvPr/>
        </p:nvSpPr>
        <p:spPr>
          <a:xfrm>
            <a:off x="4449470" y="1631290"/>
            <a:ext cx="28346" cy="163860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5"/>
          <p:cNvSpPr txBox="1"/>
          <p:nvPr/>
        </p:nvSpPr>
        <p:spPr>
          <a:xfrm>
            <a:off x="4553712" y="2232050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4553712" y="2374697"/>
            <a:ext cx="15718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Input: {'name': 'BJ', 'pop': 2154}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553712" y="2523744"/>
            <a:ext cx="1534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Output: '北京人口：2154万人'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26603" y="914400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157362" y="1341425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Shape 30"/>
          <p:cNvSpPr/>
          <p:nvPr/>
        </p:nvSpPr>
        <p:spPr>
          <a:xfrm>
            <a:off x="8157362" y="1055218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8B5CF6"/>
          </a:solidFill>
        </p:spPr>
      </p:sp>
      <p:sp>
        <p:nvSpPr>
          <p:cNvPr id="37" name="Text 31"/>
          <p:cNvSpPr txBox="1"/>
          <p:nvPr/>
        </p:nvSpPr>
        <p:spPr>
          <a:xfrm>
            <a:off x="8232343" y="10689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8458200" y="104607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角色设定</a:t>
            </a:r>
            <a:endParaRPr lang="en-US" sz="1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11336731" y="1093622"/>
            <a:ext cx="114300" cy="133502"/>
          </a:xfrm>
          <a:prstGeom prst="rect">
            <a:avLst/>
          </a:prstGeom>
        </p:spPr>
      </p:pic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7362" y="1405433"/>
            <a:ext cx="114300" cy="1143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271662" y="1396289"/>
            <a:ext cx="26545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指定专家身份，激活模型特定领域的知识权重。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157362" y="1631290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F5F3FF"/>
          </a:solidFill>
        </p:spPr>
      </p:sp>
      <p:sp>
        <p:nvSpPr>
          <p:cNvPr id="43" name="Shape 35"/>
          <p:cNvSpPr/>
          <p:nvPr/>
        </p:nvSpPr>
        <p:spPr>
          <a:xfrm>
            <a:off x="8157362" y="1631290"/>
            <a:ext cx="28346" cy="1638605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4" name="Text 36"/>
          <p:cNvSpPr txBox="1"/>
          <p:nvPr/>
        </p:nvSpPr>
        <p:spPr>
          <a:xfrm>
            <a:off x="8262518" y="2306117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8262518" y="2448763"/>
            <a:ext cx="3143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"You are a GIS expert, proficient in GeoPandas spatial indexing..."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09905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40664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Shape 40"/>
          <p:cNvSpPr/>
          <p:nvPr/>
        </p:nvSpPr>
        <p:spPr>
          <a:xfrm>
            <a:off x="740664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F59E0B"/>
          </a:solidFill>
        </p:spPr>
      </p:sp>
      <p:sp>
        <p:nvSpPr>
          <p:cNvPr id="49" name="Text 41"/>
          <p:cNvSpPr txBox="1"/>
          <p:nvPr/>
        </p:nvSpPr>
        <p:spPr>
          <a:xfrm>
            <a:off x="815645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041502" y="3678631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明确约束</a:t>
            </a:r>
            <a:endParaRPr lang="en-US" sz="12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00830" y="3726180"/>
            <a:ext cx="133502" cy="133502"/>
          </a:xfrm>
          <a:prstGeom prst="rect">
            <a:avLst/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664" y="4038905"/>
            <a:ext cx="114300" cy="1143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854964" y="4028846"/>
            <a:ext cx="252100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设定边界条件，防止AI自由发挥导致不可控。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740664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FFFBEB"/>
          </a:solidFill>
        </p:spPr>
      </p:sp>
      <p:sp>
        <p:nvSpPr>
          <p:cNvPr id="55" name="Shape 45"/>
          <p:cNvSpPr/>
          <p:nvPr/>
        </p:nvSpPr>
        <p:spPr>
          <a:xfrm>
            <a:off x="740664" y="4263847"/>
            <a:ext cx="28346" cy="1638605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6" name="Text 46"/>
          <p:cNvSpPr txBox="1"/>
          <p:nvPr/>
        </p:nvSpPr>
        <p:spPr>
          <a:xfrm>
            <a:off x="845820" y="4938674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57" name="Text 47"/>
          <p:cNvSpPr txBox="1"/>
          <p:nvPr/>
        </p:nvSpPr>
        <p:spPr>
          <a:xfrm>
            <a:off x="845820" y="5082235"/>
            <a:ext cx="27057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"Use matplotlib only, no seaborn; processing time &lt; 10s"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317797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59" name="Shape 49"/>
          <p:cNvSpPr/>
          <p:nvPr/>
        </p:nvSpPr>
        <p:spPr>
          <a:xfrm>
            <a:off x="4449470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Shape 50"/>
          <p:cNvSpPr/>
          <p:nvPr/>
        </p:nvSpPr>
        <p:spPr>
          <a:xfrm>
            <a:off x="4449470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EC4899"/>
          </a:solidFill>
        </p:spPr>
      </p:sp>
      <p:sp>
        <p:nvSpPr>
          <p:cNvPr id="61" name="Text 51"/>
          <p:cNvSpPr txBox="1"/>
          <p:nvPr/>
        </p:nvSpPr>
        <p:spPr>
          <a:xfrm>
            <a:off x="4523537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4750308" y="3678631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迭代优化</a:t>
            </a:r>
            <a:endParaRPr lang="en-US" sz="12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08722" y="3726180"/>
            <a:ext cx="133502" cy="133502"/>
          </a:xfrm>
          <a:prstGeom prst="rect">
            <a:avLst/>
          </a:prstGeom>
        </p:spPr>
      </p:pic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9470" y="4038905"/>
            <a:ext cx="114300" cy="114300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4563770" y="4028846"/>
            <a:ext cx="24158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不要追求一次完美，分轮次逐步完善代码。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449470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FDF2F8"/>
          </a:solidFill>
        </p:spPr>
      </p:sp>
      <p:sp>
        <p:nvSpPr>
          <p:cNvPr id="67" name="Shape 55"/>
          <p:cNvSpPr/>
          <p:nvPr/>
        </p:nvSpPr>
        <p:spPr>
          <a:xfrm>
            <a:off x="4449470" y="4263847"/>
            <a:ext cx="28346" cy="1638605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68" name="Text 56"/>
          <p:cNvSpPr txBox="1"/>
          <p:nvPr/>
        </p:nvSpPr>
        <p:spPr>
          <a:xfrm>
            <a:off x="4553712" y="4938674"/>
            <a:ext cx="657454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WORKFLOW</a:t>
            </a:r>
            <a:endParaRPr lang="en-US" sz="800" dirty="0"/>
          </a:p>
        </p:txBody>
      </p:sp>
      <p:sp>
        <p:nvSpPr>
          <p:cNvPr id="69" name="Text 57"/>
          <p:cNvSpPr txBox="1"/>
          <p:nvPr/>
        </p:nvSpPr>
        <p:spPr>
          <a:xfrm>
            <a:off x="4553712" y="5082235"/>
            <a:ext cx="3191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R1: Basic Function → R2: Error Handling → R3: Perf → R4: Docs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8026603" y="3546958"/>
            <a:ext cx="3562502" cy="2486254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71" name="Shape 59"/>
          <p:cNvSpPr/>
          <p:nvPr/>
        </p:nvSpPr>
        <p:spPr>
          <a:xfrm>
            <a:off x="8157362" y="3973982"/>
            <a:ext cx="3295498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Shape 60"/>
          <p:cNvSpPr/>
          <p:nvPr/>
        </p:nvSpPr>
        <p:spPr>
          <a:xfrm>
            <a:off x="8157362" y="3687775"/>
            <a:ext cx="209398" cy="209398"/>
          </a:xfrm>
          <a:prstGeom prst="roundRect">
            <a:avLst>
              <a:gd name="adj" fmla="val 99246"/>
            </a:avLst>
          </a:prstGeom>
          <a:solidFill>
            <a:srgbClr val="6366F1"/>
          </a:solidFill>
        </p:spPr>
      </p:sp>
      <p:sp>
        <p:nvSpPr>
          <p:cNvPr id="73" name="Text 61"/>
          <p:cNvSpPr txBox="1"/>
          <p:nvPr/>
        </p:nvSpPr>
        <p:spPr>
          <a:xfrm>
            <a:off x="8232343" y="3701491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</a:t>
            </a:r>
            <a:endParaRPr lang="en-US" sz="900" dirty="0"/>
          </a:p>
        </p:txBody>
      </p:sp>
      <p:sp>
        <p:nvSpPr>
          <p:cNvPr id="74" name="Text 62"/>
          <p:cNvSpPr txBox="1"/>
          <p:nvPr/>
        </p:nvSpPr>
        <p:spPr>
          <a:xfrm>
            <a:off x="8458200" y="3678631"/>
            <a:ext cx="8769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AI自我审查</a:t>
            </a:r>
            <a:endParaRPr lang="en-US" sz="120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317529" y="3726180"/>
            <a:ext cx="133502" cy="133502"/>
          </a:xfrm>
          <a:prstGeom prst="rect">
            <a:avLst/>
          </a:prstGeom>
        </p:spPr>
      </p:pic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7362" y="4038905"/>
            <a:ext cx="114300" cy="114300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8271662" y="4028846"/>
            <a:ext cx="250179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利用AI的反思能力，在运行前发现潜在Bug。</a:t>
            </a:r>
            <a:endParaRPr lang="en-US" sz="900" dirty="0"/>
          </a:p>
        </p:txBody>
      </p:sp>
      <p:sp>
        <p:nvSpPr>
          <p:cNvPr id="78" name="Shape 64"/>
          <p:cNvSpPr/>
          <p:nvPr/>
        </p:nvSpPr>
        <p:spPr>
          <a:xfrm>
            <a:off x="8157362" y="4263847"/>
            <a:ext cx="3295498" cy="1638605"/>
          </a:xfrm>
          <a:prstGeom prst="roundRect">
            <a:avLst>
              <a:gd name="adj" fmla="val 1947"/>
            </a:avLst>
          </a:prstGeom>
          <a:solidFill>
            <a:srgbClr val="E0E7FF"/>
          </a:solidFill>
        </p:spPr>
      </p:sp>
      <p:sp>
        <p:nvSpPr>
          <p:cNvPr id="79" name="Shape 65"/>
          <p:cNvSpPr/>
          <p:nvPr/>
        </p:nvSpPr>
        <p:spPr>
          <a:xfrm>
            <a:off x="8157362" y="4263847"/>
            <a:ext cx="28346" cy="1638605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80" name="Text 66"/>
          <p:cNvSpPr txBox="1"/>
          <p:nvPr/>
        </p:nvSpPr>
        <p:spPr>
          <a:xfrm>
            <a:off x="8262518" y="4864608"/>
            <a:ext cx="962863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81" name="Text 67"/>
          <p:cNvSpPr txBox="1"/>
          <p:nvPr/>
        </p:nvSpPr>
        <p:spPr>
          <a:xfrm>
            <a:off x="8262518" y="5007254"/>
            <a:ext cx="310530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"Please review the code above for potential memory leaks &amp; edge cases."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609905" y="6179515"/>
            <a:ext cx="10972800" cy="381305"/>
          </a:xfrm>
          <a:prstGeom prst="roundRect">
            <a:avLst>
              <a:gd name="adj" fmla="val 47962"/>
            </a:avLst>
          </a:prstGeom>
          <a:solidFill>
            <a:srgbClr val="F1F5F9"/>
          </a:solidFill>
        </p:spPr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92785" y="6300216"/>
            <a:ext cx="133502" cy="133502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1002182" y="6290158"/>
            <a:ext cx="39959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Follow these 6 tips to reduce 80% of invalid dialogue &amp; debugging time.</a:t>
            </a:r>
            <a:endParaRPr lang="en-US" sz="1000" dirty="0"/>
          </a:p>
        </p:txBody>
      </p:sp>
      <p:sp>
        <p:nvSpPr>
          <p:cNvPr id="104" name="Text 80"/>
          <p:cNvSpPr txBox="1"/>
          <p:nvPr/>
        </p:nvSpPr>
        <p:spPr>
          <a:xfrm>
            <a:off x="11591290" y="6447155"/>
            <a:ext cx="266700" cy="134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24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23114"/>
            <a:ext cx="326349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总结：认知 × 方法 × 工具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1762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32174" y="295351"/>
            <a:ext cx="1800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AI驱动科研编程核心回顾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66800"/>
            <a:ext cx="3609975" cy="3000375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1076249"/>
            <a:ext cx="3590849" cy="533095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0" name="Shape 8"/>
          <p:cNvSpPr/>
          <p:nvPr/>
        </p:nvSpPr>
        <p:spPr>
          <a:xfrm>
            <a:off x="466344" y="1600200"/>
            <a:ext cx="3590849" cy="9144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1" name="Shape 9"/>
          <p:cNvSpPr/>
          <p:nvPr/>
        </p:nvSpPr>
        <p:spPr>
          <a:xfrm>
            <a:off x="649224" y="11859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5178" y="1271930"/>
            <a:ext cx="133502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76249" y="1240841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三大核心认知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" y="2065172"/>
            <a:ext cx="3134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范式革命：从“写代码”向“说需求”的本质转变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" y="2415388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模式选择：Vibe Coding 追求速度，规范驱动保障可靠性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" y="2994203"/>
            <a:ext cx="3172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工具观念：没有最强工具，只有最适合的组合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1965" y="1066800"/>
            <a:ext cx="3609975" cy="3000375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02252" y="1076249"/>
            <a:ext cx="3590849" cy="533095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19" name="Shape 16"/>
          <p:cNvSpPr/>
          <p:nvPr/>
        </p:nvSpPr>
        <p:spPr>
          <a:xfrm>
            <a:off x="4302252" y="1600200"/>
            <a:ext cx="3590849" cy="9144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20" name="Shape 17"/>
          <p:cNvSpPr/>
          <p:nvPr/>
        </p:nvSpPr>
        <p:spPr>
          <a:xfrm>
            <a:off x="4485132" y="11859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l="-2838" r="-2838"/>
          <a:stretch>
            <a:fillRect/>
          </a:stretch>
        </p:blipFill>
        <p:spPr>
          <a:xfrm>
            <a:off x="4575658" y="1271930"/>
            <a:ext cx="123444" cy="1335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11242" y="1240841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三大实战方法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85132" y="2065172"/>
            <a:ext cx="29910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Prompt工程：5W1H 结构化框架与角色约束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485132" y="2415388"/>
            <a:ext cx="33439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开发层级：Spec-First / Anchored / As-Source 三层境界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485132" y="2994203"/>
            <a:ext cx="31629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上下文：分层管理与精准引用 (@docs, @code)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28000" y="1066800"/>
            <a:ext cx="3609975" cy="2986405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37246" y="1076249"/>
            <a:ext cx="3590849" cy="533095"/>
          </a:xfrm>
          <a:prstGeom prst="rect">
            <a:avLst/>
          </a:prstGeom>
          <a:solidFill>
            <a:srgbClr val="F5F3FF"/>
          </a:solidFill>
        </p:spPr>
      </p:sp>
      <p:sp>
        <p:nvSpPr>
          <p:cNvPr id="28" name="Shape 24"/>
          <p:cNvSpPr/>
          <p:nvPr/>
        </p:nvSpPr>
        <p:spPr>
          <a:xfrm>
            <a:off x="8137246" y="1600200"/>
            <a:ext cx="3590849" cy="9144"/>
          </a:xfrm>
          <a:prstGeom prst="rect">
            <a:avLst/>
          </a:prstGeom>
          <a:solidFill>
            <a:srgbClr val="DDD6FE"/>
          </a:solidFill>
        </p:spPr>
      </p:sp>
      <p:sp>
        <p:nvSpPr>
          <p:cNvPr id="29" name="Shape 25"/>
          <p:cNvSpPr/>
          <p:nvPr/>
        </p:nvSpPr>
        <p:spPr>
          <a:xfrm>
            <a:off x="8320126" y="11859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8B5CF6"/>
          </a:solidFill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06079" y="1271930"/>
            <a:ext cx="133502" cy="1335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747150" y="1240841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三大工具策略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320126" y="2179472"/>
            <a:ext cx="27624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零预算：Antigravity + Trae (免费且强大)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320126" y="2529688"/>
            <a:ext cx="29059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标准版：Cursor Pro ($20/mo) + Gemini CLI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8320126" y="2879903"/>
            <a:ext cx="25530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企业级：Kiro (规范化) + Cursor Team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57200" y="4867605"/>
            <a:ext cx="11277295" cy="952805"/>
          </a:xfrm>
          <a:prstGeom prst="roundRect">
            <a:avLst>
              <a:gd name="adj" fmla="val 11516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57200" y="4867605"/>
            <a:ext cx="57607" cy="952805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t="-54" b="-54"/>
          <a:stretch>
            <a:fillRect/>
          </a:stretch>
        </p:blipFill>
        <p:spPr>
          <a:xfrm>
            <a:off x="743407" y="4791710"/>
            <a:ext cx="533095" cy="60990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0" y="6782105"/>
            <a:ext cx="4067251" cy="758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9" name="Shape 33"/>
          <p:cNvSpPr/>
          <p:nvPr/>
        </p:nvSpPr>
        <p:spPr>
          <a:xfrm>
            <a:off x="4063594" y="6782105"/>
            <a:ext cx="4067251" cy="7589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0" name="Shape 34"/>
          <p:cNvSpPr/>
          <p:nvPr/>
        </p:nvSpPr>
        <p:spPr>
          <a:xfrm>
            <a:off x="8128102" y="6782105"/>
            <a:ext cx="4067251" cy="75895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1" name="Text 35"/>
          <p:cNvSpPr txBox="1"/>
          <p:nvPr/>
        </p:nvSpPr>
        <p:spPr>
          <a:xfrm>
            <a:off x="3429000" y="5119065"/>
            <a:ext cx="55174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"AI是副驾驶，你才是飞行员。用好规范与工具，你将拥有10倍生产力。"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4685386" y="5392471"/>
            <a:ext cx="29891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永远记住：验证、测试、批判性思维不可缺少。</a:t>
            </a:r>
            <a:endParaRPr lang="en-US" sz="1000" dirty="0"/>
          </a:p>
        </p:txBody>
      </p:sp>
      <p:sp>
        <p:nvSpPr>
          <p:cNvPr id="104" name="Text 80"/>
          <p:cNvSpPr txBox="1"/>
          <p:nvPr/>
        </p:nvSpPr>
        <p:spPr>
          <a:xfrm>
            <a:off x="11591290" y="6429375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25</a:t>
            </a:r>
            <a:endParaRPr lang="en-US" sz="1200" dirty="0">
              <a:solidFill>
                <a:srgbClr val="000000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14344</Words>
  <Application>WPS 表格</Application>
  <PresentationFormat>On-screen Show (16:9)</PresentationFormat>
  <Paragraphs>1912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Times New Roman</vt:lpstr>
      <vt:lpstr>Times New Roman</vt:lpstr>
      <vt:lpstr>Noto Sans SC</vt:lpstr>
      <vt:lpstr>苹方-简</vt:lpstr>
      <vt:lpstr>Noto Sans SC</vt:lpstr>
      <vt:lpstr>Noto Sans SC</vt:lpstr>
      <vt:lpstr>ui-monospace</vt:lpstr>
      <vt:lpstr>ui-monospace</vt:lpstr>
      <vt:lpstr>ui-monospace</vt:lpstr>
      <vt:lpstr>ui-serif</vt:lpstr>
      <vt:lpstr>ui-serif</vt:lpstr>
      <vt:lpstr>ui-serif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Noto Serif SC</vt:lpstr>
      <vt:lpstr>Noto Serif SC</vt:lpstr>
      <vt:lpstr>Noto Serif SC</vt:lpstr>
      <vt:lpstr>Consolas</vt:lpstr>
      <vt:lpstr>Consolas</vt:lpstr>
      <vt:lpstr>Consolas</vt:lpstr>
      <vt:lpstr>ui-sans-serif</vt:lpstr>
      <vt:lpstr>ui-sans-serif</vt:lpstr>
      <vt:lpstr>ui-sans-serif</vt:lpstr>
      <vt:lpstr>Times New Roman Regular</vt:lpstr>
      <vt:lpstr>Apple Color Emoji</vt:lpstr>
      <vt:lpstr>Arial Regular</vt:lpstr>
      <vt:lpstr>Times New Roman Bold Italic</vt:lpstr>
      <vt:lpstr>Times New Roman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bruce</cp:lastModifiedBy>
  <cp:revision>136</cp:revision>
  <dcterms:created xsi:type="dcterms:W3CDTF">2025-12-28T14:24:59Z</dcterms:created>
  <dcterms:modified xsi:type="dcterms:W3CDTF">2025-12-28T14:24:59Z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BD38C6C3397E197B19345169BE128383_42</vt:lpwstr>
  </property>
  <property fmtid="{D5CDD505-2E9C-101B-9397-08002B2CF9AE}" pid="3" name="KSOProductBuildVer">
    <vt:lpwstr>2052-12.1.24031.24031</vt:lpwstr>
  </property>
</Properties>
</file>